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61" r:id="rId5"/>
    <p:sldId id="260" r:id="rId6"/>
    <p:sldId id="259" r:id="rId7"/>
    <p:sldId id="262" r:id="rId8"/>
    <p:sldId id="263" r:id="rId9"/>
    <p:sldId id="264" r:id="rId10"/>
    <p:sldId id="265" r:id="rId11"/>
    <p:sldId id="266" r:id="rId12"/>
    <p:sldId id="273" r:id="rId13"/>
    <p:sldId id="267" r:id="rId14"/>
    <p:sldId id="271" r:id="rId15"/>
    <p:sldId id="268" r:id="rId16"/>
    <p:sldId id="272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6" r:id="rId29"/>
    <p:sldId id="287" r:id="rId30"/>
    <p:sldId id="288" r:id="rId31"/>
    <p:sldId id="289" r:id="rId32"/>
    <p:sldId id="285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5" Type="http://schemas.openxmlformats.org/officeDocument/2006/relationships/slide" Target="slides/slide3.xml"/><Relationship Id="rId61" Type="http://schemas.openxmlformats.org/officeDocument/2006/relationships/viewProps" Target="view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F822F8-F276-4978-82AC-1A8CBF795B3C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EAF6771-43F1-479E-877C-87992EE2A478}">
      <dgm:prSet/>
      <dgm:spPr/>
      <dgm:t>
        <a:bodyPr/>
        <a:lstStyle/>
        <a:p>
          <a:r>
            <a:rPr lang="en-GB" b="1"/>
            <a:t>Definition:</a:t>
          </a:r>
          <a:r>
            <a:rPr lang="en-GB"/>
            <a:t> API stands for </a:t>
          </a:r>
          <a:r>
            <a:rPr lang="en-GB" i="1"/>
            <a:t>Application Programming Interface</a:t>
          </a:r>
          <a:endParaRPr lang="en-US"/>
        </a:p>
      </dgm:t>
    </dgm:pt>
    <dgm:pt modelId="{F5792C02-63EB-414C-BA65-727699A115CD}" type="parTrans" cxnId="{0DF007C8-14C6-4339-BA18-1940D73F37C6}">
      <dgm:prSet/>
      <dgm:spPr/>
      <dgm:t>
        <a:bodyPr/>
        <a:lstStyle/>
        <a:p>
          <a:endParaRPr lang="en-US"/>
        </a:p>
      </dgm:t>
    </dgm:pt>
    <dgm:pt modelId="{3BA7F245-A150-47FC-A40F-6CFB05EC43FA}" type="sibTrans" cxnId="{0DF007C8-14C6-4339-BA18-1940D73F37C6}">
      <dgm:prSet/>
      <dgm:spPr/>
      <dgm:t>
        <a:bodyPr/>
        <a:lstStyle/>
        <a:p>
          <a:endParaRPr lang="en-US"/>
        </a:p>
      </dgm:t>
    </dgm:pt>
    <dgm:pt modelId="{E97D45D4-F74F-444B-A35E-878E57614BBF}">
      <dgm:prSet/>
      <dgm:spPr/>
      <dgm:t>
        <a:bodyPr/>
        <a:lstStyle/>
        <a:p>
          <a:r>
            <a:rPr lang="en-GB"/>
            <a:t>Acts as a </a:t>
          </a:r>
          <a:r>
            <a:rPr lang="en-GB" b="1"/>
            <a:t>bridge</a:t>
          </a:r>
          <a:r>
            <a:rPr lang="en-GB"/>
            <a:t> between two software applications</a:t>
          </a:r>
          <a:endParaRPr lang="en-US"/>
        </a:p>
      </dgm:t>
    </dgm:pt>
    <dgm:pt modelId="{91A362D2-0BC1-4665-B8D9-0629361FF1AF}" type="parTrans" cxnId="{C3A64E3D-867A-4DE9-BAB6-DB7360BBE110}">
      <dgm:prSet/>
      <dgm:spPr/>
      <dgm:t>
        <a:bodyPr/>
        <a:lstStyle/>
        <a:p>
          <a:endParaRPr lang="en-US"/>
        </a:p>
      </dgm:t>
    </dgm:pt>
    <dgm:pt modelId="{B8B3D6AB-FA5F-44B8-9038-C61137F5B5BB}" type="sibTrans" cxnId="{C3A64E3D-867A-4DE9-BAB6-DB7360BBE110}">
      <dgm:prSet/>
      <dgm:spPr/>
      <dgm:t>
        <a:bodyPr/>
        <a:lstStyle/>
        <a:p>
          <a:endParaRPr lang="en-US"/>
        </a:p>
      </dgm:t>
    </dgm:pt>
    <dgm:pt modelId="{9D4AF233-029B-47C2-958A-976CE1FD0094}">
      <dgm:prSet/>
      <dgm:spPr/>
      <dgm:t>
        <a:bodyPr/>
        <a:lstStyle/>
        <a:p>
          <a:r>
            <a:rPr lang="en-GB"/>
            <a:t>Enables </a:t>
          </a:r>
          <a:r>
            <a:rPr lang="en-GB" b="1"/>
            <a:t>data exchange</a:t>
          </a:r>
          <a:r>
            <a:rPr lang="en-GB"/>
            <a:t> and </a:t>
          </a:r>
          <a:r>
            <a:rPr lang="en-GB" b="1"/>
            <a:t>functionality sharing</a:t>
          </a:r>
          <a:endParaRPr lang="en-US"/>
        </a:p>
      </dgm:t>
    </dgm:pt>
    <dgm:pt modelId="{B94AEC95-E903-4CF8-AA39-9BB0D42E5BCE}" type="parTrans" cxnId="{848E7D15-12E1-49E8-98EE-043704A09DC6}">
      <dgm:prSet/>
      <dgm:spPr/>
      <dgm:t>
        <a:bodyPr/>
        <a:lstStyle/>
        <a:p>
          <a:endParaRPr lang="en-US"/>
        </a:p>
      </dgm:t>
    </dgm:pt>
    <dgm:pt modelId="{16C692F3-DB60-41BB-8770-C5E745B61512}" type="sibTrans" cxnId="{848E7D15-12E1-49E8-98EE-043704A09DC6}">
      <dgm:prSet/>
      <dgm:spPr/>
      <dgm:t>
        <a:bodyPr/>
        <a:lstStyle/>
        <a:p>
          <a:endParaRPr lang="en-US"/>
        </a:p>
      </dgm:t>
    </dgm:pt>
    <dgm:pt modelId="{E1900DE6-52B8-4C27-86DC-DFF0636C0888}">
      <dgm:prSet/>
      <dgm:spPr/>
      <dgm:t>
        <a:bodyPr/>
        <a:lstStyle/>
        <a:p>
          <a:r>
            <a:rPr lang="en-GB"/>
            <a:t>Example: Google Maps API used in ride-sharing apps</a:t>
          </a:r>
          <a:endParaRPr lang="en-US"/>
        </a:p>
      </dgm:t>
    </dgm:pt>
    <dgm:pt modelId="{3B8C271E-04D3-4C64-BCFF-77131B04E09D}" type="parTrans" cxnId="{712B38F4-89CD-4097-8D63-ECFF76F38ACF}">
      <dgm:prSet/>
      <dgm:spPr/>
      <dgm:t>
        <a:bodyPr/>
        <a:lstStyle/>
        <a:p>
          <a:endParaRPr lang="en-US"/>
        </a:p>
      </dgm:t>
    </dgm:pt>
    <dgm:pt modelId="{54B158C3-B67D-4FA2-BF7A-AFD55ABA7D4E}" type="sibTrans" cxnId="{712B38F4-89CD-4097-8D63-ECFF76F38ACF}">
      <dgm:prSet/>
      <dgm:spPr/>
      <dgm:t>
        <a:bodyPr/>
        <a:lstStyle/>
        <a:p>
          <a:endParaRPr lang="en-US"/>
        </a:p>
      </dgm:t>
    </dgm:pt>
    <dgm:pt modelId="{B0ACF518-4C61-4043-9595-010D43D7CA7B}" type="pres">
      <dgm:prSet presAssocID="{4AF822F8-F276-4978-82AC-1A8CBF795B3C}" presName="linear" presStyleCnt="0">
        <dgm:presLayoutVars>
          <dgm:animLvl val="lvl"/>
          <dgm:resizeHandles val="exact"/>
        </dgm:presLayoutVars>
      </dgm:prSet>
      <dgm:spPr/>
    </dgm:pt>
    <dgm:pt modelId="{6CDC8D56-36E3-4DD6-B9BB-70EB3B88B9AC}" type="pres">
      <dgm:prSet presAssocID="{AEAF6771-43F1-479E-877C-87992EE2A47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944F08C-11CB-4875-8862-1627AD9867BF}" type="pres">
      <dgm:prSet presAssocID="{3BA7F245-A150-47FC-A40F-6CFB05EC43FA}" presName="spacer" presStyleCnt="0"/>
      <dgm:spPr/>
    </dgm:pt>
    <dgm:pt modelId="{4D979C68-3FB1-481C-B316-922819C3C461}" type="pres">
      <dgm:prSet presAssocID="{E97D45D4-F74F-444B-A35E-878E57614BB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3CCD517-D7F8-4950-A0CB-9806D119EDAE}" type="pres">
      <dgm:prSet presAssocID="{B8B3D6AB-FA5F-44B8-9038-C61137F5B5BB}" presName="spacer" presStyleCnt="0"/>
      <dgm:spPr/>
    </dgm:pt>
    <dgm:pt modelId="{51B66462-89DC-4AC3-BE15-19C912A0EA57}" type="pres">
      <dgm:prSet presAssocID="{9D4AF233-029B-47C2-958A-976CE1FD009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BB83496-346B-4B8F-8A16-218B66499506}" type="pres">
      <dgm:prSet presAssocID="{16C692F3-DB60-41BB-8770-C5E745B61512}" presName="spacer" presStyleCnt="0"/>
      <dgm:spPr/>
    </dgm:pt>
    <dgm:pt modelId="{5459D7EE-FD99-4AAD-982E-F66C3AD0A91F}" type="pres">
      <dgm:prSet presAssocID="{E1900DE6-52B8-4C27-86DC-DFF0636C088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48E7D15-12E1-49E8-98EE-043704A09DC6}" srcId="{4AF822F8-F276-4978-82AC-1A8CBF795B3C}" destId="{9D4AF233-029B-47C2-958A-976CE1FD0094}" srcOrd="2" destOrd="0" parTransId="{B94AEC95-E903-4CF8-AA39-9BB0D42E5BCE}" sibTransId="{16C692F3-DB60-41BB-8770-C5E745B61512}"/>
    <dgm:cxn modelId="{0F08142F-263B-4EB6-B94D-4F3C9942EEC8}" type="presOf" srcId="{E97D45D4-F74F-444B-A35E-878E57614BBF}" destId="{4D979C68-3FB1-481C-B316-922819C3C461}" srcOrd="0" destOrd="0" presId="urn:microsoft.com/office/officeart/2005/8/layout/vList2"/>
    <dgm:cxn modelId="{C3A64E3D-867A-4DE9-BAB6-DB7360BBE110}" srcId="{4AF822F8-F276-4978-82AC-1A8CBF795B3C}" destId="{E97D45D4-F74F-444B-A35E-878E57614BBF}" srcOrd="1" destOrd="0" parTransId="{91A362D2-0BC1-4665-B8D9-0629361FF1AF}" sibTransId="{B8B3D6AB-FA5F-44B8-9038-C61137F5B5BB}"/>
    <dgm:cxn modelId="{8C141F54-E388-4757-AD00-2E8EC4212B1E}" type="presOf" srcId="{9D4AF233-029B-47C2-958A-976CE1FD0094}" destId="{51B66462-89DC-4AC3-BE15-19C912A0EA57}" srcOrd="0" destOrd="0" presId="urn:microsoft.com/office/officeart/2005/8/layout/vList2"/>
    <dgm:cxn modelId="{FA19CF5A-E8AD-483F-AB51-A02D694CF933}" type="presOf" srcId="{E1900DE6-52B8-4C27-86DC-DFF0636C0888}" destId="{5459D7EE-FD99-4AAD-982E-F66C3AD0A91F}" srcOrd="0" destOrd="0" presId="urn:microsoft.com/office/officeart/2005/8/layout/vList2"/>
    <dgm:cxn modelId="{D318BAAD-BD94-4498-A865-0AB812524582}" type="presOf" srcId="{AEAF6771-43F1-479E-877C-87992EE2A478}" destId="{6CDC8D56-36E3-4DD6-B9BB-70EB3B88B9AC}" srcOrd="0" destOrd="0" presId="urn:microsoft.com/office/officeart/2005/8/layout/vList2"/>
    <dgm:cxn modelId="{0DF007C8-14C6-4339-BA18-1940D73F37C6}" srcId="{4AF822F8-F276-4978-82AC-1A8CBF795B3C}" destId="{AEAF6771-43F1-479E-877C-87992EE2A478}" srcOrd="0" destOrd="0" parTransId="{F5792C02-63EB-414C-BA65-727699A115CD}" sibTransId="{3BA7F245-A150-47FC-A40F-6CFB05EC43FA}"/>
    <dgm:cxn modelId="{2A2F74E7-50C6-46A5-BB1D-7B44E51CE287}" type="presOf" srcId="{4AF822F8-F276-4978-82AC-1A8CBF795B3C}" destId="{B0ACF518-4C61-4043-9595-010D43D7CA7B}" srcOrd="0" destOrd="0" presId="urn:microsoft.com/office/officeart/2005/8/layout/vList2"/>
    <dgm:cxn modelId="{712B38F4-89CD-4097-8D63-ECFF76F38ACF}" srcId="{4AF822F8-F276-4978-82AC-1A8CBF795B3C}" destId="{E1900DE6-52B8-4C27-86DC-DFF0636C0888}" srcOrd="3" destOrd="0" parTransId="{3B8C271E-04D3-4C64-BCFF-77131B04E09D}" sibTransId="{54B158C3-B67D-4FA2-BF7A-AFD55ABA7D4E}"/>
    <dgm:cxn modelId="{16E792F9-5916-4947-894E-D31B6236A1D0}" type="presParOf" srcId="{B0ACF518-4C61-4043-9595-010D43D7CA7B}" destId="{6CDC8D56-36E3-4DD6-B9BB-70EB3B88B9AC}" srcOrd="0" destOrd="0" presId="urn:microsoft.com/office/officeart/2005/8/layout/vList2"/>
    <dgm:cxn modelId="{BF87F93D-9AA3-4DEF-AA80-F8F6F0E898F5}" type="presParOf" srcId="{B0ACF518-4C61-4043-9595-010D43D7CA7B}" destId="{D944F08C-11CB-4875-8862-1627AD9867BF}" srcOrd="1" destOrd="0" presId="urn:microsoft.com/office/officeart/2005/8/layout/vList2"/>
    <dgm:cxn modelId="{B447CF17-21E4-44E7-B097-D8E6DC12ECF3}" type="presParOf" srcId="{B0ACF518-4C61-4043-9595-010D43D7CA7B}" destId="{4D979C68-3FB1-481C-B316-922819C3C461}" srcOrd="2" destOrd="0" presId="urn:microsoft.com/office/officeart/2005/8/layout/vList2"/>
    <dgm:cxn modelId="{9C2F7AC7-9682-46B7-8621-46AFD9B09FB1}" type="presParOf" srcId="{B0ACF518-4C61-4043-9595-010D43D7CA7B}" destId="{E3CCD517-D7F8-4950-A0CB-9806D119EDAE}" srcOrd="3" destOrd="0" presId="urn:microsoft.com/office/officeart/2005/8/layout/vList2"/>
    <dgm:cxn modelId="{1DAB7DA8-EBB4-441C-8123-E6080502D8CE}" type="presParOf" srcId="{B0ACF518-4C61-4043-9595-010D43D7CA7B}" destId="{51B66462-89DC-4AC3-BE15-19C912A0EA57}" srcOrd="4" destOrd="0" presId="urn:microsoft.com/office/officeart/2005/8/layout/vList2"/>
    <dgm:cxn modelId="{0067E024-CD2F-4C13-8F83-C5FD7D5A0513}" type="presParOf" srcId="{B0ACF518-4C61-4043-9595-010D43D7CA7B}" destId="{7BB83496-346B-4B8F-8A16-218B66499506}" srcOrd="5" destOrd="0" presId="urn:microsoft.com/office/officeart/2005/8/layout/vList2"/>
    <dgm:cxn modelId="{AF397410-D5AB-4699-BADE-B4CCCA706978}" type="presParOf" srcId="{B0ACF518-4C61-4043-9595-010D43D7CA7B}" destId="{5459D7EE-FD99-4AAD-982E-F66C3AD0A91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FE68308-13B3-417B-BF69-6AA8CED90819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25E38B3-3B21-4295-AA50-44C762D036F9}">
      <dgm:prSet/>
      <dgm:spPr/>
      <dgm:t>
        <a:bodyPr/>
        <a:lstStyle/>
        <a:p>
          <a:r>
            <a:rPr lang="en-US" b="1" i="0" baseline="0"/>
            <a:t>Stateless:</a:t>
          </a:r>
          <a:r>
            <a:rPr lang="en-US" b="0" i="0" baseline="0"/>
            <a:t> Each request contains all necessary information; no session is stored on the server</a:t>
          </a:r>
          <a:endParaRPr lang="en-US"/>
        </a:p>
      </dgm:t>
    </dgm:pt>
    <dgm:pt modelId="{2C8B3CC9-5C0B-46E3-9A37-A77B81F47042}" type="parTrans" cxnId="{37FDD1DF-4780-44EE-89A0-5F507172F0A7}">
      <dgm:prSet/>
      <dgm:spPr/>
      <dgm:t>
        <a:bodyPr/>
        <a:lstStyle/>
        <a:p>
          <a:endParaRPr lang="en-US"/>
        </a:p>
      </dgm:t>
    </dgm:pt>
    <dgm:pt modelId="{07F6471B-24A1-4651-967D-5BCFDF9B52BB}" type="sibTrans" cxnId="{37FDD1DF-4780-44EE-89A0-5F507172F0A7}">
      <dgm:prSet/>
      <dgm:spPr/>
      <dgm:t>
        <a:bodyPr/>
        <a:lstStyle/>
        <a:p>
          <a:endParaRPr lang="en-US"/>
        </a:p>
      </dgm:t>
    </dgm:pt>
    <dgm:pt modelId="{05CD4F87-4630-4704-BA95-76E4997248DC}">
      <dgm:prSet/>
      <dgm:spPr/>
      <dgm:t>
        <a:bodyPr/>
        <a:lstStyle/>
        <a:p>
          <a:r>
            <a:rPr lang="en-US" b="1" i="0" baseline="0"/>
            <a:t>Cacheable:</a:t>
          </a:r>
          <a:r>
            <a:rPr lang="en-US" b="0" i="0" baseline="0"/>
            <a:t> Responses can be cached to improve performance</a:t>
          </a:r>
          <a:endParaRPr lang="en-US"/>
        </a:p>
      </dgm:t>
    </dgm:pt>
    <dgm:pt modelId="{7DA57415-08CA-4781-BC65-4FABA0799F18}" type="parTrans" cxnId="{65ACDC35-2DA0-457C-A42F-D777F5BA678B}">
      <dgm:prSet/>
      <dgm:spPr/>
      <dgm:t>
        <a:bodyPr/>
        <a:lstStyle/>
        <a:p>
          <a:endParaRPr lang="en-US"/>
        </a:p>
      </dgm:t>
    </dgm:pt>
    <dgm:pt modelId="{D80E4A94-29DF-4EBB-A825-EA6781669D82}" type="sibTrans" cxnId="{65ACDC35-2DA0-457C-A42F-D777F5BA678B}">
      <dgm:prSet/>
      <dgm:spPr/>
      <dgm:t>
        <a:bodyPr/>
        <a:lstStyle/>
        <a:p>
          <a:endParaRPr lang="en-US"/>
        </a:p>
      </dgm:t>
    </dgm:pt>
    <dgm:pt modelId="{3CF3710A-4BD9-4B18-869A-A71B27697E99}">
      <dgm:prSet/>
      <dgm:spPr/>
      <dgm:t>
        <a:bodyPr/>
        <a:lstStyle/>
        <a:p>
          <a:r>
            <a:rPr lang="en-US" b="1" i="0" baseline="0"/>
            <a:t>Uniform Interface:</a:t>
          </a:r>
          <a:r>
            <a:rPr lang="en-US" b="0" i="0" baseline="0"/>
            <a:t> Consistent structure using URIs and HTTP methods</a:t>
          </a:r>
          <a:endParaRPr lang="en-US"/>
        </a:p>
      </dgm:t>
    </dgm:pt>
    <dgm:pt modelId="{ACCFB100-71BB-4033-BD0F-6384EFBBB2E3}" type="parTrans" cxnId="{A2A9381F-B8E7-4CC0-A2BA-BC975A50B27F}">
      <dgm:prSet/>
      <dgm:spPr/>
      <dgm:t>
        <a:bodyPr/>
        <a:lstStyle/>
        <a:p>
          <a:endParaRPr lang="en-US"/>
        </a:p>
      </dgm:t>
    </dgm:pt>
    <dgm:pt modelId="{AC9691CE-E85B-411C-A715-749E65D42297}" type="sibTrans" cxnId="{A2A9381F-B8E7-4CC0-A2BA-BC975A50B27F}">
      <dgm:prSet/>
      <dgm:spPr/>
      <dgm:t>
        <a:bodyPr/>
        <a:lstStyle/>
        <a:p>
          <a:endParaRPr lang="en-US"/>
        </a:p>
      </dgm:t>
    </dgm:pt>
    <dgm:pt modelId="{BCF58304-F80F-427A-B312-B54AE5EDB002}">
      <dgm:prSet/>
      <dgm:spPr/>
      <dgm:t>
        <a:bodyPr/>
        <a:lstStyle/>
        <a:p>
          <a:r>
            <a:rPr lang="en-US" b="1" i="0" baseline="0"/>
            <a:t>Layered System:</a:t>
          </a:r>
          <a:r>
            <a:rPr lang="en-US" b="0" i="0" baseline="0"/>
            <a:t> Can be deployed across multiple layers for scalability</a:t>
          </a:r>
          <a:endParaRPr lang="en-US"/>
        </a:p>
      </dgm:t>
    </dgm:pt>
    <dgm:pt modelId="{B92ECAD0-C903-4A30-B3AE-AC2ABFF19D11}" type="parTrans" cxnId="{F7A08BAC-073C-468F-85EB-0AFC9BBB0DA3}">
      <dgm:prSet/>
      <dgm:spPr/>
      <dgm:t>
        <a:bodyPr/>
        <a:lstStyle/>
        <a:p>
          <a:endParaRPr lang="en-US"/>
        </a:p>
      </dgm:t>
    </dgm:pt>
    <dgm:pt modelId="{332941B6-81D8-454F-909E-7D7540AC1486}" type="sibTrans" cxnId="{F7A08BAC-073C-468F-85EB-0AFC9BBB0DA3}">
      <dgm:prSet/>
      <dgm:spPr/>
      <dgm:t>
        <a:bodyPr/>
        <a:lstStyle/>
        <a:p>
          <a:endParaRPr lang="en-US"/>
        </a:p>
      </dgm:t>
    </dgm:pt>
    <dgm:pt modelId="{39919421-1FD7-4978-B87B-7F057DB3549E}">
      <dgm:prSet/>
      <dgm:spPr/>
      <dgm:t>
        <a:bodyPr/>
        <a:lstStyle/>
        <a:p>
          <a:r>
            <a:rPr lang="en-US" b="1" i="0" baseline="0"/>
            <a:t>Client-Server Architecture:</a:t>
          </a:r>
          <a:r>
            <a:rPr lang="en-US" b="0" i="0" baseline="0"/>
            <a:t> Separation of concerns between client and server</a:t>
          </a:r>
          <a:endParaRPr lang="en-US"/>
        </a:p>
      </dgm:t>
    </dgm:pt>
    <dgm:pt modelId="{8CED61AF-0DEA-46C6-BBD2-1CB22A5C40BE}" type="parTrans" cxnId="{629450F3-236C-4973-BB7C-DC4434736616}">
      <dgm:prSet/>
      <dgm:spPr/>
      <dgm:t>
        <a:bodyPr/>
        <a:lstStyle/>
        <a:p>
          <a:endParaRPr lang="en-US"/>
        </a:p>
      </dgm:t>
    </dgm:pt>
    <dgm:pt modelId="{B3C93CCB-E3A5-4851-8721-BE4B3417ACA8}" type="sibTrans" cxnId="{629450F3-236C-4973-BB7C-DC4434736616}">
      <dgm:prSet/>
      <dgm:spPr/>
      <dgm:t>
        <a:bodyPr/>
        <a:lstStyle/>
        <a:p>
          <a:endParaRPr lang="en-US"/>
        </a:p>
      </dgm:t>
    </dgm:pt>
    <dgm:pt modelId="{1DDC53D6-5656-40D4-85DE-75AA708B6F37}" type="pres">
      <dgm:prSet presAssocID="{7FE68308-13B3-417B-BF69-6AA8CED90819}" presName="linear" presStyleCnt="0">
        <dgm:presLayoutVars>
          <dgm:animLvl val="lvl"/>
          <dgm:resizeHandles val="exact"/>
        </dgm:presLayoutVars>
      </dgm:prSet>
      <dgm:spPr/>
    </dgm:pt>
    <dgm:pt modelId="{63C26FEF-8015-4355-9D2D-AC93D125401D}" type="pres">
      <dgm:prSet presAssocID="{C25E38B3-3B21-4295-AA50-44C762D036F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4031B77A-00DE-4B44-9A74-DF624E3C7DAF}" type="pres">
      <dgm:prSet presAssocID="{07F6471B-24A1-4651-967D-5BCFDF9B52BB}" presName="spacer" presStyleCnt="0"/>
      <dgm:spPr/>
    </dgm:pt>
    <dgm:pt modelId="{79865179-F660-4AD2-BA19-024338F1929E}" type="pres">
      <dgm:prSet presAssocID="{05CD4F87-4630-4704-BA95-76E4997248DC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8490931B-1509-4EED-955E-124AD70C970E}" type="pres">
      <dgm:prSet presAssocID="{D80E4A94-29DF-4EBB-A825-EA6781669D82}" presName="spacer" presStyleCnt="0"/>
      <dgm:spPr/>
    </dgm:pt>
    <dgm:pt modelId="{B2FCA251-ADC3-4D8A-9E43-351821335588}" type="pres">
      <dgm:prSet presAssocID="{3CF3710A-4BD9-4B18-869A-A71B27697E9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0CF73446-2AE3-49E5-B4D7-A9CA08313DD0}" type="pres">
      <dgm:prSet presAssocID="{AC9691CE-E85B-411C-A715-749E65D42297}" presName="spacer" presStyleCnt="0"/>
      <dgm:spPr/>
    </dgm:pt>
    <dgm:pt modelId="{ACD8B4D7-2973-4A7B-8AD5-2C8D9DA5C839}" type="pres">
      <dgm:prSet presAssocID="{BCF58304-F80F-427A-B312-B54AE5EDB00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F8B82C53-B70E-4F74-99E0-157B8ED68FA5}" type="pres">
      <dgm:prSet presAssocID="{332941B6-81D8-454F-909E-7D7540AC1486}" presName="spacer" presStyleCnt="0"/>
      <dgm:spPr/>
    </dgm:pt>
    <dgm:pt modelId="{F852E867-EBCB-4DD2-8CEF-7A6DF5DB22ED}" type="pres">
      <dgm:prSet presAssocID="{39919421-1FD7-4978-B87B-7F057DB3549E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5A10F206-A826-4A7B-90EA-5BF16EC02642}" type="presOf" srcId="{7FE68308-13B3-417B-BF69-6AA8CED90819}" destId="{1DDC53D6-5656-40D4-85DE-75AA708B6F37}" srcOrd="0" destOrd="0" presId="urn:microsoft.com/office/officeart/2005/8/layout/vList2"/>
    <dgm:cxn modelId="{A2A9381F-B8E7-4CC0-A2BA-BC975A50B27F}" srcId="{7FE68308-13B3-417B-BF69-6AA8CED90819}" destId="{3CF3710A-4BD9-4B18-869A-A71B27697E99}" srcOrd="2" destOrd="0" parTransId="{ACCFB100-71BB-4033-BD0F-6384EFBBB2E3}" sibTransId="{AC9691CE-E85B-411C-A715-749E65D42297}"/>
    <dgm:cxn modelId="{65ACDC35-2DA0-457C-A42F-D777F5BA678B}" srcId="{7FE68308-13B3-417B-BF69-6AA8CED90819}" destId="{05CD4F87-4630-4704-BA95-76E4997248DC}" srcOrd="1" destOrd="0" parTransId="{7DA57415-08CA-4781-BC65-4FABA0799F18}" sibTransId="{D80E4A94-29DF-4EBB-A825-EA6781669D82}"/>
    <dgm:cxn modelId="{8BD4EF6E-3E7D-4D6F-985E-A7ACD35C349B}" type="presOf" srcId="{39919421-1FD7-4978-B87B-7F057DB3549E}" destId="{F852E867-EBCB-4DD2-8CEF-7A6DF5DB22ED}" srcOrd="0" destOrd="0" presId="urn:microsoft.com/office/officeart/2005/8/layout/vList2"/>
    <dgm:cxn modelId="{F7A08BAC-073C-468F-85EB-0AFC9BBB0DA3}" srcId="{7FE68308-13B3-417B-BF69-6AA8CED90819}" destId="{BCF58304-F80F-427A-B312-B54AE5EDB002}" srcOrd="3" destOrd="0" parTransId="{B92ECAD0-C903-4A30-B3AE-AC2ABFF19D11}" sibTransId="{332941B6-81D8-454F-909E-7D7540AC1486}"/>
    <dgm:cxn modelId="{21E24DB1-E8F3-4186-A576-3C919B3AD8DF}" type="presOf" srcId="{C25E38B3-3B21-4295-AA50-44C762D036F9}" destId="{63C26FEF-8015-4355-9D2D-AC93D125401D}" srcOrd="0" destOrd="0" presId="urn:microsoft.com/office/officeart/2005/8/layout/vList2"/>
    <dgm:cxn modelId="{36980AC0-1D3F-46FD-9F55-B5E75FC040D9}" type="presOf" srcId="{BCF58304-F80F-427A-B312-B54AE5EDB002}" destId="{ACD8B4D7-2973-4A7B-8AD5-2C8D9DA5C839}" srcOrd="0" destOrd="0" presId="urn:microsoft.com/office/officeart/2005/8/layout/vList2"/>
    <dgm:cxn modelId="{8AEBA9D1-CAA1-4684-8827-193EAE6E6061}" type="presOf" srcId="{05CD4F87-4630-4704-BA95-76E4997248DC}" destId="{79865179-F660-4AD2-BA19-024338F1929E}" srcOrd="0" destOrd="0" presId="urn:microsoft.com/office/officeart/2005/8/layout/vList2"/>
    <dgm:cxn modelId="{37FDD1DF-4780-44EE-89A0-5F507172F0A7}" srcId="{7FE68308-13B3-417B-BF69-6AA8CED90819}" destId="{C25E38B3-3B21-4295-AA50-44C762D036F9}" srcOrd="0" destOrd="0" parTransId="{2C8B3CC9-5C0B-46E3-9A37-A77B81F47042}" sibTransId="{07F6471B-24A1-4651-967D-5BCFDF9B52BB}"/>
    <dgm:cxn modelId="{8A7A1FE7-2130-4E7F-89B1-BBFDFF7ED584}" type="presOf" srcId="{3CF3710A-4BD9-4B18-869A-A71B27697E99}" destId="{B2FCA251-ADC3-4D8A-9E43-351821335588}" srcOrd="0" destOrd="0" presId="urn:microsoft.com/office/officeart/2005/8/layout/vList2"/>
    <dgm:cxn modelId="{629450F3-236C-4973-BB7C-DC4434736616}" srcId="{7FE68308-13B3-417B-BF69-6AA8CED90819}" destId="{39919421-1FD7-4978-B87B-7F057DB3549E}" srcOrd="4" destOrd="0" parTransId="{8CED61AF-0DEA-46C6-BBD2-1CB22A5C40BE}" sibTransId="{B3C93CCB-E3A5-4851-8721-BE4B3417ACA8}"/>
    <dgm:cxn modelId="{7A215706-E659-424B-A7AC-6DC5771AA038}" type="presParOf" srcId="{1DDC53D6-5656-40D4-85DE-75AA708B6F37}" destId="{63C26FEF-8015-4355-9D2D-AC93D125401D}" srcOrd="0" destOrd="0" presId="urn:microsoft.com/office/officeart/2005/8/layout/vList2"/>
    <dgm:cxn modelId="{87A40F99-09FE-4F72-8056-0A7A85E2A7BC}" type="presParOf" srcId="{1DDC53D6-5656-40D4-85DE-75AA708B6F37}" destId="{4031B77A-00DE-4B44-9A74-DF624E3C7DAF}" srcOrd="1" destOrd="0" presId="urn:microsoft.com/office/officeart/2005/8/layout/vList2"/>
    <dgm:cxn modelId="{F760D14A-050D-4954-89B2-864F2070431F}" type="presParOf" srcId="{1DDC53D6-5656-40D4-85DE-75AA708B6F37}" destId="{79865179-F660-4AD2-BA19-024338F1929E}" srcOrd="2" destOrd="0" presId="urn:microsoft.com/office/officeart/2005/8/layout/vList2"/>
    <dgm:cxn modelId="{CC7055D5-2A6B-4899-BD12-5E4085F189FD}" type="presParOf" srcId="{1DDC53D6-5656-40D4-85DE-75AA708B6F37}" destId="{8490931B-1509-4EED-955E-124AD70C970E}" srcOrd="3" destOrd="0" presId="urn:microsoft.com/office/officeart/2005/8/layout/vList2"/>
    <dgm:cxn modelId="{B2A8591A-AD9E-40AB-B8F3-513D8AFDBE30}" type="presParOf" srcId="{1DDC53D6-5656-40D4-85DE-75AA708B6F37}" destId="{B2FCA251-ADC3-4D8A-9E43-351821335588}" srcOrd="4" destOrd="0" presId="urn:microsoft.com/office/officeart/2005/8/layout/vList2"/>
    <dgm:cxn modelId="{E4CDAF89-3E1C-448D-8611-A06C0CD4F6E4}" type="presParOf" srcId="{1DDC53D6-5656-40D4-85DE-75AA708B6F37}" destId="{0CF73446-2AE3-49E5-B4D7-A9CA08313DD0}" srcOrd="5" destOrd="0" presId="urn:microsoft.com/office/officeart/2005/8/layout/vList2"/>
    <dgm:cxn modelId="{0D50AEB9-BAE5-4561-AF6D-2C34C1CCD9D3}" type="presParOf" srcId="{1DDC53D6-5656-40D4-85DE-75AA708B6F37}" destId="{ACD8B4D7-2973-4A7B-8AD5-2C8D9DA5C839}" srcOrd="6" destOrd="0" presId="urn:microsoft.com/office/officeart/2005/8/layout/vList2"/>
    <dgm:cxn modelId="{F47F0D18-89F9-4FFC-AF51-E098FBEA7FB9}" type="presParOf" srcId="{1DDC53D6-5656-40D4-85DE-75AA708B6F37}" destId="{F8B82C53-B70E-4F74-99E0-157B8ED68FA5}" srcOrd="7" destOrd="0" presId="urn:microsoft.com/office/officeart/2005/8/layout/vList2"/>
    <dgm:cxn modelId="{FC7478EE-6DF3-450F-8F5E-5D157B24A6E0}" type="presParOf" srcId="{1DDC53D6-5656-40D4-85DE-75AA708B6F37}" destId="{F852E867-EBCB-4DD2-8CEF-7A6DF5DB22ED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CE2AE9B-A9EB-4B62-8517-AA17880E5C73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AC96AD6-37C5-4D96-B2F8-A7D7A6263AD4}">
      <dgm:prSet custT="1"/>
      <dgm:spPr/>
      <dgm:t>
        <a:bodyPr/>
        <a:lstStyle/>
        <a:p>
          <a:r>
            <a:rPr lang="en-US" sz="1800" b="1" i="0" baseline="0" dirty="0"/>
            <a:t>Understand API specifications</a:t>
          </a:r>
          <a:r>
            <a:rPr lang="en-US" sz="1800" b="0" i="0" baseline="0" dirty="0"/>
            <a:t> (Swagger, WSDL, etc.)</a:t>
          </a:r>
          <a:endParaRPr lang="en-US" sz="1800" dirty="0"/>
        </a:p>
      </dgm:t>
    </dgm:pt>
    <dgm:pt modelId="{CF992388-D457-4CEE-803C-52D07277F1C1}" type="parTrans" cxnId="{DF039749-1A47-46E4-B568-C555EF55283C}">
      <dgm:prSet/>
      <dgm:spPr/>
      <dgm:t>
        <a:bodyPr/>
        <a:lstStyle/>
        <a:p>
          <a:endParaRPr lang="en-US"/>
        </a:p>
      </dgm:t>
    </dgm:pt>
    <dgm:pt modelId="{C64F85BE-6A98-4E83-BCE1-2FA7E6617D9E}" type="sibTrans" cxnId="{DF039749-1A47-46E4-B568-C555EF55283C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2EF44438-B391-4135-8405-18627E1A4409}">
      <dgm:prSet custT="1"/>
      <dgm:spPr/>
      <dgm:t>
        <a:bodyPr/>
        <a:lstStyle/>
        <a:p>
          <a:r>
            <a:rPr lang="en-US" sz="1800" b="1" i="0" baseline="0"/>
            <a:t>Send requests</a:t>
          </a:r>
          <a:r>
            <a:rPr lang="en-US" sz="1800" b="0" i="0" baseline="0"/>
            <a:t> using HTTP methods (GET, POST, PUT, DELETE)</a:t>
          </a:r>
          <a:endParaRPr lang="en-US" sz="1800"/>
        </a:p>
      </dgm:t>
    </dgm:pt>
    <dgm:pt modelId="{BCC756EC-ABB7-4F6E-BEE9-650F45987816}" type="parTrans" cxnId="{C536E3C5-E937-498A-8291-900E030E238C}">
      <dgm:prSet/>
      <dgm:spPr/>
      <dgm:t>
        <a:bodyPr/>
        <a:lstStyle/>
        <a:p>
          <a:endParaRPr lang="en-US"/>
        </a:p>
      </dgm:t>
    </dgm:pt>
    <dgm:pt modelId="{AF6F2B62-D2A5-483C-93E5-306FF2D06A3D}" type="sibTrans" cxnId="{C536E3C5-E937-498A-8291-900E030E238C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919B60FA-A3F3-4F08-8220-B3B3924830F1}">
      <dgm:prSet custT="1"/>
      <dgm:spPr/>
      <dgm:t>
        <a:bodyPr/>
        <a:lstStyle/>
        <a:p>
          <a:r>
            <a:rPr lang="en-US" sz="1800" b="1" i="0" baseline="0"/>
            <a:t>Validate responses</a:t>
          </a:r>
          <a:r>
            <a:rPr lang="en-US" sz="1800" b="0" i="0" baseline="0"/>
            <a:t> (status code, headers, body)</a:t>
          </a:r>
          <a:endParaRPr lang="en-US" sz="1800"/>
        </a:p>
      </dgm:t>
    </dgm:pt>
    <dgm:pt modelId="{F20453A6-263F-4B55-BDB3-83344E619FE4}" type="parTrans" cxnId="{0AB57655-0FC8-44A7-87DA-F792B1F4394B}">
      <dgm:prSet/>
      <dgm:spPr/>
      <dgm:t>
        <a:bodyPr/>
        <a:lstStyle/>
        <a:p>
          <a:endParaRPr lang="en-US"/>
        </a:p>
      </dgm:t>
    </dgm:pt>
    <dgm:pt modelId="{A64A89EA-D52F-48B9-BC17-A44CA04652D9}" type="sibTrans" cxnId="{0AB57655-0FC8-44A7-87DA-F792B1F4394B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D0A7C094-205E-47DE-9BE2-5388F6AE870F}">
      <dgm:prSet custT="1"/>
      <dgm:spPr/>
      <dgm:t>
        <a:bodyPr/>
        <a:lstStyle/>
        <a:p>
          <a:r>
            <a:rPr lang="en-US" sz="1800" b="1" i="0" baseline="0"/>
            <a:t>Automate tests</a:t>
          </a:r>
          <a:r>
            <a:rPr lang="en-US" sz="1800" b="0" i="0" baseline="0"/>
            <a:t> using tools like Postman or REST Assured</a:t>
          </a:r>
          <a:endParaRPr lang="en-US" sz="1800"/>
        </a:p>
      </dgm:t>
    </dgm:pt>
    <dgm:pt modelId="{3FC2C1C4-34A3-49E2-B6A0-41FAD2FDEF79}" type="parTrans" cxnId="{9251C7DC-80CE-4E99-AB8A-FB3E53D21194}">
      <dgm:prSet/>
      <dgm:spPr/>
      <dgm:t>
        <a:bodyPr/>
        <a:lstStyle/>
        <a:p>
          <a:endParaRPr lang="en-US"/>
        </a:p>
      </dgm:t>
    </dgm:pt>
    <dgm:pt modelId="{B27A7E4F-E030-4651-893B-6B5F1BDBAA48}" type="sibTrans" cxnId="{9251C7DC-80CE-4E99-AB8A-FB3E53D21194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CB09467D-5C0D-4FDF-8910-50249D3C9669}">
      <dgm:prSet custT="1"/>
      <dgm:spPr/>
      <dgm:t>
        <a:bodyPr/>
        <a:lstStyle/>
        <a:p>
          <a:r>
            <a:rPr lang="en-US" sz="1800" b="1" i="0" baseline="0"/>
            <a:t>Integrate with CI/CD pipelines</a:t>
          </a:r>
          <a:endParaRPr lang="en-US" sz="1800"/>
        </a:p>
      </dgm:t>
    </dgm:pt>
    <dgm:pt modelId="{8198E592-634B-4FF2-827C-5C71E77BC1D7}" type="parTrans" cxnId="{DA92AF63-6763-42CB-A474-8F3BEE5357A7}">
      <dgm:prSet/>
      <dgm:spPr/>
      <dgm:t>
        <a:bodyPr/>
        <a:lstStyle/>
        <a:p>
          <a:endParaRPr lang="en-US"/>
        </a:p>
      </dgm:t>
    </dgm:pt>
    <dgm:pt modelId="{32E06F99-1691-44F6-BDEB-AB1BDDAD2AE0}" type="sibTrans" cxnId="{DA92AF63-6763-42CB-A474-8F3BEE5357A7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6335C748-A3E2-4E37-AEAF-58A087CE806D}" type="pres">
      <dgm:prSet presAssocID="{8CE2AE9B-A9EB-4B62-8517-AA17880E5C73}" presName="Name0" presStyleCnt="0">
        <dgm:presLayoutVars>
          <dgm:animLvl val="lvl"/>
          <dgm:resizeHandles val="exact"/>
        </dgm:presLayoutVars>
      </dgm:prSet>
      <dgm:spPr/>
    </dgm:pt>
    <dgm:pt modelId="{4E5293A8-3169-4EBA-BAA0-CF164FBAF0BB}" type="pres">
      <dgm:prSet presAssocID="{DAC96AD6-37C5-4D96-B2F8-A7D7A6263AD4}" presName="compositeNode" presStyleCnt="0">
        <dgm:presLayoutVars>
          <dgm:bulletEnabled val="1"/>
        </dgm:presLayoutVars>
      </dgm:prSet>
      <dgm:spPr/>
    </dgm:pt>
    <dgm:pt modelId="{81CB9493-832C-4B0B-B25F-FF39DB3AD1C9}" type="pres">
      <dgm:prSet presAssocID="{DAC96AD6-37C5-4D96-B2F8-A7D7A6263AD4}" presName="bgRect" presStyleLbl="bgAccFollowNode1" presStyleIdx="0" presStyleCnt="5"/>
      <dgm:spPr/>
    </dgm:pt>
    <dgm:pt modelId="{51093BF6-2677-447E-BB04-9F0807ABA263}" type="pres">
      <dgm:prSet presAssocID="{C64F85BE-6A98-4E83-BCE1-2FA7E6617D9E}" presName="sibTransNodeCircle" presStyleLbl="alignNode1" presStyleIdx="0" presStyleCnt="10">
        <dgm:presLayoutVars>
          <dgm:chMax val="0"/>
          <dgm:bulletEnabled/>
        </dgm:presLayoutVars>
      </dgm:prSet>
      <dgm:spPr/>
    </dgm:pt>
    <dgm:pt modelId="{F93E91A3-41D6-44E0-AA40-3459AFF7570B}" type="pres">
      <dgm:prSet presAssocID="{DAC96AD6-37C5-4D96-B2F8-A7D7A6263AD4}" presName="bottomLine" presStyleLbl="alignNode1" presStyleIdx="1" presStyleCnt="10">
        <dgm:presLayoutVars/>
      </dgm:prSet>
      <dgm:spPr/>
    </dgm:pt>
    <dgm:pt modelId="{EABE799F-D465-41D8-A490-1E64513C569F}" type="pres">
      <dgm:prSet presAssocID="{DAC96AD6-37C5-4D96-B2F8-A7D7A6263AD4}" presName="nodeText" presStyleLbl="bgAccFollowNode1" presStyleIdx="0" presStyleCnt="5">
        <dgm:presLayoutVars>
          <dgm:bulletEnabled val="1"/>
        </dgm:presLayoutVars>
      </dgm:prSet>
      <dgm:spPr/>
    </dgm:pt>
    <dgm:pt modelId="{0BD43D99-97F5-4CD2-A89E-3BFBBB38A610}" type="pres">
      <dgm:prSet presAssocID="{C64F85BE-6A98-4E83-BCE1-2FA7E6617D9E}" presName="sibTrans" presStyleCnt="0"/>
      <dgm:spPr/>
    </dgm:pt>
    <dgm:pt modelId="{6BD1F066-FBB7-4CA7-ABB2-DC91B453C4B8}" type="pres">
      <dgm:prSet presAssocID="{2EF44438-B391-4135-8405-18627E1A4409}" presName="compositeNode" presStyleCnt="0">
        <dgm:presLayoutVars>
          <dgm:bulletEnabled val="1"/>
        </dgm:presLayoutVars>
      </dgm:prSet>
      <dgm:spPr/>
    </dgm:pt>
    <dgm:pt modelId="{8A4C5E16-E747-4DC0-8247-76A5281DE15B}" type="pres">
      <dgm:prSet presAssocID="{2EF44438-B391-4135-8405-18627E1A4409}" presName="bgRect" presStyleLbl="bgAccFollowNode1" presStyleIdx="1" presStyleCnt="5"/>
      <dgm:spPr/>
    </dgm:pt>
    <dgm:pt modelId="{0B7141AD-9861-458C-ACD8-52A1FD5D1DE8}" type="pres">
      <dgm:prSet presAssocID="{AF6F2B62-D2A5-483C-93E5-306FF2D06A3D}" presName="sibTransNodeCircle" presStyleLbl="alignNode1" presStyleIdx="2" presStyleCnt="10">
        <dgm:presLayoutVars>
          <dgm:chMax val="0"/>
          <dgm:bulletEnabled/>
        </dgm:presLayoutVars>
      </dgm:prSet>
      <dgm:spPr/>
    </dgm:pt>
    <dgm:pt modelId="{DFBD3C0F-ABF2-4F28-8E2D-BE5B6F263A5B}" type="pres">
      <dgm:prSet presAssocID="{2EF44438-B391-4135-8405-18627E1A4409}" presName="bottomLine" presStyleLbl="alignNode1" presStyleIdx="3" presStyleCnt="10">
        <dgm:presLayoutVars/>
      </dgm:prSet>
      <dgm:spPr/>
    </dgm:pt>
    <dgm:pt modelId="{C6CAF736-A759-4807-9DC7-E7C9CD6A97BA}" type="pres">
      <dgm:prSet presAssocID="{2EF44438-B391-4135-8405-18627E1A4409}" presName="nodeText" presStyleLbl="bgAccFollowNode1" presStyleIdx="1" presStyleCnt="5">
        <dgm:presLayoutVars>
          <dgm:bulletEnabled val="1"/>
        </dgm:presLayoutVars>
      </dgm:prSet>
      <dgm:spPr/>
    </dgm:pt>
    <dgm:pt modelId="{8E46F3A6-B1D8-467A-9F5D-17E15D70691B}" type="pres">
      <dgm:prSet presAssocID="{AF6F2B62-D2A5-483C-93E5-306FF2D06A3D}" presName="sibTrans" presStyleCnt="0"/>
      <dgm:spPr/>
    </dgm:pt>
    <dgm:pt modelId="{6E9025F8-899F-460F-950C-E1BEB53FB607}" type="pres">
      <dgm:prSet presAssocID="{919B60FA-A3F3-4F08-8220-B3B3924830F1}" presName="compositeNode" presStyleCnt="0">
        <dgm:presLayoutVars>
          <dgm:bulletEnabled val="1"/>
        </dgm:presLayoutVars>
      </dgm:prSet>
      <dgm:spPr/>
    </dgm:pt>
    <dgm:pt modelId="{ABD31B95-EAC8-4C99-AFC1-2DC0A2CA2A16}" type="pres">
      <dgm:prSet presAssocID="{919B60FA-A3F3-4F08-8220-B3B3924830F1}" presName="bgRect" presStyleLbl="bgAccFollowNode1" presStyleIdx="2" presStyleCnt="5"/>
      <dgm:spPr/>
    </dgm:pt>
    <dgm:pt modelId="{E1C8B8C2-0D71-454E-8B23-66E6E546E25F}" type="pres">
      <dgm:prSet presAssocID="{A64A89EA-D52F-48B9-BC17-A44CA04652D9}" presName="sibTransNodeCircle" presStyleLbl="alignNode1" presStyleIdx="4" presStyleCnt="10">
        <dgm:presLayoutVars>
          <dgm:chMax val="0"/>
          <dgm:bulletEnabled/>
        </dgm:presLayoutVars>
      </dgm:prSet>
      <dgm:spPr/>
    </dgm:pt>
    <dgm:pt modelId="{4D1F262A-8BBD-48A9-86BC-E78E07B4F20F}" type="pres">
      <dgm:prSet presAssocID="{919B60FA-A3F3-4F08-8220-B3B3924830F1}" presName="bottomLine" presStyleLbl="alignNode1" presStyleIdx="5" presStyleCnt="10">
        <dgm:presLayoutVars/>
      </dgm:prSet>
      <dgm:spPr/>
    </dgm:pt>
    <dgm:pt modelId="{3D6EA834-E3D6-4903-AC4D-13932321774A}" type="pres">
      <dgm:prSet presAssocID="{919B60FA-A3F3-4F08-8220-B3B3924830F1}" presName="nodeText" presStyleLbl="bgAccFollowNode1" presStyleIdx="2" presStyleCnt="5">
        <dgm:presLayoutVars>
          <dgm:bulletEnabled val="1"/>
        </dgm:presLayoutVars>
      </dgm:prSet>
      <dgm:spPr/>
    </dgm:pt>
    <dgm:pt modelId="{AB8C74F7-C927-4275-9270-8E1B155011A0}" type="pres">
      <dgm:prSet presAssocID="{A64A89EA-D52F-48B9-BC17-A44CA04652D9}" presName="sibTrans" presStyleCnt="0"/>
      <dgm:spPr/>
    </dgm:pt>
    <dgm:pt modelId="{76C151AB-F3E0-480D-B78C-F91C43CBE263}" type="pres">
      <dgm:prSet presAssocID="{D0A7C094-205E-47DE-9BE2-5388F6AE870F}" presName="compositeNode" presStyleCnt="0">
        <dgm:presLayoutVars>
          <dgm:bulletEnabled val="1"/>
        </dgm:presLayoutVars>
      </dgm:prSet>
      <dgm:spPr/>
    </dgm:pt>
    <dgm:pt modelId="{AFB88CC3-EA27-4E55-9504-F9FD9639578F}" type="pres">
      <dgm:prSet presAssocID="{D0A7C094-205E-47DE-9BE2-5388F6AE870F}" presName="bgRect" presStyleLbl="bgAccFollowNode1" presStyleIdx="3" presStyleCnt="5"/>
      <dgm:spPr/>
    </dgm:pt>
    <dgm:pt modelId="{B133EC87-3D09-492B-8EB6-976957EB9307}" type="pres">
      <dgm:prSet presAssocID="{B27A7E4F-E030-4651-893B-6B5F1BDBAA48}" presName="sibTransNodeCircle" presStyleLbl="alignNode1" presStyleIdx="6" presStyleCnt="10">
        <dgm:presLayoutVars>
          <dgm:chMax val="0"/>
          <dgm:bulletEnabled/>
        </dgm:presLayoutVars>
      </dgm:prSet>
      <dgm:spPr/>
    </dgm:pt>
    <dgm:pt modelId="{496B89CD-252A-4C12-987D-7904EA0DA008}" type="pres">
      <dgm:prSet presAssocID="{D0A7C094-205E-47DE-9BE2-5388F6AE870F}" presName="bottomLine" presStyleLbl="alignNode1" presStyleIdx="7" presStyleCnt="10">
        <dgm:presLayoutVars/>
      </dgm:prSet>
      <dgm:spPr/>
    </dgm:pt>
    <dgm:pt modelId="{BB7514C2-7FF2-434A-BCD0-2F56C300632B}" type="pres">
      <dgm:prSet presAssocID="{D0A7C094-205E-47DE-9BE2-5388F6AE870F}" presName="nodeText" presStyleLbl="bgAccFollowNode1" presStyleIdx="3" presStyleCnt="5">
        <dgm:presLayoutVars>
          <dgm:bulletEnabled val="1"/>
        </dgm:presLayoutVars>
      </dgm:prSet>
      <dgm:spPr/>
    </dgm:pt>
    <dgm:pt modelId="{0F14358B-74C4-4E44-B4EC-AC00BA333E9B}" type="pres">
      <dgm:prSet presAssocID="{B27A7E4F-E030-4651-893B-6B5F1BDBAA48}" presName="sibTrans" presStyleCnt="0"/>
      <dgm:spPr/>
    </dgm:pt>
    <dgm:pt modelId="{51B7332C-0977-4B49-811B-B299A7538A46}" type="pres">
      <dgm:prSet presAssocID="{CB09467D-5C0D-4FDF-8910-50249D3C9669}" presName="compositeNode" presStyleCnt="0">
        <dgm:presLayoutVars>
          <dgm:bulletEnabled val="1"/>
        </dgm:presLayoutVars>
      </dgm:prSet>
      <dgm:spPr/>
    </dgm:pt>
    <dgm:pt modelId="{856A3063-E3F0-4314-8B37-5F73BA31F09C}" type="pres">
      <dgm:prSet presAssocID="{CB09467D-5C0D-4FDF-8910-50249D3C9669}" presName="bgRect" presStyleLbl="bgAccFollowNode1" presStyleIdx="4" presStyleCnt="5"/>
      <dgm:spPr/>
    </dgm:pt>
    <dgm:pt modelId="{9BA6E013-F446-4659-B2B2-F4A63C9F716B}" type="pres">
      <dgm:prSet presAssocID="{32E06F99-1691-44F6-BDEB-AB1BDDAD2AE0}" presName="sibTransNodeCircle" presStyleLbl="alignNode1" presStyleIdx="8" presStyleCnt="10">
        <dgm:presLayoutVars>
          <dgm:chMax val="0"/>
          <dgm:bulletEnabled/>
        </dgm:presLayoutVars>
      </dgm:prSet>
      <dgm:spPr/>
    </dgm:pt>
    <dgm:pt modelId="{E2EBB090-7648-46C2-BB89-24C6B2AAF5F0}" type="pres">
      <dgm:prSet presAssocID="{CB09467D-5C0D-4FDF-8910-50249D3C9669}" presName="bottomLine" presStyleLbl="alignNode1" presStyleIdx="9" presStyleCnt="10">
        <dgm:presLayoutVars/>
      </dgm:prSet>
      <dgm:spPr/>
    </dgm:pt>
    <dgm:pt modelId="{8F4BEF13-4088-40F2-BC31-37E190CDACF5}" type="pres">
      <dgm:prSet presAssocID="{CB09467D-5C0D-4FDF-8910-50249D3C9669}" presName="nodeText" presStyleLbl="bgAccFollowNode1" presStyleIdx="4" presStyleCnt="5">
        <dgm:presLayoutVars>
          <dgm:bulletEnabled val="1"/>
        </dgm:presLayoutVars>
      </dgm:prSet>
      <dgm:spPr/>
    </dgm:pt>
  </dgm:ptLst>
  <dgm:cxnLst>
    <dgm:cxn modelId="{DA92AF63-6763-42CB-A474-8F3BEE5357A7}" srcId="{8CE2AE9B-A9EB-4B62-8517-AA17880E5C73}" destId="{CB09467D-5C0D-4FDF-8910-50249D3C9669}" srcOrd="4" destOrd="0" parTransId="{8198E592-634B-4FF2-827C-5C71E77BC1D7}" sibTransId="{32E06F99-1691-44F6-BDEB-AB1BDDAD2AE0}"/>
    <dgm:cxn modelId="{DF039749-1A47-46E4-B568-C555EF55283C}" srcId="{8CE2AE9B-A9EB-4B62-8517-AA17880E5C73}" destId="{DAC96AD6-37C5-4D96-B2F8-A7D7A6263AD4}" srcOrd="0" destOrd="0" parTransId="{CF992388-D457-4CEE-803C-52D07277F1C1}" sibTransId="{C64F85BE-6A98-4E83-BCE1-2FA7E6617D9E}"/>
    <dgm:cxn modelId="{08988D6E-768F-40E6-BE2E-17F2954E53E8}" type="presOf" srcId="{32E06F99-1691-44F6-BDEB-AB1BDDAD2AE0}" destId="{9BA6E013-F446-4659-B2B2-F4A63C9F716B}" srcOrd="0" destOrd="0" presId="urn:microsoft.com/office/officeart/2016/7/layout/BasicLinearProcessNumbered"/>
    <dgm:cxn modelId="{48012970-F42E-4164-87FD-455D3F5874F3}" type="presOf" srcId="{2EF44438-B391-4135-8405-18627E1A4409}" destId="{8A4C5E16-E747-4DC0-8247-76A5281DE15B}" srcOrd="0" destOrd="0" presId="urn:microsoft.com/office/officeart/2016/7/layout/BasicLinearProcessNumbered"/>
    <dgm:cxn modelId="{0AB57655-0FC8-44A7-87DA-F792B1F4394B}" srcId="{8CE2AE9B-A9EB-4B62-8517-AA17880E5C73}" destId="{919B60FA-A3F3-4F08-8220-B3B3924830F1}" srcOrd="2" destOrd="0" parTransId="{F20453A6-263F-4B55-BDB3-83344E619FE4}" sibTransId="{A64A89EA-D52F-48B9-BC17-A44CA04652D9}"/>
    <dgm:cxn modelId="{F78F6D7C-F4C7-4B19-97CD-E4826D058347}" type="presOf" srcId="{D0A7C094-205E-47DE-9BE2-5388F6AE870F}" destId="{AFB88CC3-EA27-4E55-9504-F9FD9639578F}" srcOrd="0" destOrd="0" presId="urn:microsoft.com/office/officeart/2016/7/layout/BasicLinearProcessNumbered"/>
    <dgm:cxn modelId="{7A7A7C7D-997F-4224-89B1-497CBF8845E2}" type="presOf" srcId="{DAC96AD6-37C5-4D96-B2F8-A7D7A6263AD4}" destId="{81CB9493-832C-4B0B-B25F-FF39DB3AD1C9}" srcOrd="0" destOrd="0" presId="urn:microsoft.com/office/officeart/2016/7/layout/BasicLinearProcessNumbered"/>
    <dgm:cxn modelId="{6ABD7D86-5051-456B-862D-407B9430F888}" type="presOf" srcId="{A64A89EA-D52F-48B9-BC17-A44CA04652D9}" destId="{E1C8B8C2-0D71-454E-8B23-66E6E546E25F}" srcOrd="0" destOrd="0" presId="urn:microsoft.com/office/officeart/2016/7/layout/BasicLinearProcessNumbered"/>
    <dgm:cxn modelId="{CEDA4C8B-03E8-434A-84E4-1B1DB5D4CC0C}" type="presOf" srcId="{8CE2AE9B-A9EB-4B62-8517-AA17880E5C73}" destId="{6335C748-A3E2-4E37-AEAF-58A087CE806D}" srcOrd="0" destOrd="0" presId="urn:microsoft.com/office/officeart/2016/7/layout/BasicLinearProcessNumbered"/>
    <dgm:cxn modelId="{4590209A-BA26-464F-9252-5D9DFA41FD5C}" type="presOf" srcId="{D0A7C094-205E-47DE-9BE2-5388F6AE870F}" destId="{BB7514C2-7FF2-434A-BCD0-2F56C300632B}" srcOrd="1" destOrd="0" presId="urn:microsoft.com/office/officeart/2016/7/layout/BasicLinearProcessNumbered"/>
    <dgm:cxn modelId="{C536E3C5-E937-498A-8291-900E030E238C}" srcId="{8CE2AE9B-A9EB-4B62-8517-AA17880E5C73}" destId="{2EF44438-B391-4135-8405-18627E1A4409}" srcOrd="1" destOrd="0" parTransId="{BCC756EC-ABB7-4F6E-BEE9-650F45987816}" sibTransId="{AF6F2B62-D2A5-483C-93E5-306FF2D06A3D}"/>
    <dgm:cxn modelId="{E5CC11C7-FEB9-43AE-9091-04D8E6111FD7}" type="presOf" srcId="{AF6F2B62-D2A5-483C-93E5-306FF2D06A3D}" destId="{0B7141AD-9861-458C-ACD8-52A1FD5D1DE8}" srcOrd="0" destOrd="0" presId="urn:microsoft.com/office/officeart/2016/7/layout/BasicLinearProcessNumbered"/>
    <dgm:cxn modelId="{DFC09ED7-2E91-471E-88BE-CE18D6EBF5D3}" type="presOf" srcId="{CB09467D-5C0D-4FDF-8910-50249D3C9669}" destId="{856A3063-E3F0-4314-8B37-5F73BA31F09C}" srcOrd="0" destOrd="0" presId="urn:microsoft.com/office/officeart/2016/7/layout/BasicLinearProcessNumbered"/>
    <dgm:cxn modelId="{9251C7DC-80CE-4E99-AB8A-FB3E53D21194}" srcId="{8CE2AE9B-A9EB-4B62-8517-AA17880E5C73}" destId="{D0A7C094-205E-47DE-9BE2-5388F6AE870F}" srcOrd="3" destOrd="0" parTransId="{3FC2C1C4-34A3-49E2-B6A0-41FAD2FDEF79}" sibTransId="{B27A7E4F-E030-4651-893B-6B5F1BDBAA48}"/>
    <dgm:cxn modelId="{8CF227DF-8DC2-4D11-AD71-F5D8E8690DCE}" type="presOf" srcId="{919B60FA-A3F3-4F08-8220-B3B3924830F1}" destId="{3D6EA834-E3D6-4903-AC4D-13932321774A}" srcOrd="1" destOrd="0" presId="urn:microsoft.com/office/officeart/2016/7/layout/BasicLinearProcessNumbered"/>
    <dgm:cxn modelId="{78AD58E1-4B65-4178-AF52-F01B1E8B0835}" type="presOf" srcId="{B27A7E4F-E030-4651-893B-6B5F1BDBAA48}" destId="{B133EC87-3D09-492B-8EB6-976957EB9307}" srcOrd="0" destOrd="0" presId="urn:microsoft.com/office/officeart/2016/7/layout/BasicLinearProcessNumbered"/>
    <dgm:cxn modelId="{D670CFE1-82E7-448E-A928-357156D04E72}" type="presOf" srcId="{919B60FA-A3F3-4F08-8220-B3B3924830F1}" destId="{ABD31B95-EAC8-4C99-AFC1-2DC0A2CA2A16}" srcOrd="0" destOrd="0" presId="urn:microsoft.com/office/officeart/2016/7/layout/BasicLinearProcessNumbered"/>
    <dgm:cxn modelId="{4DF3FCE7-7042-4DF0-B196-C6B224509B68}" type="presOf" srcId="{C64F85BE-6A98-4E83-BCE1-2FA7E6617D9E}" destId="{51093BF6-2677-447E-BB04-9F0807ABA263}" srcOrd="0" destOrd="0" presId="urn:microsoft.com/office/officeart/2016/7/layout/BasicLinearProcessNumbered"/>
    <dgm:cxn modelId="{FC6127F2-64B5-4A4B-B849-CC1D8FB53634}" type="presOf" srcId="{DAC96AD6-37C5-4D96-B2F8-A7D7A6263AD4}" destId="{EABE799F-D465-41D8-A490-1E64513C569F}" srcOrd="1" destOrd="0" presId="urn:microsoft.com/office/officeart/2016/7/layout/BasicLinearProcessNumbered"/>
    <dgm:cxn modelId="{C40478F3-32D1-42FA-8EF2-4E56105F6764}" type="presOf" srcId="{CB09467D-5C0D-4FDF-8910-50249D3C9669}" destId="{8F4BEF13-4088-40F2-BC31-37E190CDACF5}" srcOrd="1" destOrd="0" presId="urn:microsoft.com/office/officeart/2016/7/layout/BasicLinearProcessNumbered"/>
    <dgm:cxn modelId="{95CDA6F3-7475-417F-86F0-02F578E5042F}" type="presOf" srcId="{2EF44438-B391-4135-8405-18627E1A4409}" destId="{C6CAF736-A759-4807-9DC7-E7C9CD6A97BA}" srcOrd="1" destOrd="0" presId="urn:microsoft.com/office/officeart/2016/7/layout/BasicLinearProcessNumbered"/>
    <dgm:cxn modelId="{09C120D4-8CEB-4739-94FA-724E81DFC966}" type="presParOf" srcId="{6335C748-A3E2-4E37-AEAF-58A087CE806D}" destId="{4E5293A8-3169-4EBA-BAA0-CF164FBAF0BB}" srcOrd="0" destOrd="0" presId="urn:microsoft.com/office/officeart/2016/7/layout/BasicLinearProcessNumbered"/>
    <dgm:cxn modelId="{D4357600-BD80-4BA5-9AFB-AEF9C97DE422}" type="presParOf" srcId="{4E5293A8-3169-4EBA-BAA0-CF164FBAF0BB}" destId="{81CB9493-832C-4B0B-B25F-FF39DB3AD1C9}" srcOrd="0" destOrd="0" presId="urn:microsoft.com/office/officeart/2016/7/layout/BasicLinearProcessNumbered"/>
    <dgm:cxn modelId="{D0949F36-3F6B-4F0C-ABC6-C6449277E832}" type="presParOf" srcId="{4E5293A8-3169-4EBA-BAA0-CF164FBAF0BB}" destId="{51093BF6-2677-447E-BB04-9F0807ABA263}" srcOrd="1" destOrd="0" presId="urn:microsoft.com/office/officeart/2016/7/layout/BasicLinearProcessNumbered"/>
    <dgm:cxn modelId="{DF486145-91D6-43DD-99D1-7085D42F589E}" type="presParOf" srcId="{4E5293A8-3169-4EBA-BAA0-CF164FBAF0BB}" destId="{F93E91A3-41D6-44E0-AA40-3459AFF7570B}" srcOrd="2" destOrd="0" presId="urn:microsoft.com/office/officeart/2016/7/layout/BasicLinearProcessNumbered"/>
    <dgm:cxn modelId="{EC8D1935-CFDB-4136-A18C-BB7286DC631B}" type="presParOf" srcId="{4E5293A8-3169-4EBA-BAA0-CF164FBAF0BB}" destId="{EABE799F-D465-41D8-A490-1E64513C569F}" srcOrd="3" destOrd="0" presId="urn:microsoft.com/office/officeart/2016/7/layout/BasicLinearProcessNumbered"/>
    <dgm:cxn modelId="{E865C955-E4F0-4025-AF0C-05120782926B}" type="presParOf" srcId="{6335C748-A3E2-4E37-AEAF-58A087CE806D}" destId="{0BD43D99-97F5-4CD2-A89E-3BFBBB38A610}" srcOrd="1" destOrd="0" presId="urn:microsoft.com/office/officeart/2016/7/layout/BasicLinearProcessNumbered"/>
    <dgm:cxn modelId="{CD0D8C62-195C-4E86-AD01-F13304E9DF6E}" type="presParOf" srcId="{6335C748-A3E2-4E37-AEAF-58A087CE806D}" destId="{6BD1F066-FBB7-4CA7-ABB2-DC91B453C4B8}" srcOrd="2" destOrd="0" presId="urn:microsoft.com/office/officeart/2016/7/layout/BasicLinearProcessNumbered"/>
    <dgm:cxn modelId="{8A26B070-694F-4C27-90FB-74F96526589A}" type="presParOf" srcId="{6BD1F066-FBB7-4CA7-ABB2-DC91B453C4B8}" destId="{8A4C5E16-E747-4DC0-8247-76A5281DE15B}" srcOrd="0" destOrd="0" presId="urn:microsoft.com/office/officeart/2016/7/layout/BasicLinearProcessNumbered"/>
    <dgm:cxn modelId="{E03F867E-D369-4EB1-B941-B4CD9B7DCC91}" type="presParOf" srcId="{6BD1F066-FBB7-4CA7-ABB2-DC91B453C4B8}" destId="{0B7141AD-9861-458C-ACD8-52A1FD5D1DE8}" srcOrd="1" destOrd="0" presId="urn:microsoft.com/office/officeart/2016/7/layout/BasicLinearProcessNumbered"/>
    <dgm:cxn modelId="{CE480762-7A10-46FA-95C9-A053EFAEF74B}" type="presParOf" srcId="{6BD1F066-FBB7-4CA7-ABB2-DC91B453C4B8}" destId="{DFBD3C0F-ABF2-4F28-8E2D-BE5B6F263A5B}" srcOrd="2" destOrd="0" presId="urn:microsoft.com/office/officeart/2016/7/layout/BasicLinearProcessNumbered"/>
    <dgm:cxn modelId="{3531E6C0-2A45-4A4B-88F1-24BF016357EA}" type="presParOf" srcId="{6BD1F066-FBB7-4CA7-ABB2-DC91B453C4B8}" destId="{C6CAF736-A759-4807-9DC7-E7C9CD6A97BA}" srcOrd="3" destOrd="0" presId="urn:microsoft.com/office/officeart/2016/7/layout/BasicLinearProcessNumbered"/>
    <dgm:cxn modelId="{BDAF0664-2892-4883-B6B4-8469A3946518}" type="presParOf" srcId="{6335C748-A3E2-4E37-AEAF-58A087CE806D}" destId="{8E46F3A6-B1D8-467A-9F5D-17E15D70691B}" srcOrd="3" destOrd="0" presId="urn:microsoft.com/office/officeart/2016/7/layout/BasicLinearProcessNumbered"/>
    <dgm:cxn modelId="{EE6ACD06-51D1-4DD9-8169-15452BADD438}" type="presParOf" srcId="{6335C748-A3E2-4E37-AEAF-58A087CE806D}" destId="{6E9025F8-899F-460F-950C-E1BEB53FB607}" srcOrd="4" destOrd="0" presId="urn:microsoft.com/office/officeart/2016/7/layout/BasicLinearProcessNumbered"/>
    <dgm:cxn modelId="{E2D35B49-FCBA-49D3-9F42-DFB434DFFD80}" type="presParOf" srcId="{6E9025F8-899F-460F-950C-E1BEB53FB607}" destId="{ABD31B95-EAC8-4C99-AFC1-2DC0A2CA2A16}" srcOrd="0" destOrd="0" presId="urn:microsoft.com/office/officeart/2016/7/layout/BasicLinearProcessNumbered"/>
    <dgm:cxn modelId="{65E5CB8B-2391-4C76-8D45-4280C0B0D163}" type="presParOf" srcId="{6E9025F8-899F-460F-950C-E1BEB53FB607}" destId="{E1C8B8C2-0D71-454E-8B23-66E6E546E25F}" srcOrd="1" destOrd="0" presId="urn:microsoft.com/office/officeart/2016/7/layout/BasicLinearProcessNumbered"/>
    <dgm:cxn modelId="{ABEFD7F6-060E-4DEA-9B24-932E63D4D852}" type="presParOf" srcId="{6E9025F8-899F-460F-950C-E1BEB53FB607}" destId="{4D1F262A-8BBD-48A9-86BC-E78E07B4F20F}" srcOrd="2" destOrd="0" presId="urn:microsoft.com/office/officeart/2016/7/layout/BasicLinearProcessNumbered"/>
    <dgm:cxn modelId="{D122FF1A-D383-40DA-9C25-6D7012092600}" type="presParOf" srcId="{6E9025F8-899F-460F-950C-E1BEB53FB607}" destId="{3D6EA834-E3D6-4903-AC4D-13932321774A}" srcOrd="3" destOrd="0" presId="urn:microsoft.com/office/officeart/2016/7/layout/BasicLinearProcessNumbered"/>
    <dgm:cxn modelId="{44ACED81-326C-49AE-B8F1-443BA095F5D4}" type="presParOf" srcId="{6335C748-A3E2-4E37-AEAF-58A087CE806D}" destId="{AB8C74F7-C927-4275-9270-8E1B155011A0}" srcOrd="5" destOrd="0" presId="urn:microsoft.com/office/officeart/2016/7/layout/BasicLinearProcessNumbered"/>
    <dgm:cxn modelId="{0498E362-F460-4B9B-8451-8F48534E226D}" type="presParOf" srcId="{6335C748-A3E2-4E37-AEAF-58A087CE806D}" destId="{76C151AB-F3E0-480D-B78C-F91C43CBE263}" srcOrd="6" destOrd="0" presId="urn:microsoft.com/office/officeart/2016/7/layout/BasicLinearProcessNumbered"/>
    <dgm:cxn modelId="{9FA67EAE-B3CB-4043-9907-C0A45F4C3AE4}" type="presParOf" srcId="{76C151AB-F3E0-480D-B78C-F91C43CBE263}" destId="{AFB88CC3-EA27-4E55-9504-F9FD9639578F}" srcOrd="0" destOrd="0" presId="urn:microsoft.com/office/officeart/2016/7/layout/BasicLinearProcessNumbered"/>
    <dgm:cxn modelId="{83541BFC-8D8D-4439-BF19-6D23E4392B21}" type="presParOf" srcId="{76C151AB-F3E0-480D-B78C-F91C43CBE263}" destId="{B133EC87-3D09-492B-8EB6-976957EB9307}" srcOrd="1" destOrd="0" presId="urn:microsoft.com/office/officeart/2016/7/layout/BasicLinearProcessNumbered"/>
    <dgm:cxn modelId="{0A8CDB4A-34FB-4C7B-82DB-261BD8E1B1DA}" type="presParOf" srcId="{76C151AB-F3E0-480D-B78C-F91C43CBE263}" destId="{496B89CD-252A-4C12-987D-7904EA0DA008}" srcOrd="2" destOrd="0" presId="urn:microsoft.com/office/officeart/2016/7/layout/BasicLinearProcessNumbered"/>
    <dgm:cxn modelId="{A847547A-61DE-4D32-B4E3-93F07F3B674E}" type="presParOf" srcId="{76C151AB-F3E0-480D-B78C-F91C43CBE263}" destId="{BB7514C2-7FF2-434A-BCD0-2F56C300632B}" srcOrd="3" destOrd="0" presId="urn:microsoft.com/office/officeart/2016/7/layout/BasicLinearProcessNumbered"/>
    <dgm:cxn modelId="{8C78C34B-4771-441F-8620-6130F03E9105}" type="presParOf" srcId="{6335C748-A3E2-4E37-AEAF-58A087CE806D}" destId="{0F14358B-74C4-4E44-B4EC-AC00BA333E9B}" srcOrd="7" destOrd="0" presId="urn:microsoft.com/office/officeart/2016/7/layout/BasicLinearProcessNumbered"/>
    <dgm:cxn modelId="{3B232B72-CE93-47EB-BC96-63FB631EDD7F}" type="presParOf" srcId="{6335C748-A3E2-4E37-AEAF-58A087CE806D}" destId="{51B7332C-0977-4B49-811B-B299A7538A46}" srcOrd="8" destOrd="0" presId="urn:microsoft.com/office/officeart/2016/7/layout/BasicLinearProcessNumbered"/>
    <dgm:cxn modelId="{94D27DA2-3E9A-49B3-8EA5-CB04DEACAA49}" type="presParOf" srcId="{51B7332C-0977-4B49-811B-B299A7538A46}" destId="{856A3063-E3F0-4314-8B37-5F73BA31F09C}" srcOrd="0" destOrd="0" presId="urn:microsoft.com/office/officeart/2016/7/layout/BasicLinearProcessNumbered"/>
    <dgm:cxn modelId="{A87B556C-0AF7-4E59-A114-57719DAD2CCF}" type="presParOf" srcId="{51B7332C-0977-4B49-811B-B299A7538A46}" destId="{9BA6E013-F446-4659-B2B2-F4A63C9F716B}" srcOrd="1" destOrd="0" presId="urn:microsoft.com/office/officeart/2016/7/layout/BasicLinearProcessNumbered"/>
    <dgm:cxn modelId="{310456C9-B55E-48A5-8841-252A7CC0129E}" type="presParOf" srcId="{51B7332C-0977-4B49-811B-B299A7538A46}" destId="{E2EBB090-7648-46C2-BB89-24C6B2AAF5F0}" srcOrd="2" destOrd="0" presId="urn:microsoft.com/office/officeart/2016/7/layout/BasicLinearProcessNumbered"/>
    <dgm:cxn modelId="{63E1B44C-5954-4984-A5C7-B23FED8075DB}" type="presParOf" srcId="{51B7332C-0977-4B49-811B-B299A7538A46}" destId="{8F4BEF13-4088-40F2-BC31-37E190CDACF5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C2102FE-1523-4E8F-8351-1246B8E5F0F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8C2B3584-B783-4CC2-B4D3-5D60EAFD3517}">
      <dgm:prSet/>
      <dgm:spPr/>
      <dgm:t>
        <a:bodyPr/>
        <a:lstStyle/>
        <a:p>
          <a:r>
            <a:rPr lang="en-GB"/>
            <a:t>REST Assured is a Java-based library for testing RESTful APIs</a:t>
          </a:r>
          <a:endParaRPr lang="en-US"/>
        </a:p>
      </dgm:t>
    </dgm:pt>
    <dgm:pt modelId="{96A78D59-8282-46EF-B4D3-CFBC81F67DA5}" type="parTrans" cxnId="{F4138D9F-AE45-4CB8-B4C8-591BC0B3D0A0}">
      <dgm:prSet/>
      <dgm:spPr/>
      <dgm:t>
        <a:bodyPr/>
        <a:lstStyle/>
        <a:p>
          <a:endParaRPr lang="en-US"/>
        </a:p>
      </dgm:t>
    </dgm:pt>
    <dgm:pt modelId="{B3C3D506-E56F-4C20-BA2A-118924929391}" type="sibTrans" cxnId="{F4138D9F-AE45-4CB8-B4C8-591BC0B3D0A0}">
      <dgm:prSet/>
      <dgm:spPr/>
      <dgm:t>
        <a:bodyPr/>
        <a:lstStyle/>
        <a:p>
          <a:endParaRPr lang="en-US"/>
        </a:p>
      </dgm:t>
    </dgm:pt>
    <dgm:pt modelId="{7D9B8CD0-BD1F-4CA2-B8C8-48916281BAFD}">
      <dgm:prSet/>
      <dgm:spPr/>
      <dgm:t>
        <a:bodyPr/>
        <a:lstStyle/>
        <a:p>
          <a:r>
            <a:rPr lang="en-GB"/>
            <a:t>It provides a domain-specific language (DSL) for writing readable and maintainable tests</a:t>
          </a:r>
          <a:endParaRPr lang="en-US"/>
        </a:p>
      </dgm:t>
    </dgm:pt>
    <dgm:pt modelId="{28A713B4-4B94-46E1-9417-34B9E9EB7A3E}" type="parTrans" cxnId="{CA6542F3-587A-45E9-B9CD-47CB0F50B769}">
      <dgm:prSet/>
      <dgm:spPr/>
      <dgm:t>
        <a:bodyPr/>
        <a:lstStyle/>
        <a:p>
          <a:endParaRPr lang="en-US"/>
        </a:p>
      </dgm:t>
    </dgm:pt>
    <dgm:pt modelId="{A9CA728D-C764-4228-A2DC-00D1C6A9858A}" type="sibTrans" cxnId="{CA6542F3-587A-45E9-B9CD-47CB0F50B769}">
      <dgm:prSet/>
      <dgm:spPr/>
      <dgm:t>
        <a:bodyPr/>
        <a:lstStyle/>
        <a:p>
          <a:endParaRPr lang="en-US"/>
        </a:p>
      </dgm:t>
    </dgm:pt>
    <dgm:pt modelId="{25784A6E-7DBA-441C-B8FD-ED5CC1DD1835}">
      <dgm:prSet/>
      <dgm:spPr/>
      <dgm:t>
        <a:bodyPr/>
        <a:lstStyle/>
        <a:p>
          <a:r>
            <a:rPr lang="en-GB"/>
            <a:t>Integrates seamlessly with JUnit, TestNG, and Maven</a:t>
          </a:r>
          <a:endParaRPr lang="en-US"/>
        </a:p>
      </dgm:t>
    </dgm:pt>
    <dgm:pt modelId="{85A307A9-225A-40C6-9606-1FDD810490E4}" type="parTrans" cxnId="{ABD0CD43-7F7A-42B6-B00B-31EE038A3C54}">
      <dgm:prSet/>
      <dgm:spPr/>
      <dgm:t>
        <a:bodyPr/>
        <a:lstStyle/>
        <a:p>
          <a:endParaRPr lang="en-US"/>
        </a:p>
      </dgm:t>
    </dgm:pt>
    <dgm:pt modelId="{7E36AC97-5A3E-4DF3-B446-85AD44F1C388}" type="sibTrans" cxnId="{ABD0CD43-7F7A-42B6-B00B-31EE038A3C54}">
      <dgm:prSet/>
      <dgm:spPr/>
      <dgm:t>
        <a:bodyPr/>
        <a:lstStyle/>
        <a:p>
          <a:endParaRPr lang="en-US"/>
        </a:p>
      </dgm:t>
    </dgm:pt>
    <dgm:pt modelId="{AE09B095-B333-47B4-AE9F-446C388EDBB6}" type="pres">
      <dgm:prSet presAssocID="{1C2102FE-1523-4E8F-8351-1246B8E5F0FD}" presName="root" presStyleCnt="0">
        <dgm:presLayoutVars>
          <dgm:dir/>
          <dgm:resizeHandles val="exact"/>
        </dgm:presLayoutVars>
      </dgm:prSet>
      <dgm:spPr/>
    </dgm:pt>
    <dgm:pt modelId="{B04E8E8D-21F9-47B5-8D1B-BE7C3A6F0A66}" type="pres">
      <dgm:prSet presAssocID="{8C2B3584-B783-4CC2-B4D3-5D60EAFD3517}" presName="compNode" presStyleCnt="0"/>
      <dgm:spPr/>
    </dgm:pt>
    <dgm:pt modelId="{BA300BF0-824C-4CF9-B70B-27D296AFC8BC}" type="pres">
      <dgm:prSet presAssocID="{8C2B3584-B783-4CC2-B4D3-5D60EAFD3517}" presName="bgRect" presStyleLbl="bgShp" presStyleIdx="0" presStyleCnt="3"/>
      <dgm:spPr/>
    </dgm:pt>
    <dgm:pt modelId="{AC1F6F3D-76E0-43E7-B81E-0EDE37929F24}" type="pres">
      <dgm:prSet presAssocID="{8C2B3584-B783-4CC2-B4D3-5D60EAFD351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61355BC-C9D5-4E60-A3D7-8AB4BE9179F1}" type="pres">
      <dgm:prSet presAssocID="{8C2B3584-B783-4CC2-B4D3-5D60EAFD3517}" presName="spaceRect" presStyleCnt="0"/>
      <dgm:spPr/>
    </dgm:pt>
    <dgm:pt modelId="{84557654-991C-4342-9186-4A6C760C1392}" type="pres">
      <dgm:prSet presAssocID="{8C2B3584-B783-4CC2-B4D3-5D60EAFD3517}" presName="parTx" presStyleLbl="revTx" presStyleIdx="0" presStyleCnt="3">
        <dgm:presLayoutVars>
          <dgm:chMax val="0"/>
          <dgm:chPref val="0"/>
        </dgm:presLayoutVars>
      </dgm:prSet>
      <dgm:spPr/>
    </dgm:pt>
    <dgm:pt modelId="{2D3C5044-30D2-43B3-B389-0E3E849B130A}" type="pres">
      <dgm:prSet presAssocID="{B3C3D506-E56F-4C20-BA2A-118924929391}" presName="sibTrans" presStyleCnt="0"/>
      <dgm:spPr/>
    </dgm:pt>
    <dgm:pt modelId="{CD4FDA99-7B9E-475B-BB46-230A300A15EB}" type="pres">
      <dgm:prSet presAssocID="{7D9B8CD0-BD1F-4CA2-B8C8-48916281BAFD}" presName="compNode" presStyleCnt="0"/>
      <dgm:spPr/>
    </dgm:pt>
    <dgm:pt modelId="{8DA2A7B8-E38E-4DB4-94ED-E7735CD0A37C}" type="pres">
      <dgm:prSet presAssocID="{7D9B8CD0-BD1F-4CA2-B8C8-48916281BAFD}" presName="bgRect" presStyleLbl="bgShp" presStyleIdx="1" presStyleCnt="3"/>
      <dgm:spPr/>
    </dgm:pt>
    <dgm:pt modelId="{48BA1BF7-5538-417A-8191-A0157A44328F}" type="pres">
      <dgm:prSet presAssocID="{7D9B8CD0-BD1F-4CA2-B8C8-48916281BAF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4460F030-E6E3-4FD3-805C-A405CE207FED}" type="pres">
      <dgm:prSet presAssocID="{7D9B8CD0-BD1F-4CA2-B8C8-48916281BAFD}" presName="spaceRect" presStyleCnt="0"/>
      <dgm:spPr/>
    </dgm:pt>
    <dgm:pt modelId="{E2046321-FDCF-4B90-B8AF-C21BE8E8F6D8}" type="pres">
      <dgm:prSet presAssocID="{7D9B8CD0-BD1F-4CA2-B8C8-48916281BAFD}" presName="parTx" presStyleLbl="revTx" presStyleIdx="1" presStyleCnt="3">
        <dgm:presLayoutVars>
          <dgm:chMax val="0"/>
          <dgm:chPref val="0"/>
        </dgm:presLayoutVars>
      </dgm:prSet>
      <dgm:spPr/>
    </dgm:pt>
    <dgm:pt modelId="{77062E47-83E6-4EDA-9B74-BAA7FF1DED91}" type="pres">
      <dgm:prSet presAssocID="{A9CA728D-C764-4228-A2DC-00D1C6A9858A}" presName="sibTrans" presStyleCnt="0"/>
      <dgm:spPr/>
    </dgm:pt>
    <dgm:pt modelId="{FBAA4EAD-8FC1-4BFF-A8B2-2253D9C6F6B3}" type="pres">
      <dgm:prSet presAssocID="{25784A6E-7DBA-441C-B8FD-ED5CC1DD1835}" presName="compNode" presStyleCnt="0"/>
      <dgm:spPr/>
    </dgm:pt>
    <dgm:pt modelId="{5510BEB7-F607-49F6-A538-EBFCD8EE52D3}" type="pres">
      <dgm:prSet presAssocID="{25784A6E-7DBA-441C-B8FD-ED5CC1DD1835}" presName="bgRect" presStyleLbl="bgShp" presStyleIdx="2" presStyleCnt="3"/>
      <dgm:spPr/>
    </dgm:pt>
    <dgm:pt modelId="{A20B6DD2-9F29-4852-874C-B46B37572893}" type="pres">
      <dgm:prSet presAssocID="{25784A6E-7DBA-441C-B8FD-ED5CC1DD183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akers"/>
        </a:ext>
      </dgm:extLst>
    </dgm:pt>
    <dgm:pt modelId="{D39896E4-22C2-411E-BBDE-8D244FE4EFB1}" type="pres">
      <dgm:prSet presAssocID="{25784A6E-7DBA-441C-B8FD-ED5CC1DD1835}" presName="spaceRect" presStyleCnt="0"/>
      <dgm:spPr/>
    </dgm:pt>
    <dgm:pt modelId="{F7B78E3F-467F-4785-B3B9-61F0E0B503EB}" type="pres">
      <dgm:prSet presAssocID="{25784A6E-7DBA-441C-B8FD-ED5CC1DD183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367D80A-9770-4397-8F5D-D7E93245F66F}" type="presOf" srcId="{25784A6E-7DBA-441C-B8FD-ED5CC1DD1835}" destId="{F7B78E3F-467F-4785-B3B9-61F0E0B503EB}" srcOrd="0" destOrd="0" presId="urn:microsoft.com/office/officeart/2018/2/layout/IconVerticalSolidList"/>
    <dgm:cxn modelId="{27C6105E-09E0-4FAC-9922-B53DCFD7693F}" type="presOf" srcId="{8C2B3584-B783-4CC2-B4D3-5D60EAFD3517}" destId="{84557654-991C-4342-9186-4A6C760C1392}" srcOrd="0" destOrd="0" presId="urn:microsoft.com/office/officeart/2018/2/layout/IconVerticalSolidList"/>
    <dgm:cxn modelId="{C2247142-9279-4E44-96C3-B92C44B409DC}" type="presOf" srcId="{7D9B8CD0-BD1F-4CA2-B8C8-48916281BAFD}" destId="{E2046321-FDCF-4B90-B8AF-C21BE8E8F6D8}" srcOrd="0" destOrd="0" presId="urn:microsoft.com/office/officeart/2018/2/layout/IconVerticalSolidList"/>
    <dgm:cxn modelId="{ABD0CD43-7F7A-42B6-B00B-31EE038A3C54}" srcId="{1C2102FE-1523-4E8F-8351-1246B8E5F0FD}" destId="{25784A6E-7DBA-441C-B8FD-ED5CC1DD1835}" srcOrd="2" destOrd="0" parTransId="{85A307A9-225A-40C6-9606-1FDD810490E4}" sibTransId="{7E36AC97-5A3E-4DF3-B446-85AD44F1C388}"/>
    <dgm:cxn modelId="{F4138D9F-AE45-4CB8-B4C8-591BC0B3D0A0}" srcId="{1C2102FE-1523-4E8F-8351-1246B8E5F0FD}" destId="{8C2B3584-B783-4CC2-B4D3-5D60EAFD3517}" srcOrd="0" destOrd="0" parTransId="{96A78D59-8282-46EF-B4D3-CFBC81F67DA5}" sibTransId="{B3C3D506-E56F-4C20-BA2A-118924929391}"/>
    <dgm:cxn modelId="{F01A42CD-0BA2-48D6-B939-011368D1222B}" type="presOf" srcId="{1C2102FE-1523-4E8F-8351-1246B8E5F0FD}" destId="{AE09B095-B333-47B4-AE9F-446C388EDBB6}" srcOrd="0" destOrd="0" presId="urn:microsoft.com/office/officeart/2018/2/layout/IconVerticalSolidList"/>
    <dgm:cxn modelId="{CA6542F3-587A-45E9-B9CD-47CB0F50B769}" srcId="{1C2102FE-1523-4E8F-8351-1246B8E5F0FD}" destId="{7D9B8CD0-BD1F-4CA2-B8C8-48916281BAFD}" srcOrd="1" destOrd="0" parTransId="{28A713B4-4B94-46E1-9417-34B9E9EB7A3E}" sibTransId="{A9CA728D-C764-4228-A2DC-00D1C6A9858A}"/>
    <dgm:cxn modelId="{E815D816-1197-481E-B752-0B3184AEA588}" type="presParOf" srcId="{AE09B095-B333-47B4-AE9F-446C388EDBB6}" destId="{B04E8E8D-21F9-47B5-8D1B-BE7C3A6F0A66}" srcOrd="0" destOrd="0" presId="urn:microsoft.com/office/officeart/2018/2/layout/IconVerticalSolidList"/>
    <dgm:cxn modelId="{FBC60835-BFB6-412A-A529-72B0F2AA1C2A}" type="presParOf" srcId="{B04E8E8D-21F9-47B5-8D1B-BE7C3A6F0A66}" destId="{BA300BF0-824C-4CF9-B70B-27D296AFC8BC}" srcOrd="0" destOrd="0" presId="urn:microsoft.com/office/officeart/2018/2/layout/IconVerticalSolidList"/>
    <dgm:cxn modelId="{4F6FEA90-F041-45BB-A6C3-441F43FAEE3A}" type="presParOf" srcId="{B04E8E8D-21F9-47B5-8D1B-BE7C3A6F0A66}" destId="{AC1F6F3D-76E0-43E7-B81E-0EDE37929F24}" srcOrd="1" destOrd="0" presId="urn:microsoft.com/office/officeart/2018/2/layout/IconVerticalSolidList"/>
    <dgm:cxn modelId="{7C6CCB1F-A81D-4E22-84BE-978C8B2AA97F}" type="presParOf" srcId="{B04E8E8D-21F9-47B5-8D1B-BE7C3A6F0A66}" destId="{C61355BC-C9D5-4E60-A3D7-8AB4BE9179F1}" srcOrd="2" destOrd="0" presId="urn:microsoft.com/office/officeart/2018/2/layout/IconVerticalSolidList"/>
    <dgm:cxn modelId="{CF299F5C-80C8-4896-998B-64A25B11AA1A}" type="presParOf" srcId="{B04E8E8D-21F9-47B5-8D1B-BE7C3A6F0A66}" destId="{84557654-991C-4342-9186-4A6C760C1392}" srcOrd="3" destOrd="0" presId="urn:microsoft.com/office/officeart/2018/2/layout/IconVerticalSolidList"/>
    <dgm:cxn modelId="{5D6F44A2-6120-4F86-866E-8ED1FB0B4490}" type="presParOf" srcId="{AE09B095-B333-47B4-AE9F-446C388EDBB6}" destId="{2D3C5044-30D2-43B3-B389-0E3E849B130A}" srcOrd="1" destOrd="0" presId="urn:microsoft.com/office/officeart/2018/2/layout/IconVerticalSolidList"/>
    <dgm:cxn modelId="{D54D6B32-EFFD-48F1-8ABE-B8495A618B0F}" type="presParOf" srcId="{AE09B095-B333-47B4-AE9F-446C388EDBB6}" destId="{CD4FDA99-7B9E-475B-BB46-230A300A15EB}" srcOrd="2" destOrd="0" presId="urn:microsoft.com/office/officeart/2018/2/layout/IconVerticalSolidList"/>
    <dgm:cxn modelId="{FB584980-1101-4500-90E5-FA1861485B54}" type="presParOf" srcId="{CD4FDA99-7B9E-475B-BB46-230A300A15EB}" destId="{8DA2A7B8-E38E-4DB4-94ED-E7735CD0A37C}" srcOrd="0" destOrd="0" presId="urn:microsoft.com/office/officeart/2018/2/layout/IconVerticalSolidList"/>
    <dgm:cxn modelId="{11F049B2-C000-4559-A672-FBDE8479F507}" type="presParOf" srcId="{CD4FDA99-7B9E-475B-BB46-230A300A15EB}" destId="{48BA1BF7-5538-417A-8191-A0157A44328F}" srcOrd="1" destOrd="0" presId="urn:microsoft.com/office/officeart/2018/2/layout/IconVerticalSolidList"/>
    <dgm:cxn modelId="{7A3D0836-114A-4C2C-B6B8-CE7929338685}" type="presParOf" srcId="{CD4FDA99-7B9E-475B-BB46-230A300A15EB}" destId="{4460F030-E6E3-4FD3-805C-A405CE207FED}" srcOrd="2" destOrd="0" presId="urn:microsoft.com/office/officeart/2018/2/layout/IconVerticalSolidList"/>
    <dgm:cxn modelId="{728E8F90-5D7F-4640-BE55-427EC166083A}" type="presParOf" srcId="{CD4FDA99-7B9E-475B-BB46-230A300A15EB}" destId="{E2046321-FDCF-4B90-B8AF-C21BE8E8F6D8}" srcOrd="3" destOrd="0" presId="urn:microsoft.com/office/officeart/2018/2/layout/IconVerticalSolidList"/>
    <dgm:cxn modelId="{0146BAC9-2481-4563-8CFF-00981A7BDA8A}" type="presParOf" srcId="{AE09B095-B333-47B4-AE9F-446C388EDBB6}" destId="{77062E47-83E6-4EDA-9B74-BAA7FF1DED91}" srcOrd="3" destOrd="0" presId="urn:microsoft.com/office/officeart/2018/2/layout/IconVerticalSolidList"/>
    <dgm:cxn modelId="{E17D5787-B61C-4454-8AA5-05170374FBB9}" type="presParOf" srcId="{AE09B095-B333-47B4-AE9F-446C388EDBB6}" destId="{FBAA4EAD-8FC1-4BFF-A8B2-2253D9C6F6B3}" srcOrd="4" destOrd="0" presId="urn:microsoft.com/office/officeart/2018/2/layout/IconVerticalSolidList"/>
    <dgm:cxn modelId="{7F6BFCEB-F356-4159-98D1-DA48F6FFD2B9}" type="presParOf" srcId="{FBAA4EAD-8FC1-4BFF-A8B2-2253D9C6F6B3}" destId="{5510BEB7-F607-49F6-A538-EBFCD8EE52D3}" srcOrd="0" destOrd="0" presId="urn:microsoft.com/office/officeart/2018/2/layout/IconVerticalSolidList"/>
    <dgm:cxn modelId="{079485D9-3B79-4B1D-B30A-AADB12C55116}" type="presParOf" srcId="{FBAA4EAD-8FC1-4BFF-A8B2-2253D9C6F6B3}" destId="{A20B6DD2-9F29-4852-874C-B46B37572893}" srcOrd="1" destOrd="0" presId="urn:microsoft.com/office/officeart/2018/2/layout/IconVerticalSolidList"/>
    <dgm:cxn modelId="{2C4E3BED-9C03-4D0C-AC9F-BD23A418D1F3}" type="presParOf" srcId="{FBAA4EAD-8FC1-4BFF-A8B2-2253D9C6F6B3}" destId="{D39896E4-22C2-411E-BBDE-8D244FE4EFB1}" srcOrd="2" destOrd="0" presId="urn:microsoft.com/office/officeart/2018/2/layout/IconVerticalSolidList"/>
    <dgm:cxn modelId="{24655CCB-9D97-4599-BB55-65E82B812E09}" type="presParOf" srcId="{FBAA4EAD-8FC1-4BFF-A8B2-2253D9C6F6B3}" destId="{F7B78E3F-467F-4785-B3B9-61F0E0B503E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B9B5EE8-9587-4B8D-9ADD-653C7C9A4E1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CAC15C5-3154-49AD-B673-932B100194B0}">
      <dgm:prSet/>
      <dgm:spPr/>
      <dgm:t>
        <a:bodyPr/>
        <a:lstStyle/>
        <a:p>
          <a:r>
            <a:rPr lang="en-IN"/>
            <a:t>Automates REST API testing with minimal boilerplate</a:t>
          </a:r>
          <a:endParaRPr lang="en-US"/>
        </a:p>
      </dgm:t>
    </dgm:pt>
    <dgm:pt modelId="{DE5AF323-6620-453E-9378-ADDA3276F607}" type="parTrans" cxnId="{DBF8984C-989A-46B9-9288-BB530D66A592}">
      <dgm:prSet/>
      <dgm:spPr/>
      <dgm:t>
        <a:bodyPr/>
        <a:lstStyle/>
        <a:p>
          <a:endParaRPr lang="en-US"/>
        </a:p>
      </dgm:t>
    </dgm:pt>
    <dgm:pt modelId="{EFEDB997-25CD-4919-AB78-1BBEFCBA2817}" type="sibTrans" cxnId="{DBF8984C-989A-46B9-9288-BB530D66A592}">
      <dgm:prSet/>
      <dgm:spPr/>
      <dgm:t>
        <a:bodyPr/>
        <a:lstStyle/>
        <a:p>
          <a:endParaRPr lang="en-US"/>
        </a:p>
      </dgm:t>
    </dgm:pt>
    <dgm:pt modelId="{9FDE8745-DF2B-47F2-9B87-15EBCAD5A3EF}">
      <dgm:prSet/>
      <dgm:spPr/>
      <dgm:t>
        <a:bodyPr/>
        <a:lstStyle/>
        <a:p>
          <a:r>
            <a:rPr lang="en-IN"/>
            <a:t>Supports authentication (Basic, OAuth, etc.)</a:t>
          </a:r>
          <a:endParaRPr lang="en-US"/>
        </a:p>
      </dgm:t>
    </dgm:pt>
    <dgm:pt modelId="{C568ABEB-1574-453D-A5E6-DCC58E3EAB3A}" type="parTrans" cxnId="{290A3F05-768F-451C-8A4E-659250943F4A}">
      <dgm:prSet/>
      <dgm:spPr/>
      <dgm:t>
        <a:bodyPr/>
        <a:lstStyle/>
        <a:p>
          <a:endParaRPr lang="en-US"/>
        </a:p>
      </dgm:t>
    </dgm:pt>
    <dgm:pt modelId="{D0CAA055-8859-46FB-8D5A-4EBEE76DBF77}" type="sibTrans" cxnId="{290A3F05-768F-451C-8A4E-659250943F4A}">
      <dgm:prSet/>
      <dgm:spPr/>
      <dgm:t>
        <a:bodyPr/>
        <a:lstStyle/>
        <a:p>
          <a:endParaRPr lang="en-US"/>
        </a:p>
      </dgm:t>
    </dgm:pt>
    <dgm:pt modelId="{35571B55-C975-4D5E-A11B-3A5070BF709D}">
      <dgm:prSet/>
      <dgm:spPr/>
      <dgm:t>
        <a:bodyPr/>
        <a:lstStyle/>
        <a:p>
          <a:r>
            <a:rPr lang="en-IN"/>
            <a:t>Validates status codes, headers, and response bodies</a:t>
          </a:r>
          <a:endParaRPr lang="en-US"/>
        </a:p>
      </dgm:t>
    </dgm:pt>
    <dgm:pt modelId="{ABD09FD7-7651-47CB-8A47-3277264155EC}" type="parTrans" cxnId="{1614F115-3B61-4590-9436-7A71E5FC3DF9}">
      <dgm:prSet/>
      <dgm:spPr/>
      <dgm:t>
        <a:bodyPr/>
        <a:lstStyle/>
        <a:p>
          <a:endParaRPr lang="en-US"/>
        </a:p>
      </dgm:t>
    </dgm:pt>
    <dgm:pt modelId="{5F7771A2-A4D7-4F76-89D8-78FA7EE4E0C0}" type="sibTrans" cxnId="{1614F115-3B61-4590-9436-7A71E5FC3DF9}">
      <dgm:prSet/>
      <dgm:spPr/>
      <dgm:t>
        <a:bodyPr/>
        <a:lstStyle/>
        <a:p>
          <a:endParaRPr lang="en-US"/>
        </a:p>
      </dgm:t>
    </dgm:pt>
    <dgm:pt modelId="{35A49888-6553-40D4-8E66-4CB24E4E9B9B}">
      <dgm:prSet/>
      <dgm:spPr/>
      <dgm:t>
        <a:bodyPr/>
        <a:lstStyle/>
        <a:p>
          <a:r>
            <a:rPr lang="en-IN"/>
            <a:t>Easily integrates with CI/CD pipelines</a:t>
          </a:r>
          <a:endParaRPr lang="en-US"/>
        </a:p>
      </dgm:t>
    </dgm:pt>
    <dgm:pt modelId="{05B899EA-8022-43B6-8FA2-59C1A3D3997A}" type="parTrans" cxnId="{620ED447-9E05-4A5D-B50D-9C26CBEF03E9}">
      <dgm:prSet/>
      <dgm:spPr/>
      <dgm:t>
        <a:bodyPr/>
        <a:lstStyle/>
        <a:p>
          <a:endParaRPr lang="en-US"/>
        </a:p>
      </dgm:t>
    </dgm:pt>
    <dgm:pt modelId="{52104B74-D446-4588-A54C-BD2C1FF7A7A9}" type="sibTrans" cxnId="{620ED447-9E05-4A5D-B50D-9C26CBEF03E9}">
      <dgm:prSet/>
      <dgm:spPr/>
      <dgm:t>
        <a:bodyPr/>
        <a:lstStyle/>
        <a:p>
          <a:endParaRPr lang="en-US"/>
        </a:p>
      </dgm:t>
    </dgm:pt>
    <dgm:pt modelId="{EF636388-B28C-47CA-968F-A8B504F7FA8E}">
      <dgm:prSet/>
      <dgm:spPr/>
      <dgm:t>
        <a:bodyPr/>
        <a:lstStyle/>
        <a:p>
          <a:r>
            <a:rPr lang="en-IN"/>
            <a:t>Ideal for microservices and BDD-style testing</a:t>
          </a:r>
          <a:endParaRPr lang="en-US"/>
        </a:p>
      </dgm:t>
    </dgm:pt>
    <dgm:pt modelId="{EF818713-E8EE-4F8E-B1C7-2387DF6FCE5F}" type="parTrans" cxnId="{DD676333-6367-47BE-87C5-E7DC5D64ECE4}">
      <dgm:prSet/>
      <dgm:spPr/>
      <dgm:t>
        <a:bodyPr/>
        <a:lstStyle/>
        <a:p>
          <a:endParaRPr lang="en-US"/>
        </a:p>
      </dgm:t>
    </dgm:pt>
    <dgm:pt modelId="{56D0B28C-9149-409E-8AB0-C142149C1266}" type="sibTrans" cxnId="{DD676333-6367-47BE-87C5-E7DC5D64ECE4}">
      <dgm:prSet/>
      <dgm:spPr/>
      <dgm:t>
        <a:bodyPr/>
        <a:lstStyle/>
        <a:p>
          <a:endParaRPr lang="en-US"/>
        </a:p>
      </dgm:t>
    </dgm:pt>
    <dgm:pt modelId="{ED7E8072-B794-4186-B7BC-2030BCD8D0A3}" type="pres">
      <dgm:prSet presAssocID="{FB9B5EE8-9587-4B8D-9ADD-653C7C9A4E1C}" presName="root" presStyleCnt="0">
        <dgm:presLayoutVars>
          <dgm:dir/>
          <dgm:resizeHandles val="exact"/>
        </dgm:presLayoutVars>
      </dgm:prSet>
      <dgm:spPr/>
    </dgm:pt>
    <dgm:pt modelId="{7A6EA632-98E9-4E9C-BD82-197ABA4D343E}" type="pres">
      <dgm:prSet presAssocID="{1CAC15C5-3154-49AD-B673-932B100194B0}" presName="compNode" presStyleCnt="0"/>
      <dgm:spPr/>
    </dgm:pt>
    <dgm:pt modelId="{C49BE287-FE97-4223-A609-446A5D53AFD4}" type="pres">
      <dgm:prSet presAssocID="{1CAC15C5-3154-49AD-B673-932B100194B0}" presName="bgRect" presStyleLbl="bgShp" presStyleIdx="0" presStyleCnt="5"/>
      <dgm:spPr/>
    </dgm:pt>
    <dgm:pt modelId="{02E8EBD4-E4A4-4233-8A41-5FEB5BA5AF27}" type="pres">
      <dgm:prSet presAssocID="{1CAC15C5-3154-49AD-B673-932B100194B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8F0755CC-E646-4B3F-9DB5-ABF8C2A72BEF}" type="pres">
      <dgm:prSet presAssocID="{1CAC15C5-3154-49AD-B673-932B100194B0}" presName="spaceRect" presStyleCnt="0"/>
      <dgm:spPr/>
    </dgm:pt>
    <dgm:pt modelId="{FAA18A19-B03A-42B1-A6B9-2ABD2F6410AF}" type="pres">
      <dgm:prSet presAssocID="{1CAC15C5-3154-49AD-B673-932B100194B0}" presName="parTx" presStyleLbl="revTx" presStyleIdx="0" presStyleCnt="5">
        <dgm:presLayoutVars>
          <dgm:chMax val="0"/>
          <dgm:chPref val="0"/>
        </dgm:presLayoutVars>
      </dgm:prSet>
      <dgm:spPr/>
    </dgm:pt>
    <dgm:pt modelId="{A23E9DE2-8DDE-4C85-81EB-AD8F3B22DC8E}" type="pres">
      <dgm:prSet presAssocID="{EFEDB997-25CD-4919-AB78-1BBEFCBA2817}" presName="sibTrans" presStyleCnt="0"/>
      <dgm:spPr/>
    </dgm:pt>
    <dgm:pt modelId="{328A88D9-EF3E-45A3-9CDF-EA1616C05241}" type="pres">
      <dgm:prSet presAssocID="{9FDE8745-DF2B-47F2-9B87-15EBCAD5A3EF}" presName="compNode" presStyleCnt="0"/>
      <dgm:spPr/>
    </dgm:pt>
    <dgm:pt modelId="{0770CB72-5665-4F3D-B757-7562C2EC3857}" type="pres">
      <dgm:prSet presAssocID="{9FDE8745-DF2B-47F2-9B87-15EBCAD5A3EF}" presName="bgRect" presStyleLbl="bgShp" presStyleIdx="1" presStyleCnt="5"/>
      <dgm:spPr/>
    </dgm:pt>
    <dgm:pt modelId="{F869D035-A98B-4072-BDF5-1DC18174440B}" type="pres">
      <dgm:prSet presAssocID="{9FDE8745-DF2B-47F2-9B87-15EBCAD5A3EF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24847703-B9D1-420B-AF9A-934E362C8731}" type="pres">
      <dgm:prSet presAssocID="{9FDE8745-DF2B-47F2-9B87-15EBCAD5A3EF}" presName="spaceRect" presStyleCnt="0"/>
      <dgm:spPr/>
    </dgm:pt>
    <dgm:pt modelId="{75C55232-AC33-449E-8052-3DD28481828C}" type="pres">
      <dgm:prSet presAssocID="{9FDE8745-DF2B-47F2-9B87-15EBCAD5A3EF}" presName="parTx" presStyleLbl="revTx" presStyleIdx="1" presStyleCnt="5">
        <dgm:presLayoutVars>
          <dgm:chMax val="0"/>
          <dgm:chPref val="0"/>
        </dgm:presLayoutVars>
      </dgm:prSet>
      <dgm:spPr/>
    </dgm:pt>
    <dgm:pt modelId="{43547504-A83A-4797-BC4F-7B35D3DA4491}" type="pres">
      <dgm:prSet presAssocID="{D0CAA055-8859-46FB-8D5A-4EBEE76DBF77}" presName="sibTrans" presStyleCnt="0"/>
      <dgm:spPr/>
    </dgm:pt>
    <dgm:pt modelId="{FE762DEF-E193-4D56-951C-3309559229A6}" type="pres">
      <dgm:prSet presAssocID="{35571B55-C975-4D5E-A11B-3A5070BF709D}" presName="compNode" presStyleCnt="0"/>
      <dgm:spPr/>
    </dgm:pt>
    <dgm:pt modelId="{7E9266B0-D443-4B73-AD73-C0590F20C00D}" type="pres">
      <dgm:prSet presAssocID="{35571B55-C975-4D5E-A11B-3A5070BF709D}" presName="bgRect" presStyleLbl="bgShp" presStyleIdx="2" presStyleCnt="5"/>
      <dgm:spPr/>
    </dgm:pt>
    <dgm:pt modelId="{C24B1D0A-D2AC-40FD-943A-F375309FEEEE}" type="pres">
      <dgm:prSet presAssocID="{35571B55-C975-4D5E-A11B-3A5070BF709D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8C0CCAEE-EE03-4426-B73D-B482BA76D550}" type="pres">
      <dgm:prSet presAssocID="{35571B55-C975-4D5E-A11B-3A5070BF709D}" presName="spaceRect" presStyleCnt="0"/>
      <dgm:spPr/>
    </dgm:pt>
    <dgm:pt modelId="{C0851CDB-62AF-4758-AFB4-E18E3C804DA0}" type="pres">
      <dgm:prSet presAssocID="{35571B55-C975-4D5E-A11B-3A5070BF709D}" presName="parTx" presStyleLbl="revTx" presStyleIdx="2" presStyleCnt="5">
        <dgm:presLayoutVars>
          <dgm:chMax val="0"/>
          <dgm:chPref val="0"/>
        </dgm:presLayoutVars>
      </dgm:prSet>
      <dgm:spPr/>
    </dgm:pt>
    <dgm:pt modelId="{BA03C3D3-A30A-4E22-8E6F-C77A94569C6B}" type="pres">
      <dgm:prSet presAssocID="{5F7771A2-A4D7-4F76-89D8-78FA7EE4E0C0}" presName="sibTrans" presStyleCnt="0"/>
      <dgm:spPr/>
    </dgm:pt>
    <dgm:pt modelId="{328F581C-2A1A-4A79-8CAB-B76A7E7742E2}" type="pres">
      <dgm:prSet presAssocID="{35A49888-6553-40D4-8E66-4CB24E4E9B9B}" presName="compNode" presStyleCnt="0"/>
      <dgm:spPr/>
    </dgm:pt>
    <dgm:pt modelId="{A87D1B64-E78B-42C1-816A-B9D41559784B}" type="pres">
      <dgm:prSet presAssocID="{35A49888-6553-40D4-8E66-4CB24E4E9B9B}" presName="bgRect" presStyleLbl="bgShp" presStyleIdx="3" presStyleCnt="5"/>
      <dgm:spPr/>
    </dgm:pt>
    <dgm:pt modelId="{A441908A-E7ED-4552-8ECF-B86471626D0B}" type="pres">
      <dgm:prSet presAssocID="{35A49888-6553-40D4-8E66-4CB24E4E9B9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2D361FC-179D-4C09-A55C-4455443A6776}" type="pres">
      <dgm:prSet presAssocID="{35A49888-6553-40D4-8E66-4CB24E4E9B9B}" presName="spaceRect" presStyleCnt="0"/>
      <dgm:spPr/>
    </dgm:pt>
    <dgm:pt modelId="{2FB853B1-396C-45C8-8A33-10DBE1038826}" type="pres">
      <dgm:prSet presAssocID="{35A49888-6553-40D4-8E66-4CB24E4E9B9B}" presName="parTx" presStyleLbl="revTx" presStyleIdx="3" presStyleCnt="5">
        <dgm:presLayoutVars>
          <dgm:chMax val="0"/>
          <dgm:chPref val="0"/>
        </dgm:presLayoutVars>
      </dgm:prSet>
      <dgm:spPr/>
    </dgm:pt>
    <dgm:pt modelId="{C6A5ECBD-BC18-4273-89D4-4314EC4784AE}" type="pres">
      <dgm:prSet presAssocID="{52104B74-D446-4588-A54C-BD2C1FF7A7A9}" presName="sibTrans" presStyleCnt="0"/>
      <dgm:spPr/>
    </dgm:pt>
    <dgm:pt modelId="{5431E53A-2BFA-40AE-BA66-C52125FD8A54}" type="pres">
      <dgm:prSet presAssocID="{EF636388-B28C-47CA-968F-A8B504F7FA8E}" presName="compNode" presStyleCnt="0"/>
      <dgm:spPr/>
    </dgm:pt>
    <dgm:pt modelId="{8D0AB34B-F378-45E5-83B2-D8EFB6F8AAAF}" type="pres">
      <dgm:prSet presAssocID="{EF636388-B28C-47CA-968F-A8B504F7FA8E}" presName="bgRect" presStyleLbl="bgShp" presStyleIdx="4" presStyleCnt="5"/>
      <dgm:spPr/>
    </dgm:pt>
    <dgm:pt modelId="{1F5D3998-D52F-46DF-BF46-9C56B1A47176}" type="pres">
      <dgm:prSet presAssocID="{EF636388-B28C-47CA-968F-A8B504F7FA8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A7807DC7-3133-4ADA-8119-E5AE3815C0FB}" type="pres">
      <dgm:prSet presAssocID="{EF636388-B28C-47CA-968F-A8B504F7FA8E}" presName="spaceRect" presStyleCnt="0"/>
      <dgm:spPr/>
    </dgm:pt>
    <dgm:pt modelId="{C28D396B-5762-406C-9C32-2822083DF319}" type="pres">
      <dgm:prSet presAssocID="{EF636388-B28C-47CA-968F-A8B504F7FA8E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290A3F05-768F-451C-8A4E-659250943F4A}" srcId="{FB9B5EE8-9587-4B8D-9ADD-653C7C9A4E1C}" destId="{9FDE8745-DF2B-47F2-9B87-15EBCAD5A3EF}" srcOrd="1" destOrd="0" parTransId="{C568ABEB-1574-453D-A5E6-DCC58E3EAB3A}" sibTransId="{D0CAA055-8859-46FB-8D5A-4EBEE76DBF77}"/>
    <dgm:cxn modelId="{1614F115-3B61-4590-9436-7A71E5FC3DF9}" srcId="{FB9B5EE8-9587-4B8D-9ADD-653C7C9A4E1C}" destId="{35571B55-C975-4D5E-A11B-3A5070BF709D}" srcOrd="2" destOrd="0" parTransId="{ABD09FD7-7651-47CB-8A47-3277264155EC}" sibTransId="{5F7771A2-A4D7-4F76-89D8-78FA7EE4E0C0}"/>
    <dgm:cxn modelId="{DD676333-6367-47BE-87C5-E7DC5D64ECE4}" srcId="{FB9B5EE8-9587-4B8D-9ADD-653C7C9A4E1C}" destId="{EF636388-B28C-47CA-968F-A8B504F7FA8E}" srcOrd="4" destOrd="0" parTransId="{EF818713-E8EE-4F8E-B1C7-2387DF6FCE5F}" sibTransId="{56D0B28C-9149-409E-8AB0-C142149C1266}"/>
    <dgm:cxn modelId="{A8A89234-984F-4A18-A242-789A248EADC6}" type="presOf" srcId="{EF636388-B28C-47CA-968F-A8B504F7FA8E}" destId="{C28D396B-5762-406C-9C32-2822083DF319}" srcOrd="0" destOrd="0" presId="urn:microsoft.com/office/officeart/2018/2/layout/IconVerticalSolidList"/>
    <dgm:cxn modelId="{620ED447-9E05-4A5D-B50D-9C26CBEF03E9}" srcId="{FB9B5EE8-9587-4B8D-9ADD-653C7C9A4E1C}" destId="{35A49888-6553-40D4-8E66-4CB24E4E9B9B}" srcOrd="3" destOrd="0" parTransId="{05B899EA-8022-43B6-8FA2-59C1A3D3997A}" sibTransId="{52104B74-D446-4588-A54C-BD2C1FF7A7A9}"/>
    <dgm:cxn modelId="{8834B04B-50DB-425D-8C75-E4104481AF2B}" type="presOf" srcId="{35571B55-C975-4D5E-A11B-3A5070BF709D}" destId="{C0851CDB-62AF-4758-AFB4-E18E3C804DA0}" srcOrd="0" destOrd="0" presId="urn:microsoft.com/office/officeart/2018/2/layout/IconVerticalSolidList"/>
    <dgm:cxn modelId="{DBF8984C-989A-46B9-9288-BB530D66A592}" srcId="{FB9B5EE8-9587-4B8D-9ADD-653C7C9A4E1C}" destId="{1CAC15C5-3154-49AD-B673-932B100194B0}" srcOrd="0" destOrd="0" parTransId="{DE5AF323-6620-453E-9378-ADDA3276F607}" sibTransId="{EFEDB997-25CD-4919-AB78-1BBEFCBA2817}"/>
    <dgm:cxn modelId="{10369183-DDA2-49B1-8A4A-B4EE56A84C18}" type="presOf" srcId="{FB9B5EE8-9587-4B8D-9ADD-653C7C9A4E1C}" destId="{ED7E8072-B794-4186-B7BC-2030BCD8D0A3}" srcOrd="0" destOrd="0" presId="urn:microsoft.com/office/officeart/2018/2/layout/IconVerticalSolidList"/>
    <dgm:cxn modelId="{0D7A5094-4D6E-485A-8891-62B2E9988399}" type="presOf" srcId="{35A49888-6553-40D4-8E66-4CB24E4E9B9B}" destId="{2FB853B1-396C-45C8-8A33-10DBE1038826}" srcOrd="0" destOrd="0" presId="urn:microsoft.com/office/officeart/2018/2/layout/IconVerticalSolidList"/>
    <dgm:cxn modelId="{463D81DE-B6A4-4192-92F1-A706137AF421}" type="presOf" srcId="{9FDE8745-DF2B-47F2-9B87-15EBCAD5A3EF}" destId="{75C55232-AC33-449E-8052-3DD28481828C}" srcOrd="0" destOrd="0" presId="urn:microsoft.com/office/officeart/2018/2/layout/IconVerticalSolidList"/>
    <dgm:cxn modelId="{3E3C29F5-A263-4DA7-A671-640A70CCC0A0}" type="presOf" srcId="{1CAC15C5-3154-49AD-B673-932B100194B0}" destId="{FAA18A19-B03A-42B1-A6B9-2ABD2F6410AF}" srcOrd="0" destOrd="0" presId="urn:microsoft.com/office/officeart/2018/2/layout/IconVerticalSolidList"/>
    <dgm:cxn modelId="{ECC2FFF0-7B78-4664-81C3-E3F496E9F7B3}" type="presParOf" srcId="{ED7E8072-B794-4186-B7BC-2030BCD8D0A3}" destId="{7A6EA632-98E9-4E9C-BD82-197ABA4D343E}" srcOrd="0" destOrd="0" presId="urn:microsoft.com/office/officeart/2018/2/layout/IconVerticalSolidList"/>
    <dgm:cxn modelId="{0EFBEC00-3A77-436B-B3A4-FF940BD39C50}" type="presParOf" srcId="{7A6EA632-98E9-4E9C-BD82-197ABA4D343E}" destId="{C49BE287-FE97-4223-A609-446A5D53AFD4}" srcOrd="0" destOrd="0" presId="urn:microsoft.com/office/officeart/2018/2/layout/IconVerticalSolidList"/>
    <dgm:cxn modelId="{6CB2422E-FF03-4554-8821-E67B4669260B}" type="presParOf" srcId="{7A6EA632-98E9-4E9C-BD82-197ABA4D343E}" destId="{02E8EBD4-E4A4-4233-8A41-5FEB5BA5AF27}" srcOrd="1" destOrd="0" presId="urn:microsoft.com/office/officeart/2018/2/layout/IconVerticalSolidList"/>
    <dgm:cxn modelId="{25DFCB47-3224-4086-BC2E-280800161D79}" type="presParOf" srcId="{7A6EA632-98E9-4E9C-BD82-197ABA4D343E}" destId="{8F0755CC-E646-4B3F-9DB5-ABF8C2A72BEF}" srcOrd="2" destOrd="0" presId="urn:microsoft.com/office/officeart/2018/2/layout/IconVerticalSolidList"/>
    <dgm:cxn modelId="{DD3F7F6D-CBE1-4B3A-8071-F98F4CB8BEA6}" type="presParOf" srcId="{7A6EA632-98E9-4E9C-BD82-197ABA4D343E}" destId="{FAA18A19-B03A-42B1-A6B9-2ABD2F6410AF}" srcOrd="3" destOrd="0" presId="urn:microsoft.com/office/officeart/2018/2/layout/IconVerticalSolidList"/>
    <dgm:cxn modelId="{C803B72D-0422-4338-84D3-588833BF1337}" type="presParOf" srcId="{ED7E8072-B794-4186-B7BC-2030BCD8D0A3}" destId="{A23E9DE2-8DDE-4C85-81EB-AD8F3B22DC8E}" srcOrd="1" destOrd="0" presId="urn:microsoft.com/office/officeart/2018/2/layout/IconVerticalSolidList"/>
    <dgm:cxn modelId="{0460B6B5-68F4-4E47-8BC1-73F82961CA79}" type="presParOf" srcId="{ED7E8072-B794-4186-B7BC-2030BCD8D0A3}" destId="{328A88D9-EF3E-45A3-9CDF-EA1616C05241}" srcOrd="2" destOrd="0" presId="urn:microsoft.com/office/officeart/2018/2/layout/IconVerticalSolidList"/>
    <dgm:cxn modelId="{A4ABFC22-BE66-4FEC-AEE6-D03A539F58B8}" type="presParOf" srcId="{328A88D9-EF3E-45A3-9CDF-EA1616C05241}" destId="{0770CB72-5665-4F3D-B757-7562C2EC3857}" srcOrd="0" destOrd="0" presId="urn:microsoft.com/office/officeart/2018/2/layout/IconVerticalSolidList"/>
    <dgm:cxn modelId="{E8C22121-879A-4C24-ACD1-91AE5B01550F}" type="presParOf" srcId="{328A88D9-EF3E-45A3-9CDF-EA1616C05241}" destId="{F869D035-A98B-4072-BDF5-1DC18174440B}" srcOrd="1" destOrd="0" presId="urn:microsoft.com/office/officeart/2018/2/layout/IconVerticalSolidList"/>
    <dgm:cxn modelId="{DFDE1A1E-0944-45EF-96E7-1B27C74258DF}" type="presParOf" srcId="{328A88D9-EF3E-45A3-9CDF-EA1616C05241}" destId="{24847703-B9D1-420B-AF9A-934E362C8731}" srcOrd="2" destOrd="0" presId="urn:microsoft.com/office/officeart/2018/2/layout/IconVerticalSolidList"/>
    <dgm:cxn modelId="{6753A24C-F945-40DC-B09A-819263AF1E7B}" type="presParOf" srcId="{328A88D9-EF3E-45A3-9CDF-EA1616C05241}" destId="{75C55232-AC33-449E-8052-3DD28481828C}" srcOrd="3" destOrd="0" presId="urn:microsoft.com/office/officeart/2018/2/layout/IconVerticalSolidList"/>
    <dgm:cxn modelId="{D4E9B793-67BA-4062-B408-5999DE1BDFDA}" type="presParOf" srcId="{ED7E8072-B794-4186-B7BC-2030BCD8D0A3}" destId="{43547504-A83A-4797-BC4F-7B35D3DA4491}" srcOrd="3" destOrd="0" presId="urn:microsoft.com/office/officeart/2018/2/layout/IconVerticalSolidList"/>
    <dgm:cxn modelId="{FF6F1D50-07C6-4CB6-913F-D830234B16BA}" type="presParOf" srcId="{ED7E8072-B794-4186-B7BC-2030BCD8D0A3}" destId="{FE762DEF-E193-4D56-951C-3309559229A6}" srcOrd="4" destOrd="0" presId="urn:microsoft.com/office/officeart/2018/2/layout/IconVerticalSolidList"/>
    <dgm:cxn modelId="{EA8C8DDD-A61B-428A-88A5-8DF61D0D01A8}" type="presParOf" srcId="{FE762DEF-E193-4D56-951C-3309559229A6}" destId="{7E9266B0-D443-4B73-AD73-C0590F20C00D}" srcOrd="0" destOrd="0" presId="urn:microsoft.com/office/officeart/2018/2/layout/IconVerticalSolidList"/>
    <dgm:cxn modelId="{C85D7180-5489-485B-A9C3-66D8CF13EA45}" type="presParOf" srcId="{FE762DEF-E193-4D56-951C-3309559229A6}" destId="{C24B1D0A-D2AC-40FD-943A-F375309FEEEE}" srcOrd="1" destOrd="0" presId="urn:microsoft.com/office/officeart/2018/2/layout/IconVerticalSolidList"/>
    <dgm:cxn modelId="{4DA2D7B0-2730-4419-AA00-8790D7F3E575}" type="presParOf" srcId="{FE762DEF-E193-4D56-951C-3309559229A6}" destId="{8C0CCAEE-EE03-4426-B73D-B482BA76D550}" srcOrd="2" destOrd="0" presId="urn:microsoft.com/office/officeart/2018/2/layout/IconVerticalSolidList"/>
    <dgm:cxn modelId="{4C3D138C-31BC-403E-ADAA-4EF5D1271559}" type="presParOf" srcId="{FE762DEF-E193-4D56-951C-3309559229A6}" destId="{C0851CDB-62AF-4758-AFB4-E18E3C804DA0}" srcOrd="3" destOrd="0" presId="urn:microsoft.com/office/officeart/2018/2/layout/IconVerticalSolidList"/>
    <dgm:cxn modelId="{A43C0013-52EB-4BFA-96EC-57260F366889}" type="presParOf" srcId="{ED7E8072-B794-4186-B7BC-2030BCD8D0A3}" destId="{BA03C3D3-A30A-4E22-8E6F-C77A94569C6B}" srcOrd="5" destOrd="0" presId="urn:microsoft.com/office/officeart/2018/2/layout/IconVerticalSolidList"/>
    <dgm:cxn modelId="{D06BBE7E-CA63-4A59-878B-B768D1E779DC}" type="presParOf" srcId="{ED7E8072-B794-4186-B7BC-2030BCD8D0A3}" destId="{328F581C-2A1A-4A79-8CAB-B76A7E7742E2}" srcOrd="6" destOrd="0" presId="urn:microsoft.com/office/officeart/2018/2/layout/IconVerticalSolidList"/>
    <dgm:cxn modelId="{E5967BF7-3862-4AE5-9E23-CA6B402FA88A}" type="presParOf" srcId="{328F581C-2A1A-4A79-8CAB-B76A7E7742E2}" destId="{A87D1B64-E78B-42C1-816A-B9D41559784B}" srcOrd="0" destOrd="0" presId="urn:microsoft.com/office/officeart/2018/2/layout/IconVerticalSolidList"/>
    <dgm:cxn modelId="{80AAFDF4-16E4-4B32-9D83-5D180312243A}" type="presParOf" srcId="{328F581C-2A1A-4A79-8CAB-B76A7E7742E2}" destId="{A441908A-E7ED-4552-8ECF-B86471626D0B}" srcOrd="1" destOrd="0" presId="urn:microsoft.com/office/officeart/2018/2/layout/IconVerticalSolidList"/>
    <dgm:cxn modelId="{4403173E-B5D4-4891-9D7D-19D48F09FCA7}" type="presParOf" srcId="{328F581C-2A1A-4A79-8CAB-B76A7E7742E2}" destId="{A2D361FC-179D-4C09-A55C-4455443A6776}" srcOrd="2" destOrd="0" presId="urn:microsoft.com/office/officeart/2018/2/layout/IconVerticalSolidList"/>
    <dgm:cxn modelId="{32ED4614-7C5F-4210-B190-DF94B52B39B5}" type="presParOf" srcId="{328F581C-2A1A-4A79-8CAB-B76A7E7742E2}" destId="{2FB853B1-396C-45C8-8A33-10DBE1038826}" srcOrd="3" destOrd="0" presId="urn:microsoft.com/office/officeart/2018/2/layout/IconVerticalSolidList"/>
    <dgm:cxn modelId="{0B763885-D34E-4DD9-9514-A012A91DC6C6}" type="presParOf" srcId="{ED7E8072-B794-4186-B7BC-2030BCD8D0A3}" destId="{C6A5ECBD-BC18-4273-89D4-4314EC4784AE}" srcOrd="7" destOrd="0" presId="urn:microsoft.com/office/officeart/2018/2/layout/IconVerticalSolidList"/>
    <dgm:cxn modelId="{A5EEF762-FFDA-4B77-A19F-D84A934ECFE1}" type="presParOf" srcId="{ED7E8072-B794-4186-B7BC-2030BCD8D0A3}" destId="{5431E53A-2BFA-40AE-BA66-C52125FD8A54}" srcOrd="8" destOrd="0" presId="urn:microsoft.com/office/officeart/2018/2/layout/IconVerticalSolidList"/>
    <dgm:cxn modelId="{B462EE8D-D201-4A8C-870E-78FF1FEF71CA}" type="presParOf" srcId="{5431E53A-2BFA-40AE-BA66-C52125FD8A54}" destId="{8D0AB34B-F378-45E5-83B2-D8EFB6F8AAAF}" srcOrd="0" destOrd="0" presId="urn:microsoft.com/office/officeart/2018/2/layout/IconVerticalSolidList"/>
    <dgm:cxn modelId="{341B9F71-EF14-4306-9113-A48649E97188}" type="presParOf" srcId="{5431E53A-2BFA-40AE-BA66-C52125FD8A54}" destId="{1F5D3998-D52F-46DF-BF46-9C56B1A47176}" srcOrd="1" destOrd="0" presId="urn:microsoft.com/office/officeart/2018/2/layout/IconVerticalSolidList"/>
    <dgm:cxn modelId="{8197E269-DB6D-4719-9C11-AD23BB5C354E}" type="presParOf" srcId="{5431E53A-2BFA-40AE-BA66-C52125FD8A54}" destId="{A7807DC7-3133-4ADA-8119-E5AE3815C0FB}" srcOrd="2" destOrd="0" presId="urn:microsoft.com/office/officeart/2018/2/layout/IconVerticalSolidList"/>
    <dgm:cxn modelId="{4A473CB8-993A-4F4A-A4F9-9273D44007E1}" type="presParOf" srcId="{5431E53A-2BFA-40AE-BA66-C52125FD8A54}" destId="{C28D396B-5762-406C-9C32-2822083DF31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2FD559C-78B9-4760-9674-97654249686E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DECD6EE-B059-496E-BD49-200F909B2FC7}">
      <dgm:prSet/>
      <dgm:spPr/>
      <dgm:t>
        <a:bodyPr/>
        <a:lstStyle/>
        <a:p>
          <a:r>
            <a:rPr lang="en-GB"/>
            <a:t>Built on top of </a:t>
          </a:r>
          <a:r>
            <a:rPr lang="en-GB" b="1"/>
            <a:t>HTTP Client libraries</a:t>
          </a:r>
          <a:endParaRPr lang="en-US"/>
        </a:p>
      </dgm:t>
    </dgm:pt>
    <dgm:pt modelId="{BEFC77B9-E1AB-4715-BEA8-4B7277268975}" type="parTrans" cxnId="{F2F5B02A-5E64-4832-851B-662EF4738DF1}">
      <dgm:prSet/>
      <dgm:spPr/>
      <dgm:t>
        <a:bodyPr/>
        <a:lstStyle/>
        <a:p>
          <a:endParaRPr lang="en-US"/>
        </a:p>
      </dgm:t>
    </dgm:pt>
    <dgm:pt modelId="{1EDB9086-3A87-46A6-95AB-6F33E7358519}" type="sibTrans" cxnId="{F2F5B02A-5E64-4832-851B-662EF4738DF1}">
      <dgm:prSet/>
      <dgm:spPr/>
      <dgm:t>
        <a:bodyPr/>
        <a:lstStyle/>
        <a:p>
          <a:endParaRPr lang="en-US"/>
        </a:p>
      </dgm:t>
    </dgm:pt>
    <dgm:pt modelId="{1836E2EC-12FD-4942-B9FE-CB972560F769}">
      <dgm:prSet/>
      <dgm:spPr/>
      <dgm:t>
        <a:bodyPr/>
        <a:lstStyle/>
        <a:p>
          <a:r>
            <a:rPr lang="en-GB"/>
            <a:t>Uses </a:t>
          </a:r>
          <a:r>
            <a:rPr lang="en-GB" b="1"/>
            <a:t>Fluent API</a:t>
          </a:r>
          <a:r>
            <a:rPr lang="en-GB"/>
            <a:t> for chaining requests and assertions</a:t>
          </a:r>
          <a:endParaRPr lang="en-US"/>
        </a:p>
      </dgm:t>
    </dgm:pt>
    <dgm:pt modelId="{55EEC7C5-8E20-4F7D-B614-8A69073A990A}" type="parTrans" cxnId="{3CEF54AF-4E7C-4CB5-9FC0-76E0125771C5}">
      <dgm:prSet/>
      <dgm:spPr/>
      <dgm:t>
        <a:bodyPr/>
        <a:lstStyle/>
        <a:p>
          <a:endParaRPr lang="en-US"/>
        </a:p>
      </dgm:t>
    </dgm:pt>
    <dgm:pt modelId="{41667EB9-C02C-4DF1-A12E-2ABEAC407C0A}" type="sibTrans" cxnId="{3CEF54AF-4E7C-4CB5-9FC0-76E0125771C5}">
      <dgm:prSet/>
      <dgm:spPr/>
      <dgm:t>
        <a:bodyPr/>
        <a:lstStyle/>
        <a:p>
          <a:endParaRPr lang="en-US"/>
        </a:p>
      </dgm:t>
    </dgm:pt>
    <dgm:pt modelId="{2431F5BD-2F17-415D-9D56-706AC57F6642}">
      <dgm:prSet/>
      <dgm:spPr/>
      <dgm:t>
        <a:bodyPr/>
        <a:lstStyle/>
        <a:p>
          <a:r>
            <a:rPr lang="en-GB"/>
            <a:t>Works with </a:t>
          </a:r>
          <a:r>
            <a:rPr lang="en-GB" b="1"/>
            <a:t>JSON</a:t>
          </a:r>
          <a:r>
            <a:rPr lang="en-GB"/>
            <a:t>, </a:t>
          </a:r>
          <a:r>
            <a:rPr lang="en-GB" b="1"/>
            <a:t>XML</a:t>
          </a:r>
          <a:r>
            <a:rPr lang="en-GB"/>
            <a:t>, and </a:t>
          </a:r>
          <a:r>
            <a:rPr lang="en-GB" b="1"/>
            <a:t>HTML</a:t>
          </a:r>
          <a:r>
            <a:rPr lang="en-GB"/>
            <a:t> responses</a:t>
          </a:r>
          <a:endParaRPr lang="en-US"/>
        </a:p>
      </dgm:t>
    </dgm:pt>
    <dgm:pt modelId="{27BD72E9-539C-4CEC-87EE-47C8EDC2A98B}" type="parTrans" cxnId="{E70FBBDA-6C6D-422B-A738-79088D9ADAF3}">
      <dgm:prSet/>
      <dgm:spPr/>
      <dgm:t>
        <a:bodyPr/>
        <a:lstStyle/>
        <a:p>
          <a:endParaRPr lang="en-US"/>
        </a:p>
      </dgm:t>
    </dgm:pt>
    <dgm:pt modelId="{69B67E02-2BFA-4FD5-BFC3-D791BDA43E9F}" type="sibTrans" cxnId="{E70FBBDA-6C6D-422B-A738-79088D9ADAF3}">
      <dgm:prSet/>
      <dgm:spPr/>
      <dgm:t>
        <a:bodyPr/>
        <a:lstStyle/>
        <a:p>
          <a:endParaRPr lang="en-US"/>
        </a:p>
      </dgm:t>
    </dgm:pt>
    <dgm:pt modelId="{B15636CB-E351-4414-B354-B22BC7890711}">
      <dgm:prSet/>
      <dgm:spPr/>
      <dgm:t>
        <a:bodyPr/>
        <a:lstStyle/>
        <a:p>
          <a:r>
            <a:rPr lang="en-GB"/>
            <a:t>Compatible with </a:t>
          </a:r>
          <a:r>
            <a:rPr lang="en-GB" b="1"/>
            <a:t>Hamcrest matchers</a:t>
          </a:r>
          <a:r>
            <a:rPr lang="en-GB"/>
            <a:t> for assertions</a:t>
          </a:r>
          <a:endParaRPr lang="en-US"/>
        </a:p>
      </dgm:t>
    </dgm:pt>
    <dgm:pt modelId="{B5778E25-3704-4BC3-B916-22AD488AF82D}" type="parTrans" cxnId="{4B42664E-9B60-4E2B-94D0-9D0D94080364}">
      <dgm:prSet/>
      <dgm:spPr/>
      <dgm:t>
        <a:bodyPr/>
        <a:lstStyle/>
        <a:p>
          <a:endParaRPr lang="en-US"/>
        </a:p>
      </dgm:t>
    </dgm:pt>
    <dgm:pt modelId="{0DF10CEB-5F54-4D00-AC3B-2F2DC372B2D1}" type="sibTrans" cxnId="{4B42664E-9B60-4E2B-94D0-9D0D94080364}">
      <dgm:prSet/>
      <dgm:spPr/>
      <dgm:t>
        <a:bodyPr/>
        <a:lstStyle/>
        <a:p>
          <a:endParaRPr lang="en-US"/>
        </a:p>
      </dgm:t>
    </dgm:pt>
    <dgm:pt modelId="{BAB296F2-E5FA-4A33-AF80-A7D5DB531567}" type="pres">
      <dgm:prSet presAssocID="{22FD559C-78B9-4760-9674-97654249686E}" presName="linear" presStyleCnt="0">
        <dgm:presLayoutVars>
          <dgm:animLvl val="lvl"/>
          <dgm:resizeHandles val="exact"/>
        </dgm:presLayoutVars>
      </dgm:prSet>
      <dgm:spPr/>
    </dgm:pt>
    <dgm:pt modelId="{3F2FD51A-C663-4B47-A9AF-862B8EA05F26}" type="pres">
      <dgm:prSet presAssocID="{3DECD6EE-B059-496E-BD49-200F909B2FC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4649B5B-9B87-40FF-B766-D39ECEB74C16}" type="pres">
      <dgm:prSet presAssocID="{1EDB9086-3A87-46A6-95AB-6F33E7358519}" presName="spacer" presStyleCnt="0"/>
      <dgm:spPr/>
    </dgm:pt>
    <dgm:pt modelId="{B4920E6E-F4F2-4090-B49C-A3FAF7298B08}" type="pres">
      <dgm:prSet presAssocID="{1836E2EC-12FD-4942-B9FE-CB972560F76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A239967-1C86-4AC4-9C19-2017065965CE}" type="pres">
      <dgm:prSet presAssocID="{41667EB9-C02C-4DF1-A12E-2ABEAC407C0A}" presName="spacer" presStyleCnt="0"/>
      <dgm:spPr/>
    </dgm:pt>
    <dgm:pt modelId="{1F3CE644-C62E-436F-A94D-49864966DDD3}" type="pres">
      <dgm:prSet presAssocID="{2431F5BD-2F17-415D-9D56-706AC57F664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35BE446-8941-4729-8F65-6CE38BE8FC38}" type="pres">
      <dgm:prSet presAssocID="{69B67E02-2BFA-4FD5-BFC3-D791BDA43E9F}" presName="spacer" presStyleCnt="0"/>
      <dgm:spPr/>
    </dgm:pt>
    <dgm:pt modelId="{2C1B8AE2-C16E-4D5F-8FFE-A5887C9E1B19}" type="pres">
      <dgm:prSet presAssocID="{B15636CB-E351-4414-B354-B22BC789071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8D94F06-2980-4268-81C7-4AA823C24386}" type="presOf" srcId="{3DECD6EE-B059-496E-BD49-200F909B2FC7}" destId="{3F2FD51A-C663-4B47-A9AF-862B8EA05F26}" srcOrd="0" destOrd="0" presId="urn:microsoft.com/office/officeart/2005/8/layout/vList2"/>
    <dgm:cxn modelId="{F2F5B02A-5E64-4832-851B-662EF4738DF1}" srcId="{22FD559C-78B9-4760-9674-97654249686E}" destId="{3DECD6EE-B059-496E-BD49-200F909B2FC7}" srcOrd="0" destOrd="0" parTransId="{BEFC77B9-E1AB-4715-BEA8-4B7277268975}" sibTransId="{1EDB9086-3A87-46A6-95AB-6F33E7358519}"/>
    <dgm:cxn modelId="{8A672E3B-1EEE-423E-AA1E-084970EB727F}" type="presOf" srcId="{B15636CB-E351-4414-B354-B22BC7890711}" destId="{2C1B8AE2-C16E-4D5F-8FFE-A5887C9E1B19}" srcOrd="0" destOrd="0" presId="urn:microsoft.com/office/officeart/2005/8/layout/vList2"/>
    <dgm:cxn modelId="{B1BB0F6C-724A-494B-A8B0-E2DC907BD021}" type="presOf" srcId="{2431F5BD-2F17-415D-9D56-706AC57F6642}" destId="{1F3CE644-C62E-436F-A94D-49864966DDD3}" srcOrd="0" destOrd="0" presId="urn:microsoft.com/office/officeart/2005/8/layout/vList2"/>
    <dgm:cxn modelId="{4B42664E-9B60-4E2B-94D0-9D0D94080364}" srcId="{22FD559C-78B9-4760-9674-97654249686E}" destId="{B15636CB-E351-4414-B354-B22BC7890711}" srcOrd="3" destOrd="0" parTransId="{B5778E25-3704-4BC3-B916-22AD488AF82D}" sibTransId="{0DF10CEB-5F54-4D00-AC3B-2F2DC372B2D1}"/>
    <dgm:cxn modelId="{3CEF54AF-4E7C-4CB5-9FC0-76E0125771C5}" srcId="{22FD559C-78B9-4760-9674-97654249686E}" destId="{1836E2EC-12FD-4942-B9FE-CB972560F769}" srcOrd="1" destOrd="0" parTransId="{55EEC7C5-8E20-4F7D-B614-8A69073A990A}" sibTransId="{41667EB9-C02C-4DF1-A12E-2ABEAC407C0A}"/>
    <dgm:cxn modelId="{3E178FC5-B151-4271-87BE-14F79F0FDA50}" type="presOf" srcId="{22FD559C-78B9-4760-9674-97654249686E}" destId="{BAB296F2-E5FA-4A33-AF80-A7D5DB531567}" srcOrd="0" destOrd="0" presId="urn:microsoft.com/office/officeart/2005/8/layout/vList2"/>
    <dgm:cxn modelId="{E70FBBDA-6C6D-422B-A738-79088D9ADAF3}" srcId="{22FD559C-78B9-4760-9674-97654249686E}" destId="{2431F5BD-2F17-415D-9D56-706AC57F6642}" srcOrd="2" destOrd="0" parTransId="{27BD72E9-539C-4CEC-87EE-47C8EDC2A98B}" sibTransId="{69B67E02-2BFA-4FD5-BFC3-D791BDA43E9F}"/>
    <dgm:cxn modelId="{FEA7D1FB-EDBB-4323-A1D7-756C60766A88}" type="presOf" srcId="{1836E2EC-12FD-4942-B9FE-CB972560F769}" destId="{B4920E6E-F4F2-4090-B49C-A3FAF7298B08}" srcOrd="0" destOrd="0" presId="urn:microsoft.com/office/officeart/2005/8/layout/vList2"/>
    <dgm:cxn modelId="{61DF02D1-8397-4F19-BE5E-6902C2DB6803}" type="presParOf" srcId="{BAB296F2-E5FA-4A33-AF80-A7D5DB531567}" destId="{3F2FD51A-C663-4B47-A9AF-862B8EA05F26}" srcOrd="0" destOrd="0" presId="urn:microsoft.com/office/officeart/2005/8/layout/vList2"/>
    <dgm:cxn modelId="{222C4FAC-91F6-4438-9E35-8805F6A6FEB7}" type="presParOf" srcId="{BAB296F2-E5FA-4A33-AF80-A7D5DB531567}" destId="{54649B5B-9B87-40FF-B766-D39ECEB74C16}" srcOrd="1" destOrd="0" presId="urn:microsoft.com/office/officeart/2005/8/layout/vList2"/>
    <dgm:cxn modelId="{110064F6-E9C7-4EC2-86C6-4EE58FEF84F4}" type="presParOf" srcId="{BAB296F2-E5FA-4A33-AF80-A7D5DB531567}" destId="{B4920E6E-F4F2-4090-B49C-A3FAF7298B08}" srcOrd="2" destOrd="0" presId="urn:microsoft.com/office/officeart/2005/8/layout/vList2"/>
    <dgm:cxn modelId="{EC43B0C5-3A5B-4479-8EEE-7FF70B5F9677}" type="presParOf" srcId="{BAB296F2-E5FA-4A33-AF80-A7D5DB531567}" destId="{9A239967-1C86-4AC4-9C19-2017065965CE}" srcOrd="3" destOrd="0" presId="urn:microsoft.com/office/officeart/2005/8/layout/vList2"/>
    <dgm:cxn modelId="{607D1FF9-E9EC-4FA1-AD52-19CA9A6BA0E9}" type="presParOf" srcId="{BAB296F2-E5FA-4A33-AF80-A7D5DB531567}" destId="{1F3CE644-C62E-436F-A94D-49864966DDD3}" srcOrd="4" destOrd="0" presId="urn:microsoft.com/office/officeart/2005/8/layout/vList2"/>
    <dgm:cxn modelId="{5B7150B2-ABCC-4494-A6B4-015881C6B395}" type="presParOf" srcId="{BAB296F2-E5FA-4A33-AF80-A7D5DB531567}" destId="{435BE446-8941-4729-8F65-6CE38BE8FC38}" srcOrd="5" destOrd="0" presId="urn:microsoft.com/office/officeart/2005/8/layout/vList2"/>
    <dgm:cxn modelId="{E8A048E6-408B-4793-ACE4-195E68B7007D}" type="presParOf" srcId="{BAB296F2-E5FA-4A33-AF80-A7D5DB531567}" destId="{2C1B8AE2-C16E-4D5F-8FFE-A5887C9E1B1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843D45F-6C7D-4BEF-BD2F-79A00ACC3F82}" type="doc">
      <dgm:prSet loTypeId="urn:microsoft.com/office/officeart/2005/8/layout/defaul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41DDE13-315D-4AAD-ACB1-FC0D395C4237}">
      <dgm:prSet custT="1"/>
      <dgm:spPr/>
      <dgm:t>
        <a:bodyPr/>
        <a:lstStyle/>
        <a:p>
          <a:r>
            <a:rPr lang="en-GB" sz="2400" dirty="0"/>
            <a:t>Once you've made a request using REST Assured, the response object gives you a rich set of tools to extract, validate, and log the response data. </a:t>
          </a:r>
          <a:endParaRPr lang="en-US" sz="2400" dirty="0"/>
        </a:p>
      </dgm:t>
    </dgm:pt>
    <dgm:pt modelId="{3B5CE2D9-D167-42F9-8DC9-632E374D7111}" type="parTrans" cxnId="{2ADCAC68-CB49-463B-8EE9-E4AD51C9A5F7}">
      <dgm:prSet/>
      <dgm:spPr/>
      <dgm:t>
        <a:bodyPr/>
        <a:lstStyle/>
        <a:p>
          <a:endParaRPr lang="en-US"/>
        </a:p>
      </dgm:t>
    </dgm:pt>
    <dgm:pt modelId="{E9A38030-4419-45A2-97EC-BACA179F8BB0}" type="sibTrans" cxnId="{2ADCAC68-CB49-463B-8EE9-E4AD51C9A5F7}">
      <dgm:prSet/>
      <dgm:spPr/>
      <dgm:t>
        <a:bodyPr/>
        <a:lstStyle/>
        <a:p>
          <a:endParaRPr lang="en-US"/>
        </a:p>
      </dgm:t>
    </dgm:pt>
    <dgm:pt modelId="{A5A49CDF-CDFD-45BF-82EC-E64708F5BCEA}">
      <dgm:prSet custT="1"/>
      <dgm:spPr/>
      <dgm:t>
        <a:bodyPr/>
        <a:lstStyle/>
        <a:p>
          <a:r>
            <a:rPr lang="en-GB" sz="2400"/>
            <a:t>Following are details on what you can do with a response in REST Assured:</a:t>
          </a:r>
          <a:endParaRPr lang="en-US" sz="2400"/>
        </a:p>
      </dgm:t>
    </dgm:pt>
    <dgm:pt modelId="{476F14CB-3C42-4096-B385-73541276778E}" type="parTrans" cxnId="{9B69E2B0-C63C-4B8E-B788-19498C28A904}">
      <dgm:prSet/>
      <dgm:spPr/>
      <dgm:t>
        <a:bodyPr/>
        <a:lstStyle/>
        <a:p>
          <a:endParaRPr lang="en-US"/>
        </a:p>
      </dgm:t>
    </dgm:pt>
    <dgm:pt modelId="{268BDF8A-93BA-4E66-8E39-906289238F67}" type="sibTrans" cxnId="{9B69E2B0-C63C-4B8E-B788-19498C28A904}">
      <dgm:prSet/>
      <dgm:spPr/>
      <dgm:t>
        <a:bodyPr/>
        <a:lstStyle/>
        <a:p>
          <a:endParaRPr lang="en-US"/>
        </a:p>
      </dgm:t>
    </dgm:pt>
    <dgm:pt modelId="{D69330B6-DBF6-4AB6-B4A2-CBABE4DF8C59}">
      <dgm:prSet custT="1"/>
      <dgm:spPr/>
      <dgm:t>
        <a:bodyPr/>
        <a:lstStyle/>
        <a:p>
          <a:r>
            <a:rPr lang="en-IN" sz="2400"/>
            <a:t>Status Code Validation</a:t>
          </a:r>
          <a:endParaRPr lang="en-US" sz="2400"/>
        </a:p>
      </dgm:t>
    </dgm:pt>
    <dgm:pt modelId="{C4669B35-C939-4451-86E1-6A6FEEFA4C9F}" type="parTrans" cxnId="{E1EC6BDC-38D2-469F-B90B-C4A63519E8D8}">
      <dgm:prSet/>
      <dgm:spPr/>
      <dgm:t>
        <a:bodyPr/>
        <a:lstStyle/>
        <a:p>
          <a:endParaRPr lang="en-US"/>
        </a:p>
      </dgm:t>
    </dgm:pt>
    <dgm:pt modelId="{CE8BCB1A-7AD3-4BD9-AB32-730C73B84396}" type="sibTrans" cxnId="{E1EC6BDC-38D2-469F-B90B-C4A63519E8D8}">
      <dgm:prSet/>
      <dgm:spPr/>
      <dgm:t>
        <a:bodyPr/>
        <a:lstStyle/>
        <a:p>
          <a:endParaRPr lang="en-US"/>
        </a:p>
      </dgm:t>
    </dgm:pt>
    <dgm:pt modelId="{E339B3E2-D835-4987-BE51-098EE2D16634}">
      <dgm:prSet custT="1"/>
      <dgm:spPr/>
      <dgm:t>
        <a:bodyPr/>
        <a:lstStyle/>
        <a:p>
          <a:r>
            <a:rPr lang="en-IN" sz="2400" dirty="0"/>
            <a:t>Headers</a:t>
          </a:r>
          <a:endParaRPr lang="en-US" sz="2400" dirty="0"/>
        </a:p>
      </dgm:t>
    </dgm:pt>
    <dgm:pt modelId="{84AABFD9-2D79-4DF5-959C-7A981A711986}" type="parTrans" cxnId="{0D73667F-58D1-42EC-8D27-E24078136A66}">
      <dgm:prSet/>
      <dgm:spPr/>
      <dgm:t>
        <a:bodyPr/>
        <a:lstStyle/>
        <a:p>
          <a:endParaRPr lang="en-US"/>
        </a:p>
      </dgm:t>
    </dgm:pt>
    <dgm:pt modelId="{525932CE-9EE5-43F8-8206-C46369829B01}" type="sibTrans" cxnId="{0D73667F-58D1-42EC-8D27-E24078136A66}">
      <dgm:prSet/>
      <dgm:spPr/>
      <dgm:t>
        <a:bodyPr/>
        <a:lstStyle/>
        <a:p>
          <a:endParaRPr lang="en-US"/>
        </a:p>
      </dgm:t>
    </dgm:pt>
    <dgm:pt modelId="{01DE2EDE-0020-435C-AAB9-D35CC66F9242}">
      <dgm:prSet custT="1"/>
      <dgm:spPr/>
      <dgm:t>
        <a:bodyPr/>
        <a:lstStyle/>
        <a:p>
          <a:r>
            <a:rPr lang="en-IN" sz="2400" dirty="0"/>
            <a:t>Cookies</a:t>
          </a:r>
          <a:endParaRPr lang="en-US" sz="2400" dirty="0"/>
        </a:p>
      </dgm:t>
    </dgm:pt>
    <dgm:pt modelId="{71A1E7E8-BBF0-46E5-96F6-CF84F08AC7AF}" type="parTrans" cxnId="{ECE83B70-1664-4AFC-AD3E-290099037281}">
      <dgm:prSet/>
      <dgm:spPr/>
      <dgm:t>
        <a:bodyPr/>
        <a:lstStyle/>
        <a:p>
          <a:endParaRPr lang="en-US"/>
        </a:p>
      </dgm:t>
    </dgm:pt>
    <dgm:pt modelId="{EFE74B93-96B6-4C9B-9668-3C464DE587D2}" type="sibTrans" cxnId="{ECE83B70-1664-4AFC-AD3E-290099037281}">
      <dgm:prSet/>
      <dgm:spPr/>
      <dgm:t>
        <a:bodyPr/>
        <a:lstStyle/>
        <a:p>
          <a:endParaRPr lang="en-US"/>
        </a:p>
      </dgm:t>
    </dgm:pt>
    <dgm:pt modelId="{CE6FE6BA-CB35-4259-944A-D59FB47C0306}">
      <dgm:prSet custT="1"/>
      <dgm:spPr/>
      <dgm:t>
        <a:bodyPr/>
        <a:lstStyle/>
        <a:p>
          <a:r>
            <a:rPr lang="en-IN" sz="2400"/>
            <a:t>Response Time</a:t>
          </a:r>
          <a:endParaRPr lang="en-US" sz="2400"/>
        </a:p>
      </dgm:t>
    </dgm:pt>
    <dgm:pt modelId="{2FA2E55C-EE9A-45DF-9C6D-08B1FC64E3F8}" type="parTrans" cxnId="{C4EEBC1F-636A-4AC9-B633-6F4DD5D92380}">
      <dgm:prSet/>
      <dgm:spPr/>
      <dgm:t>
        <a:bodyPr/>
        <a:lstStyle/>
        <a:p>
          <a:endParaRPr lang="en-US"/>
        </a:p>
      </dgm:t>
    </dgm:pt>
    <dgm:pt modelId="{462E33C7-22F4-454C-90B2-8FF7971908C6}" type="sibTrans" cxnId="{C4EEBC1F-636A-4AC9-B633-6F4DD5D92380}">
      <dgm:prSet/>
      <dgm:spPr/>
      <dgm:t>
        <a:bodyPr/>
        <a:lstStyle/>
        <a:p>
          <a:endParaRPr lang="en-US"/>
        </a:p>
      </dgm:t>
    </dgm:pt>
    <dgm:pt modelId="{751EBDC9-918F-47E1-8579-AAC16E2AB136}">
      <dgm:prSet custT="1"/>
      <dgm:spPr/>
      <dgm:t>
        <a:bodyPr/>
        <a:lstStyle/>
        <a:p>
          <a:r>
            <a:rPr lang="en-IN" sz="2400"/>
            <a:t>Body Content</a:t>
          </a:r>
          <a:endParaRPr lang="en-US" sz="2400"/>
        </a:p>
      </dgm:t>
    </dgm:pt>
    <dgm:pt modelId="{54569B6A-CEDF-45D2-AE74-F0249ACEE1D1}" type="parTrans" cxnId="{72C79F9C-9478-4638-802A-86236E45D746}">
      <dgm:prSet/>
      <dgm:spPr/>
      <dgm:t>
        <a:bodyPr/>
        <a:lstStyle/>
        <a:p>
          <a:endParaRPr lang="en-US"/>
        </a:p>
      </dgm:t>
    </dgm:pt>
    <dgm:pt modelId="{DDFFBB9C-3927-4223-846F-32A09F0B20E4}" type="sibTrans" cxnId="{72C79F9C-9478-4638-802A-86236E45D746}">
      <dgm:prSet/>
      <dgm:spPr/>
      <dgm:t>
        <a:bodyPr/>
        <a:lstStyle/>
        <a:p>
          <a:endParaRPr lang="en-US"/>
        </a:p>
      </dgm:t>
    </dgm:pt>
    <dgm:pt modelId="{178A704E-19C6-4672-846F-05394698B851}">
      <dgm:prSet custT="1"/>
      <dgm:spPr/>
      <dgm:t>
        <a:bodyPr/>
        <a:lstStyle/>
        <a:p>
          <a:r>
            <a:rPr lang="en-IN" sz="2400"/>
            <a:t>JSON Parsing</a:t>
          </a:r>
          <a:endParaRPr lang="en-US" sz="2400"/>
        </a:p>
      </dgm:t>
    </dgm:pt>
    <dgm:pt modelId="{AAC48979-C6C0-483D-86ED-CE2207C83CBE}" type="parTrans" cxnId="{263A41EA-CC55-4034-84F7-77E352C36245}">
      <dgm:prSet/>
      <dgm:spPr/>
      <dgm:t>
        <a:bodyPr/>
        <a:lstStyle/>
        <a:p>
          <a:endParaRPr lang="en-US"/>
        </a:p>
      </dgm:t>
    </dgm:pt>
    <dgm:pt modelId="{3FBAD443-8F81-4521-80FD-016B85C77D38}" type="sibTrans" cxnId="{263A41EA-CC55-4034-84F7-77E352C36245}">
      <dgm:prSet/>
      <dgm:spPr/>
      <dgm:t>
        <a:bodyPr/>
        <a:lstStyle/>
        <a:p>
          <a:endParaRPr lang="en-US"/>
        </a:p>
      </dgm:t>
    </dgm:pt>
    <dgm:pt modelId="{03D3A7BA-BF37-49A5-ADC8-3C6569F4CE48}">
      <dgm:prSet custT="1"/>
      <dgm:spPr/>
      <dgm:t>
        <a:bodyPr/>
        <a:lstStyle/>
        <a:p>
          <a:r>
            <a:rPr lang="en-IN" sz="2400"/>
            <a:t>XML Parsing</a:t>
          </a:r>
          <a:endParaRPr lang="en-US" sz="2400"/>
        </a:p>
      </dgm:t>
    </dgm:pt>
    <dgm:pt modelId="{57593FA4-A5E9-48AB-90F1-3F1BA015EACD}" type="parTrans" cxnId="{B36D258B-A389-4E27-83E6-03DC95606355}">
      <dgm:prSet/>
      <dgm:spPr/>
      <dgm:t>
        <a:bodyPr/>
        <a:lstStyle/>
        <a:p>
          <a:endParaRPr lang="en-US"/>
        </a:p>
      </dgm:t>
    </dgm:pt>
    <dgm:pt modelId="{E0E321AE-13C7-450C-B810-1F0A1195A125}" type="sibTrans" cxnId="{B36D258B-A389-4E27-83E6-03DC95606355}">
      <dgm:prSet/>
      <dgm:spPr/>
      <dgm:t>
        <a:bodyPr/>
        <a:lstStyle/>
        <a:p>
          <a:endParaRPr lang="en-US"/>
        </a:p>
      </dgm:t>
    </dgm:pt>
    <dgm:pt modelId="{23AF45EA-D940-43DF-AD8B-C12BFAA5CC0D}">
      <dgm:prSet custT="1"/>
      <dgm:spPr/>
      <dgm:t>
        <a:bodyPr/>
        <a:lstStyle/>
        <a:p>
          <a:r>
            <a:rPr lang="en-IN" sz="2400"/>
            <a:t>Assertions with Hamcrest Matchers</a:t>
          </a:r>
          <a:endParaRPr lang="en-US" sz="2400"/>
        </a:p>
      </dgm:t>
    </dgm:pt>
    <dgm:pt modelId="{FEAB46B4-F70C-46DE-B0B3-330D8F151B50}" type="parTrans" cxnId="{CF9DFF5F-1A18-41C3-B271-50D09053C64B}">
      <dgm:prSet/>
      <dgm:spPr/>
      <dgm:t>
        <a:bodyPr/>
        <a:lstStyle/>
        <a:p>
          <a:endParaRPr lang="en-US"/>
        </a:p>
      </dgm:t>
    </dgm:pt>
    <dgm:pt modelId="{A388B353-221D-44D6-9D98-EADF291F4E4B}" type="sibTrans" cxnId="{CF9DFF5F-1A18-41C3-B271-50D09053C64B}">
      <dgm:prSet/>
      <dgm:spPr/>
      <dgm:t>
        <a:bodyPr/>
        <a:lstStyle/>
        <a:p>
          <a:endParaRPr lang="en-US"/>
        </a:p>
      </dgm:t>
    </dgm:pt>
    <dgm:pt modelId="{BC33FB99-9454-4763-808C-F2C97845A6C3}">
      <dgm:prSet custT="1"/>
      <dgm:spPr/>
      <dgm:t>
        <a:bodyPr/>
        <a:lstStyle/>
        <a:p>
          <a:r>
            <a:rPr lang="en-IN" sz="2400"/>
            <a:t>Logging</a:t>
          </a:r>
          <a:endParaRPr lang="en-US" sz="2400"/>
        </a:p>
      </dgm:t>
    </dgm:pt>
    <dgm:pt modelId="{2A8F483D-4173-458B-9C23-4294520ACE2A}" type="parTrans" cxnId="{2C7EECFB-FD96-48B4-8F28-ACA0217B10D3}">
      <dgm:prSet/>
      <dgm:spPr/>
      <dgm:t>
        <a:bodyPr/>
        <a:lstStyle/>
        <a:p>
          <a:endParaRPr lang="en-US"/>
        </a:p>
      </dgm:t>
    </dgm:pt>
    <dgm:pt modelId="{C3FA0A22-CDC7-4287-8DFB-65BAD61A0382}" type="sibTrans" cxnId="{2C7EECFB-FD96-48B4-8F28-ACA0217B10D3}">
      <dgm:prSet/>
      <dgm:spPr/>
      <dgm:t>
        <a:bodyPr/>
        <a:lstStyle/>
        <a:p>
          <a:endParaRPr lang="en-US"/>
        </a:p>
      </dgm:t>
    </dgm:pt>
    <dgm:pt modelId="{91B5BE42-099E-47D9-AD14-E50BF43FAEF7}">
      <dgm:prSet custT="1"/>
      <dgm:spPr/>
      <dgm:t>
        <a:bodyPr/>
        <a:lstStyle/>
        <a:p>
          <a:r>
            <a:rPr lang="en-IN" sz="2400" dirty="0"/>
            <a:t>Extracting Values for Reuse</a:t>
          </a:r>
          <a:endParaRPr lang="en-US" sz="2400" dirty="0"/>
        </a:p>
      </dgm:t>
    </dgm:pt>
    <dgm:pt modelId="{E6287846-0B05-4BB4-9674-C0D02C05851A}" type="parTrans" cxnId="{FDAFE2E1-1A14-4C84-8365-2942D6B8FD01}">
      <dgm:prSet/>
      <dgm:spPr/>
      <dgm:t>
        <a:bodyPr/>
        <a:lstStyle/>
        <a:p>
          <a:endParaRPr lang="en-US"/>
        </a:p>
      </dgm:t>
    </dgm:pt>
    <dgm:pt modelId="{070387FE-4671-4F11-BDE9-8C0BF0B1A582}" type="sibTrans" cxnId="{FDAFE2E1-1A14-4C84-8365-2942D6B8FD01}">
      <dgm:prSet/>
      <dgm:spPr/>
      <dgm:t>
        <a:bodyPr/>
        <a:lstStyle/>
        <a:p>
          <a:endParaRPr lang="en-US"/>
        </a:p>
      </dgm:t>
    </dgm:pt>
    <dgm:pt modelId="{9137D62B-9E4A-4805-A047-97320D44A804}" type="pres">
      <dgm:prSet presAssocID="{9843D45F-6C7D-4BEF-BD2F-79A00ACC3F82}" presName="diagram" presStyleCnt="0">
        <dgm:presLayoutVars>
          <dgm:dir/>
          <dgm:resizeHandles val="exact"/>
        </dgm:presLayoutVars>
      </dgm:prSet>
      <dgm:spPr/>
    </dgm:pt>
    <dgm:pt modelId="{40428895-F0F3-4758-82D4-A85F6E37E8C9}" type="pres">
      <dgm:prSet presAssocID="{141DDE13-315D-4AAD-ACB1-FC0D395C4237}" presName="node" presStyleLbl="node1" presStyleIdx="0" presStyleCnt="2" custScaleX="117297" custScaleY="193004">
        <dgm:presLayoutVars>
          <dgm:bulletEnabled val="1"/>
        </dgm:presLayoutVars>
      </dgm:prSet>
      <dgm:spPr/>
    </dgm:pt>
    <dgm:pt modelId="{C89D2E86-FF29-4691-9BF0-841F1EAC1758}" type="pres">
      <dgm:prSet presAssocID="{E9A38030-4419-45A2-97EC-BACA179F8BB0}" presName="sibTrans" presStyleCnt="0"/>
      <dgm:spPr/>
    </dgm:pt>
    <dgm:pt modelId="{9E27C265-1113-411B-AE2E-2DF490749E3E}" type="pres">
      <dgm:prSet presAssocID="{A5A49CDF-CDFD-45BF-82EC-E64708F5BCEA}" presName="node" presStyleLbl="node1" presStyleIdx="1" presStyleCnt="2" custScaleX="123682" custScaleY="192216" custLinFactNeighborX="-7067" custLinFactNeighborY="1506">
        <dgm:presLayoutVars>
          <dgm:bulletEnabled val="1"/>
        </dgm:presLayoutVars>
      </dgm:prSet>
      <dgm:spPr/>
    </dgm:pt>
  </dgm:ptLst>
  <dgm:cxnLst>
    <dgm:cxn modelId="{D2D46B16-3929-4CDC-8E32-C16BE9061855}" type="presOf" srcId="{23AF45EA-D940-43DF-AD8B-C12BFAA5CC0D}" destId="{9E27C265-1113-411B-AE2E-2DF490749E3E}" srcOrd="0" destOrd="8" presId="urn:microsoft.com/office/officeart/2005/8/layout/default"/>
    <dgm:cxn modelId="{B5EEF716-CE14-415E-888D-CE5D98ECBBD0}" type="presOf" srcId="{141DDE13-315D-4AAD-ACB1-FC0D395C4237}" destId="{40428895-F0F3-4758-82D4-A85F6E37E8C9}" srcOrd="0" destOrd="0" presId="urn:microsoft.com/office/officeart/2005/8/layout/default"/>
    <dgm:cxn modelId="{3A0F111B-1A90-4694-ACE7-B250BCBAE80B}" type="presOf" srcId="{D69330B6-DBF6-4AB6-B4A2-CBABE4DF8C59}" destId="{9E27C265-1113-411B-AE2E-2DF490749E3E}" srcOrd="0" destOrd="1" presId="urn:microsoft.com/office/officeart/2005/8/layout/default"/>
    <dgm:cxn modelId="{C4EEBC1F-636A-4AC9-B633-6F4DD5D92380}" srcId="{A5A49CDF-CDFD-45BF-82EC-E64708F5BCEA}" destId="{CE6FE6BA-CB35-4259-944A-D59FB47C0306}" srcOrd="3" destOrd="0" parTransId="{2FA2E55C-EE9A-45DF-9C6D-08B1FC64E3F8}" sibTransId="{462E33C7-22F4-454C-90B2-8FF7971908C6}"/>
    <dgm:cxn modelId="{6C1CE426-CD87-4F76-9EAA-0FC9B4AFFE6A}" type="presOf" srcId="{9843D45F-6C7D-4BEF-BD2F-79A00ACC3F82}" destId="{9137D62B-9E4A-4805-A047-97320D44A804}" srcOrd="0" destOrd="0" presId="urn:microsoft.com/office/officeart/2005/8/layout/default"/>
    <dgm:cxn modelId="{CF9DFF5F-1A18-41C3-B271-50D09053C64B}" srcId="{A5A49CDF-CDFD-45BF-82EC-E64708F5BCEA}" destId="{23AF45EA-D940-43DF-AD8B-C12BFAA5CC0D}" srcOrd="7" destOrd="0" parTransId="{FEAB46B4-F70C-46DE-B0B3-330D8F151B50}" sibTransId="{A388B353-221D-44D6-9D98-EADF291F4E4B}"/>
    <dgm:cxn modelId="{5F02A241-161D-4B6B-A61B-C23B26F8172B}" type="presOf" srcId="{751EBDC9-918F-47E1-8579-AAC16E2AB136}" destId="{9E27C265-1113-411B-AE2E-2DF490749E3E}" srcOrd="0" destOrd="5" presId="urn:microsoft.com/office/officeart/2005/8/layout/default"/>
    <dgm:cxn modelId="{37725C64-3AA9-485D-AA01-1BE79FF054B1}" type="presOf" srcId="{CE6FE6BA-CB35-4259-944A-D59FB47C0306}" destId="{9E27C265-1113-411B-AE2E-2DF490749E3E}" srcOrd="0" destOrd="4" presId="urn:microsoft.com/office/officeart/2005/8/layout/default"/>
    <dgm:cxn modelId="{2ADCAC68-CB49-463B-8EE9-E4AD51C9A5F7}" srcId="{9843D45F-6C7D-4BEF-BD2F-79A00ACC3F82}" destId="{141DDE13-315D-4AAD-ACB1-FC0D395C4237}" srcOrd="0" destOrd="0" parTransId="{3B5CE2D9-D167-42F9-8DC9-632E374D7111}" sibTransId="{E9A38030-4419-45A2-97EC-BACA179F8BB0}"/>
    <dgm:cxn modelId="{ECE83B70-1664-4AFC-AD3E-290099037281}" srcId="{A5A49CDF-CDFD-45BF-82EC-E64708F5BCEA}" destId="{01DE2EDE-0020-435C-AAB9-D35CC66F9242}" srcOrd="2" destOrd="0" parTransId="{71A1E7E8-BBF0-46E5-96F6-CF84F08AC7AF}" sibTransId="{EFE74B93-96B6-4C9B-9668-3C464DE587D2}"/>
    <dgm:cxn modelId="{0D73667F-58D1-42EC-8D27-E24078136A66}" srcId="{A5A49CDF-CDFD-45BF-82EC-E64708F5BCEA}" destId="{E339B3E2-D835-4987-BE51-098EE2D16634}" srcOrd="1" destOrd="0" parTransId="{84AABFD9-2D79-4DF5-959C-7A981A711986}" sibTransId="{525932CE-9EE5-43F8-8206-C46369829B01}"/>
    <dgm:cxn modelId="{B36D258B-A389-4E27-83E6-03DC95606355}" srcId="{A5A49CDF-CDFD-45BF-82EC-E64708F5BCEA}" destId="{03D3A7BA-BF37-49A5-ADC8-3C6569F4CE48}" srcOrd="6" destOrd="0" parTransId="{57593FA4-A5E9-48AB-90F1-3F1BA015EACD}" sibTransId="{E0E321AE-13C7-450C-B810-1F0A1195A125}"/>
    <dgm:cxn modelId="{72C79F9C-9478-4638-802A-86236E45D746}" srcId="{A5A49CDF-CDFD-45BF-82EC-E64708F5BCEA}" destId="{751EBDC9-918F-47E1-8579-AAC16E2AB136}" srcOrd="4" destOrd="0" parTransId="{54569B6A-CEDF-45D2-AE74-F0249ACEE1D1}" sibTransId="{DDFFBB9C-3927-4223-846F-32A09F0B20E4}"/>
    <dgm:cxn modelId="{18657EA5-ECBB-414B-B040-6A4D14E2370D}" type="presOf" srcId="{03D3A7BA-BF37-49A5-ADC8-3C6569F4CE48}" destId="{9E27C265-1113-411B-AE2E-2DF490749E3E}" srcOrd="0" destOrd="7" presId="urn:microsoft.com/office/officeart/2005/8/layout/default"/>
    <dgm:cxn modelId="{E07BADA8-31DF-400E-936F-C8725E9A1E78}" type="presOf" srcId="{01DE2EDE-0020-435C-AAB9-D35CC66F9242}" destId="{9E27C265-1113-411B-AE2E-2DF490749E3E}" srcOrd="0" destOrd="3" presId="urn:microsoft.com/office/officeart/2005/8/layout/default"/>
    <dgm:cxn modelId="{9B69E2B0-C63C-4B8E-B788-19498C28A904}" srcId="{9843D45F-6C7D-4BEF-BD2F-79A00ACC3F82}" destId="{A5A49CDF-CDFD-45BF-82EC-E64708F5BCEA}" srcOrd="1" destOrd="0" parTransId="{476F14CB-3C42-4096-B385-73541276778E}" sibTransId="{268BDF8A-93BA-4E66-8E39-906289238F67}"/>
    <dgm:cxn modelId="{467F2DC3-09D6-42CB-BDCA-01BBE866D2FE}" type="presOf" srcId="{A5A49CDF-CDFD-45BF-82EC-E64708F5BCEA}" destId="{9E27C265-1113-411B-AE2E-2DF490749E3E}" srcOrd="0" destOrd="0" presId="urn:microsoft.com/office/officeart/2005/8/layout/default"/>
    <dgm:cxn modelId="{8C5498D5-D964-4D3E-ADBC-DB1327D3FBE4}" type="presOf" srcId="{BC33FB99-9454-4763-808C-F2C97845A6C3}" destId="{9E27C265-1113-411B-AE2E-2DF490749E3E}" srcOrd="0" destOrd="9" presId="urn:microsoft.com/office/officeart/2005/8/layout/default"/>
    <dgm:cxn modelId="{E1EC6BDC-38D2-469F-B90B-C4A63519E8D8}" srcId="{A5A49CDF-CDFD-45BF-82EC-E64708F5BCEA}" destId="{D69330B6-DBF6-4AB6-B4A2-CBABE4DF8C59}" srcOrd="0" destOrd="0" parTransId="{C4669B35-C939-4451-86E1-6A6FEEFA4C9F}" sibTransId="{CE8BCB1A-7AD3-4BD9-AB32-730C73B84396}"/>
    <dgm:cxn modelId="{FDAFE2E1-1A14-4C84-8365-2942D6B8FD01}" srcId="{A5A49CDF-CDFD-45BF-82EC-E64708F5BCEA}" destId="{91B5BE42-099E-47D9-AD14-E50BF43FAEF7}" srcOrd="9" destOrd="0" parTransId="{E6287846-0B05-4BB4-9674-C0D02C05851A}" sibTransId="{070387FE-4671-4F11-BDE9-8C0BF0B1A582}"/>
    <dgm:cxn modelId="{263A41EA-CC55-4034-84F7-77E352C36245}" srcId="{A5A49CDF-CDFD-45BF-82EC-E64708F5BCEA}" destId="{178A704E-19C6-4672-846F-05394698B851}" srcOrd="5" destOrd="0" parTransId="{AAC48979-C6C0-483D-86ED-CE2207C83CBE}" sibTransId="{3FBAD443-8F81-4521-80FD-016B85C77D38}"/>
    <dgm:cxn modelId="{D6CD9FEE-28B4-40AE-B6E8-99245E6AB69B}" type="presOf" srcId="{E339B3E2-D835-4987-BE51-098EE2D16634}" destId="{9E27C265-1113-411B-AE2E-2DF490749E3E}" srcOrd="0" destOrd="2" presId="urn:microsoft.com/office/officeart/2005/8/layout/default"/>
    <dgm:cxn modelId="{596764FA-8EFD-411B-A096-CFB167AFB1BF}" type="presOf" srcId="{91B5BE42-099E-47D9-AD14-E50BF43FAEF7}" destId="{9E27C265-1113-411B-AE2E-2DF490749E3E}" srcOrd="0" destOrd="10" presId="urn:microsoft.com/office/officeart/2005/8/layout/default"/>
    <dgm:cxn modelId="{A7A619FB-3A21-44C9-AD90-87E5A3290FD8}" type="presOf" srcId="{178A704E-19C6-4672-846F-05394698B851}" destId="{9E27C265-1113-411B-AE2E-2DF490749E3E}" srcOrd="0" destOrd="6" presId="urn:microsoft.com/office/officeart/2005/8/layout/default"/>
    <dgm:cxn modelId="{2C7EECFB-FD96-48B4-8F28-ACA0217B10D3}" srcId="{A5A49CDF-CDFD-45BF-82EC-E64708F5BCEA}" destId="{BC33FB99-9454-4763-808C-F2C97845A6C3}" srcOrd="8" destOrd="0" parTransId="{2A8F483D-4173-458B-9C23-4294520ACE2A}" sibTransId="{C3FA0A22-CDC7-4287-8DFB-65BAD61A0382}"/>
    <dgm:cxn modelId="{ABB75DCC-A5EB-487D-A17B-88B1AC9880BA}" type="presParOf" srcId="{9137D62B-9E4A-4805-A047-97320D44A804}" destId="{40428895-F0F3-4758-82D4-A85F6E37E8C9}" srcOrd="0" destOrd="0" presId="urn:microsoft.com/office/officeart/2005/8/layout/default"/>
    <dgm:cxn modelId="{01F1DCEF-8370-4775-AFB4-4CF4A0E82541}" type="presParOf" srcId="{9137D62B-9E4A-4805-A047-97320D44A804}" destId="{C89D2E86-FF29-4691-9BF0-841F1EAC1758}" srcOrd="1" destOrd="0" presId="urn:microsoft.com/office/officeart/2005/8/layout/default"/>
    <dgm:cxn modelId="{E90A23A1-EA64-4C49-95F7-B9F89BD60AEA}" type="presParOf" srcId="{9137D62B-9E4A-4805-A047-97320D44A804}" destId="{9E27C265-1113-411B-AE2E-2DF490749E3E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DC8D56-36E3-4DD6-B9BB-70EB3B88B9AC}">
      <dsp:nvSpPr>
        <dsp:cNvPr id="0" name=""/>
        <dsp:cNvSpPr/>
      </dsp:nvSpPr>
      <dsp:spPr>
        <a:xfrm>
          <a:off x="0" y="42799"/>
          <a:ext cx="6666833" cy="12729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b="1" kern="1200"/>
            <a:t>Definition:</a:t>
          </a:r>
          <a:r>
            <a:rPr lang="en-GB" sz="3200" kern="1200"/>
            <a:t> API stands for </a:t>
          </a:r>
          <a:r>
            <a:rPr lang="en-GB" sz="3200" i="1" kern="1200"/>
            <a:t>Application Programming Interface</a:t>
          </a:r>
          <a:endParaRPr lang="en-US" sz="3200" kern="1200"/>
        </a:p>
      </dsp:txBody>
      <dsp:txXfrm>
        <a:off x="62141" y="104940"/>
        <a:ext cx="6542551" cy="1148678"/>
      </dsp:txXfrm>
    </dsp:sp>
    <dsp:sp modelId="{4D979C68-3FB1-481C-B316-922819C3C461}">
      <dsp:nvSpPr>
        <dsp:cNvPr id="0" name=""/>
        <dsp:cNvSpPr/>
      </dsp:nvSpPr>
      <dsp:spPr>
        <a:xfrm>
          <a:off x="0" y="1407919"/>
          <a:ext cx="6666833" cy="1272960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/>
            <a:t>Acts as a </a:t>
          </a:r>
          <a:r>
            <a:rPr lang="en-GB" sz="3200" b="1" kern="1200"/>
            <a:t>bridge</a:t>
          </a:r>
          <a:r>
            <a:rPr lang="en-GB" sz="3200" kern="1200"/>
            <a:t> between two software applications</a:t>
          </a:r>
          <a:endParaRPr lang="en-US" sz="3200" kern="1200"/>
        </a:p>
      </dsp:txBody>
      <dsp:txXfrm>
        <a:off x="62141" y="1470060"/>
        <a:ext cx="6542551" cy="1148678"/>
      </dsp:txXfrm>
    </dsp:sp>
    <dsp:sp modelId="{51B66462-89DC-4AC3-BE15-19C912A0EA57}">
      <dsp:nvSpPr>
        <dsp:cNvPr id="0" name=""/>
        <dsp:cNvSpPr/>
      </dsp:nvSpPr>
      <dsp:spPr>
        <a:xfrm>
          <a:off x="0" y="2773040"/>
          <a:ext cx="6666833" cy="1272960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/>
            <a:t>Enables </a:t>
          </a:r>
          <a:r>
            <a:rPr lang="en-GB" sz="3200" b="1" kern="1200"/>
            <a:t>data exchange</a:t>
          </a:r>
          <a:r>
            <a:rPr lang="en-GB" sz="3200" kern="1200"/>
            <a:t> and </a:t>
          </a:r>
          <a:r>
            <a:rPr lang="en-GB" sz="3200" b="1" kern="1200"/>
            <a:t>functionality sharing</a:t>
          </a:r>
          <a:endParaRPr lang="en-US" sz="3200" kern="1200"/>
        </a:p>
      </dsp:txBody>
      <dsp:txXfrm>
        <a:off x="62141" y="2835181"/>
        <a:ext cx="6542551" cy="1148678"/>
      </dsp:txXfrm>
    </dsp:sp>
    <dsp:sp modelId="{5459D7EE-FD99-4AAD-982E-F66C3AD0A91F}">
      <dsp:nvSpPr>
        <dsp:cNvPr id="0" name=""/>
        <dsp:cNvSpPr/>
      </dsp:nvSpPr>
      <dsp:spPr>
        <a:xfrm>
          <a:off x="0" y="4138160"/>
          <a:ext cx="6666833" cy="127296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/>
            <a:t>Example: Google Maps API used in ride-sharing apps</a:t>
          </a:r>
          <a:endParaRPr lang="en-US" sz="3200" kern="1200"/>
        </a:p>
      </dsp:txBody>
      <dsp:txXfrm>
        <a:off x="62141" y="4200301"/>
        <a:ext cx="6542551" cy="11486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C26FEF-8015-4355-9D2D-AC93D125401D}">
      <dsp:nvSpPr>
        <dsp:cNvPr id="0" name=""/>
        <dsp:cNvSpPr/>
      </dsp:nvSpPr>
      <dsp:spPr>
        <a:xfrm>
          <a:off x="0" y="201920"/>
          <a:ext cx="6666833" cy="95471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/>
            <a:t>Stateless:</a:t>
          </a:r>
          <a:r>
            <a:rPr lang="en-US" sz="2400" b="0" i="0" kern="1200" baseline="0"/>
            <a:t> Each request contains all necessary information; no session is stored on the server</a:t>
          </a:r>
          <a:endParaRPr lang="en-US" sz="2400" kern="1200"/>
        </a:p>
      </dsp:txBody>
      <dsp:txXfrm>
        <a:off x="46606" y="248526"/>
        <a:ext cx="6573621" cy="861507"/>
      </dsp:txXfrm>
    </dsp:sp>
    <dsp:sp modelId="{79865179-F660-4AD2-BA19-024338F1929E}">
      <dsp:nvSpPr>
        <dsp:cNvPr id="0" name=""/>
        <dsp:cNvSpPr/>
      </dsp:nvSpPr>
      <dsp:spPr>
        <a:xfrm>
          <a:off x="0" y="1225760"/>
          <a:ext cx="6666833" cy="954719"/>
        </a:xfrm>
        <a:prstGeom prst="roundRect">
          <a:avLst/>
        </a:prstGeom>
        <a:gradFill rotWithShape="0">
          <a:gsLst>
            <a:gs pos="0">
              <a:schemeClr val="accent2">
                <a:hueOff val="1610903"/>
                <a:satOff val="-4623"/>
                <a:lumOff val="-74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610903"/>
                <a:satOff val="-4623"/>
                <a:lumOff val="-74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610903"/>
                <a:satOff val="-4623"/>
                <a:lumOff val="-74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/>
            <a:t>Cacheable:</a:t>
          </a:r>
          <a:r>
            <a:rPr lang="en-US" sz="2400" b="0" i="0" kern="1200" baseline="0"/>
            <a:t> Responses can be cached to improve performance</a:t>
          </a:r>
          <a:endParaRPr lang="en-US" sz="2400" kern="1200"/>
        </a:p>
      </dsp:txBody>
      <dsp:txXfrm>
        <a:off x="46606" y="1272366"/>
        <a:ext cx="6573621" cy="861507"/>
      </dsp:txXfrm>
    </dsp:sp>
    <dsp:sp modelId="{B2FCA251-ADC3-4D8A-9E43-351821335588}">
      <dsp:nvSpPr>
        <dsp:cNvPr id="0" name=""/>
        <dsp:cNvSpPr/>
      </dsp:nvSpPr>
      <dsp:spPr>
        <a:xfrm>
          <a:off x="0" y="2249600"/>
          <a:ext cx="6666833" cy="954719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/>
            <a:t>Uniform Interface:</a:t>
          </a:r>
          <a:r>
            <a:rPr lang="en-US" sz="2400" b="0" i="0" kern="1200" baseline="0"/>
            <a:t> Consistent structure using URIs and HTTP methods</a:t>
          </a:r>
          <a:endParaRPr lang="en-US" sz="2400" kern="1200"/>
        </a:p>
      </dsp:txBody>
      <dsp:txXfrm>
        <a:off x="46606" y="2296206"/>
        <a:ext cx="6573621" cy="861507"/>
      </dsp:txXfrm>
    </dsp:sp>
    <dsp:sp modelId="{ACD8B4D7-2973-4A7B-8AD5-2C8D9DA5C839}">
      <dsp:nvSpPr>
        <dsp:cNvPr id="0" name=""/>
        <dsp:cNvSpPr/>
      </dsp:nvSpPr>
      <dsp:spPr>
        <a:xfrm>
          <a:off x="0" y="3273440"/>
          <a:ext cx="6666833" cy="954719"/>
        </a:xfrm>
        <a:prstGeom prst="roundRect">
          <a:avLst/>
        </a:prstGeom>
        <a:gradFill rotWithShape="0">
          <a:gsLst>
            <a:gs pos="0">
              <a:schemeClr val="accent2">
                <a:hueOff val="4832710"/>
                <a:satOff val="-13870"/>
                <a:lumOff val="-222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832710"/>
                <a:satOff val="-13870"/>
                <a:lumOff val="-222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832710"/>
                <a:satOff val="-13870"/>
                <a:lumOff val="-222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/>
            <a:t>Layered System:</a:t>
          </a:r>
          <a:r>
            <a:rPr lang="en-US" sz="2400" b="0" i="0" kern="1200" baseline="0"/>
            <a:t> Can be deployed across multiple layers for scalability</a:t>
          </a:r>
          <a:endParaRPr lang="en-US" sz="2400" kern="1200"/>
        </a:p>
      </dsp:txBody>
      <dsp:txXfrm>
        <a:off x="46606" y="3320046"/>
        <a:ext cx="6573621" cy="861507"/>
      </dsp:txXfrm>
    </dsp:sp>
    <dsp:sp modelId="{F852E867-EBCB-4DD2-8CEF-7A6DF5DB22ED}">
      <dsp:nvSpPr>
        <dsp:cNvPr id="0" name=""/>
        <dsp:cNvSpPr/>
      </dsp:nvSpPr>
      <dsp:spPr>
        <a:xfrm>
          <a:off x="0" y="4297280"/>
          <a:ext cx="6666833" cy="954719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/>
            <a:t>Client-Server Architecture:</a:t>
          </a:r>
          <a:r>
            <a:rPr lang="en-US" sz="2400" b="0" i="0" kern="1200" baseline="0"/>
            <a:t> Separation of concerns between client and server</a:t>
          </a:r>
          <a:endParaRPr lang="en-US" sz="2400" kern="1200"/>
        </a:p>
      </dsp:txBody>
      <dsp:txXfrm>
        <a:off x="46606" y="4343886"/>
        <a:ext cx="6573621" cy="86150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CB9493-832C-4B0B-B25F-FF39DB3AD1C9}">
      <dsp:nvSpPr>
        <dsp:cNvPr id="0" name=""/>
        <dsp:cNvSpPr/>
      </dsp:nvSpPr>
      <dsp:spPr>
        <a:xfrm>
          <a:off x="3735" y="429100"/>
          <a:ext cx="2022288" cy="283120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665" tIns="330200" rIns="157665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 dirty="0"/>
            <a:t>Understand API specifications</a:t>
          </a:r>
          <a:r>
            <a:rPr lang="en-US" sz="1800" b="0" i="0" kern="1200" baseline="0" dirty="0"/>
            <a:t> (Swagger, WSDL, etc.)</a:t>
          </a:r>
          <a:endParaRPr lang="en-US" sz="1800" kern="1200" dirty="0"/>
        </a:p>
      </dsp:txBody>
      <dsp:txXfrm>
        <a:off x="3735" y="1504958"/>
        <a:ext cx="2022288" cy="1698722"/>
      </dsp:txXfrm>
    </dsp:sp>
    <dsp:sp modelId="{51093BF6-2677-447E-BB04-9F0807ABA263}">
      <dsp:nvSpPr>
        <dsp:cNvPr id="0" name=""/>
        <dsp:cNvSpPr/>
      </dsp:nvSpPr>
      <dsp:spPr>
        <a:xfrm>
          <a:off x="590198" y="712220"/>
          <a:ext cx="849361" cy="84936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220" tIns="12700" rIns="66220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1</a:t>
          </a:r>
        </a:p>
      </dsp:txBody>
      <dsp:txXfrm>
        <a:off x="714584" y="836606"/>
        <a:ext cx="600589" cy="600589"/>
      </dsp:txXfrm>
    </dsp:sp>
    <dsp:sp modelId="{F93E91A3-41D6-44E0-AA40-3459AFF7570B}">
      <dsp:nvSpPr>
        <dsp:cNvPr id="0" name=""/>
        <dsp:cNvSpPr/>
      </dsp:nvSpPr>
      <dsp:spPr>
        <a:xfrm>
          <a:off x="3735" y="3260232"/>
          <a:ext cx="2022288" cy="72"/>
        </a:xfrm>
        <a:prstGeom prst="rect">
          <a:avLst/>
        </a:prstGeom>
        <a:solidFill>
          <a:schemeClr val="accent2">
            <a:hueOff val="715957"/>
            <a:satOff val="-2055"/>
            <a:lumOff val="-3290"/>
            <a:alphaOff val="0"/>
          </a:schemeClr>
        </a:solidFill>
        <a:ln w="19050" cap="flat" cmpd="sng" algn="ctr">
          <a:solidFill>
            <a:schemeClr val="accent2">
              <a:hueOff val="715957"/>
              <a:satOff val="-2055"/>
              <a:lumOff val="-32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4C5E16-E747-4DC0-8247-76A5281DE15B}">
      <dsp:nvSpPr>
        <dsp:cNvPr id="0" name=""/>
        <dsp:cNvSpPr/>
      </dsp:nvSpPr>
      <dsp:spPr>
        <a:xfrm>
          <a:off x="2228252" y="429100"/>
          <a:ext cx="2022288" cy="2831204"/>
        </a:xfrm>
        <a:prstGeom prst="rect">
          <a:avLst/>
        </a:prstGeom>
        <a:solidFill>
          <a:schemeClr val="accent2">
            <a:tint val="40000"/>
            <a:alpha val="90000"/>
            <a:hueOff val="1683680"/>
            <a:satOff val="-15558"/>
            <a:lumOff val="-1754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1683680"/>
              <a:satOff val="-15558"/>
              <a:lumOff val="-175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665" tIns="330200" rIns="157665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Send requests</a:t>
          </a:r>
          <a:r>
            <a:rPr lang="en-US" sz="1800" b="0" i="0" kern="1200" baseline="0"/>
            <a:t> using HTTP methods (GET, POST, PUT, DELETE)</a:t>
          </a:r>
          <a:endParaRPr lang="en-US" sz="1800" kern="1200"/>
        </a:p>
      </dsp:txBody>
      <dsp:txXfrm>
        <a:off x="2228252" y="1504958"/>
        <a:ext cx="2022288" cy="1698722"/>
      </dsp:txXfrm>
    </dsp:sp>
    <dsp:sp modelId="{0B7141AD-9861-458C-ACD8-52A1FD5D1DE8}">
      <dsp:nvSpPr>
        <dsp:cNvPr id="0" name=""/>
        <dsp:cNvSpPr/>
      </dsp:nvSpPr>
      <dsp:spPr>
        <a:xfrm>
          <a:off x="2814716" y="712220"/>
          <a:ext cx="849361" cy="849361"/>
        </a:xfrm>
        <a:prstGeom prst="ellipse">
          <a:avLst/>
        </a:prstGeom>
        <a:solidFill>
          <a:schemeClr val="accent2">
            <a:hueOff val="1431914"/>
            <a:satOff val="-4110"/>
            <a:lumOff val="-6580"/>
            <a:alphaOff val="0"/>
          </a:schemeClr>
        </a:solidFill>
        <a:ln w="19050" cap="flat" cmpd="sng" algn="ctr">
          <a:solidFill>
            <a:schemeClr val="accent2">
              <a:hueOff val="1431914"/>
              <a:satOff val="-4110"/>
              <a:lumOff val="-658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220" tIns="12700" rIns="66220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2</a:t>
          </a:r>
        </a:p>
      </dsp:txBody>
      <dsp:txXfrm>
        <a:off x="2939102" y="836606"/>
        <a:ext cx="600589" cy="600589"/>
      </dsp:txXfrm>
    </dsp:sp>
    <dsp:sp modelId="{DFBD3C0F-ABF2-4F28-8E2D-BE5B6F263A5B}">
      <dsp:nvSpPr>
        <dsp:cNvPr id="0" name=""/>
        <dsp:cNvSpPr/>
      </dsp:nvSpPr>
      <dsp:spPr>
        <a:xfrm>
          <a:off x="2228252" y="3260232"/>
          <a:ext cx="2022288" cy="72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D31B95-EAC8-4C99-AFC1-2DC0A2CA2A16}">
      <dsp:nvSpPr>
        <dsp:cNvPr id="0" name=""/>
        <dsp:cNvSpPr/>
      </dsp:nvSpPr>
      <dsp:spPr>
        <a:xfrm>
          <a:off x="4452770" y="429100"/>
          <a:ext cx="2022288" cy="2831204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665" tIns="330200" rIns="157665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Validate responses</a:t>
          </a:r>
          <a:r>
            <a:rPr lang="en-US" sz="1800" b="0" i="0" kern="1200" baseline="0"/>
            <a:t> (status code, headers, body)</a:t>
          </a:r>
          <a:endParaRPr lang="en-US" sz="1800" kern="1200"/>
        </a:p>
      </dsp:txBody>
      <dsp:txXfrm>
        <a:off x="4452770" y="1504958"/>
        <a:ext cx="2022288" cy="1698722"/>
      </dsp:txXfrm>
    </dsp:sp>
    <dsp:sp modelId="{E1C8B8C2-0D71-454E-8B23-66E6E546E25F}">
      <dsp:nvSpPr>
        <dsp:cNvPr id="0" name=""/>
        <dsp:cNvSpPr/>
      </dsp:nvSpPr>
      <dsp:spPr>
        <a:xfrm>
          <a:off x="5039233" y="712220"/>
          <a:ext cx="849361" cy="849361"/>
        </a:xfrm>
        <a:prstGeom prst="ellipse">
          <a:avLst/>
        </a:prstGeom>
        <a:solidFill>
          <a:schemeClr val="accent2">
            <a:hueOff val="2863828"/>
            <a:satOff val="-8219"/>
            <a:lumOff val="-13160"/>
            <a:alphaOff val="0"/>
          </a:schemeClr>
        </a:solidFill>
        <a:ln w="19050" cap="flat" cmpd="sng" algn="ctr">
          <a:solidFill>
            <a:schemeClr val="accent2">
              <a:hueOff val="2863828"/>
              <a:satOff val="-8219"/>
              <a:lumOff val="-131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220" tIns="12700" rIns="66220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3</a:t>
          </a:r>
        </a:p>
      </dsp:txBody>
      <dsp:txXfrm>
        <a:off x="5163619" y="836606"/>
        <a:ext cx="600589" cy="600589"/>
      </dsp:txXfrm>
    </dsp:sp>
    <dsp:sp modelId="{4D1F262A-8BBD-48A9-86BC-E78E07B4F20F}">
      <dsp:nvSpPr>
        <dsp:cNvPr id="0" name=""/>
        <dsp:cNvSpPr/>
      </dsp:nvSpPr>
      <dsp:spPr>
        <a:xfrm>
          <a:off x="4452770" y="3260232"/>
          <a:ext cx="2022288" cy="72"/>
        </a:xfrm>
        <a:prstGeom prst="rect">
          <a:avLst/>
        </a:prstGeom>
        <a:solidFill>
          <a:schemeClr val="accent2">
            <a:hueOff val="3579786"/>
            <a:satOff val="-10274"/>
            <a:lumOff val="-16449"/>
            <a:alphaOff val="0"/>
          </a:schemeClr>
        </a:solidFill>
        <a:ln w="19050" cap="flat" cmpd="sng" algn="ctr">
          <a:solidFill>
            <a:schemeClr val="accent2">
              <a:hueOff val="3579786"/>
              <a:satOff val="-10274"/>
              <a:lumOff val="-164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B88CC3-EA27-4E55-9504-F9FD9639578F}">
      <dsp:nvSpPr>
        <dsp:cNvPr id="0" name=""/>
        <dsp:cNvSpPr/>
      </dsp:nvSpPr>
      <dsp:spPr>
        <a:xfrm>
          <a:off x="6677287" y="429100"/>
          <a:ext cx="2022288" cy="2831204"/>
        </a:xfrm>
        <a:prstGeom prst="rect">
          <a:avLst/>
        </a:prstGeom>
        <a:solidFill>
          <a:schemeClr val="accent2">
            <a:tint val="40000"/>
            <a:alpha val="90000"/>
            <a:hueOff val="5051039"/>
            <a:satOff val="-46674"/>
            <a:lumOff val="-5261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5051039"/>
              <a:satOff val="-46674"/>
              <a:lumOff val="-52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665" tIns="330200" rIns="157665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Automate tests</a:t>
          </a:r>
          <a:r>
            <a:rPr lang="en-US" sz="1800" b="0" i="0" kern="1200" baseline="0"/>
            <a:t> using tools like Postman or REST Assured</a:t>
          </a:r>
          <a:endParaRPr lang="en-US" sz="1800" kern="1200"/>
        </a:p>
      </dsp:txBody>
      <dsp:txXfrm>
        <a:off x="6677287" y="1504958"/>
        <a:ext cx="2022288" cy="1698722"/>
      </dsp:txXfrm>
    </dsp:sp>
    <dsp:sp modelId="{B133EC87-3D09-492B-8EB6-976957EB9307}">
      <dsp:nvSpPr>
        <dsp:cNvPr id="0" name=""/>
        <dsp:cNvSpPr/>
      </dsp:nvSpPr>
      <dsp:spPr>
        <a:xfrm>
          <a:off x="7263751" y="712220"/>
          <a:ext cx="849361" cy="849361"/>
        </a:xfrm>
        <a:prstGeom prst="ellipse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220" tIns="12700" rIns="66220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4</a:t>
          </a:r>
        </a:p>
      </dsp:txBody>
      <dsp:txXfrm>
        <a:off x="7388137" y="836606"/>
        <a:ext cx="600589" cy="600589"/>
      </dsp:txXfrm>
    </dsp:sp>
    <dsp:sp modelId="{496B89CD-252A-4C12-987D-7904EA0DA008}">
      <dsp:nvSpPr>
        <dsp:cNvPr id="0" name=""/>
        <dsp:cNvSpPr/>
      </dsp:nvSpPr>
      <dsp:spPr>
        <a:xfrm>
          <a:off x="6677287" y="3260232"/>
          <a:ext cx="2022288" cy="72"/>
        </a:xfrm>
        <a:prstGeom prst="rect">
          <a:avLst/>
        </a:prstGeom>
        <a:solidFill>
          <a:schemeClr val="accent2">
            <a:hueOff val="5011700"/>
            <a:satOff val="-14383"/>
            <a:lumOff val="-23029"/>
            <a:alphaOff val="0"/>
          </a:schemeClr>
        </a:solidFill>
        <a:ln w="19050" cap="flat" cmpd="sng" algn="ctr">
          <a:solidFill>
            <a:schemeClr val="accent2">
              <a:hueOff val="5011700"/>
              <a:satOff val="-14383"/>
              <a:lumOff val="-2302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6A3063-E3F0-4314-8B37-5F73BA31F09C}">
      <dsp:nvSpPr>
        <dsp:cNvPr id="0" name=""/>
        <dsp:cNvSpPr/>
      </dsp:nvSpPr>
      <dsp:spPr>
        <a:xfrm>
          <a:off x="8901805" y="429100"/>
          <a:ext cx="2022288" cy="2831204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665" tIns="330200" rIns="157665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Integrate with CI/CD pipelines</a:t>
          </a:r>
          <a:endParaRPr lang="en-US" sz="1800" kern="1200"/>
        </a:p>
      </dsp:txBody>
      <dsp:txXfrm>
        <a:off x="8901805" y="1504958"/>
        <a:ext cx="2022288" cy="1698722"/>
      </dsp:txXfrm>
    </dsp:sp>
    <dsp:sp modelId="{9BA6E013-F446-4659-B2B2-F4A63C9F716B}">
      <dsp:nvSpPr>
        <dsp:cNvPr id="0" name=""/>
        <dsp:cNvSpPr/>
      </dsp:nvSpPr>
      <dsp:spPr>
        <a:xfrm>
          <a:off x="9488268" y="712220"/>
          <a:ext cx="849361" cy="849361"/>
        </a:xfrm>
        <a:prstGeom prst="ellipse">
          <a:avLst/>
        </a:prstGeom>
        <a:solidFill>
          <a:schemeClr val="accent2">
            <a:hueOff val="5727657"/>
            <a:satOff val="-16438"/>
            <a:lumOff val="-26319"/>
            <a:alphaOff val="0"/>
          </a:schemeClr>
        </a:solidFill>
        <a:ln w="19050" cap="flat" cmpd="sng" algn="ctr">
          <a:solidFill>
            <a:schemeClr val="accent2">
              <a:hueOff val="5727657"/>
              <a:satOff val="-16438"/>
              <a:lumOff val="-263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220" tIns="12700" rIns="66220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5</a:t>
          </a:r>
        </a:p>
      </dsp:txBody>
      <dsp:txXfrm>
        <a:off x="9612654" y="836606"/>
        <a:ext cx="600589" cy="600589"/>
      </dsp:txXfrm>
    </dsp:sp>
    <dsp:sp modelId="{E2EBB090-7648-46C2-BB89-24C6B2AAF5F0}">
      <dsp:nvSpPr>
        <dsp:cNvPr id="0" name=""/>
        <dsp:cNvSpPr/>
      </dsp:nvSpPr>
      <dsp:spPr>
        <a:xfrm>
          <a:off x="8901805" y="3260232"/>
          <a:ext cx="2022288" cy="72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300BF0-824C-4CF9-B70B-27D296AFC8BC}">
      <dsp:nvSpPr>
        <dsp:cNvPr id="0" name=""/>
        <dsp:cNvSpPr/>
      </dsp:nvSpPr>
      <dsp:spPr>
        <a:xfrm>
          <a:off x="0" y="682"/>
          <a:ext cx="6245265" cy="159656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1F6F3D-76E0-43E7-B81E-0EDE37929F24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557654-991C-4342-9186-4A6C760C1392}">
      <dsp:nvSpPr>
        <dsp:cNvPr id="0" name=""/>
        <dsp:cNvSpPr/>
      </dsp:nvSpPr>
      <dsp:spPr>
        <a:xfrm>
          <a:off x="1844034" y="682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REST Assured is a Java-based library for testing RESTful APIs</a:t>
          </a:r>
          <a:endParaRPr lang="en-US" sz="2300" kern="1200"/>
        </a:p>
      </dsp:txBody>
      <dsp:txXfrm>
        <a:off x="1844034" y="682"/>
        <a:ext cx="4401230" cy="1596566"/>
      </dsp:txXfrm>
    </dsp:sp>
    <dsp:sp modelId="{8DA2A7B8-E38E-4DB4-94ED-E7735CD0A37C}">
      <dsp:nvSpPr>
        <dsp:cNvPr id="0" name=""/>
        <dsp:cNvSpPr/>
      </dsp:nvSpPr>
      <dsp:spPr>
        <a:xfrm>
          <a:off x="0" y="1996390"/>
          <a:ext cx="6245265" cy="159656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BA1BF7-5538-417A-8191-A0157A44328F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046321-FDCF-4B90-B8AF-C21BE8E8F6D8}">
      <dsp:nvSpPr>
        <dsp:cNvPr id="0" name=""/>
        <dsp:cNvSpPr/>
      </dsp:nvSpPr>
      <dsp:spPr>
        <a:xfrm>
          <a:off x="1844034" y="1996390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It provides a domain-specific language (DSL) for writing readable and maintainable tests</a:t>
          </a:r>
          <a:endParaRPr lang="en-US" sz="2300" kern="1200"/>
        </a:p>
      </dsp:txBody>
      <dsp:txXfrm>
        <a:off x="1844034" y="1996390"/>
        <a:ext cx="4401230" cy="1596566"/>
      </dsp:txXfrm>
    </dsp:sp>
    <dsp:sp modelId="{5510BEB7-F607-49F6-A538-EBFCD8EE52D3}">
      <dsp:nvSpPr>
        <dsp:cNvPr id="0" name=""/>
        <dsp:cNvSpPr/>
      </dsp:nvSpPr>
      <dsp:spPr>
        <a:xfrm>
          <a:off x="0" y="3992098"/>
          <a:ext cx="6245265" cy="159656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0B6DD2-9F29-4852-874C-B46B37572893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B78E3F-467F-4785-B3B9-61F0E0B503EB}">
      <dsp:nvSpPr>
        <dsp:cNvPr id="0" name=""/>
        <dsp:cNvSpPr/>
      </dsp:nvSpPr>
      <dsp:spPr>
        <a:xfrm>
          <a:off x="1844034" y="3992098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Integrates seamlessly with JUnit, TestNG, and Maven</a:t>
          </a:r>
          <a:endParaRPr lang="en-US" sz="2300" kern="1200"/>
        </a:p>
      </dsp:txBody>
      <dsp:txXfrm>
        <a:off x="1844034" y="3992098"/>
        <a:ext cx="4401230" cy="159656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9BE287-FE97-4223-A609-446A5D53AFD4}">
      <dsp:nvSpPr>
        <dsp:cNvPr id="0" name=""/>
        <dsp:cNvSpPr/>
      </dsp:nvSpPr>
      <dsp:spPr>
        <a:xfrm>
          <a:off x="0" y="4366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E8EBD4-E4A4-4233-8A41-5FEB5BA5AF27}">
      <dsp:nvSpPr>
        <dsp:cNvPr id="0" name=""/>
        <dsp:cNvSpPr/>
      </dsp:nvSpPr>
      <dsp:spPr>
        <a:xfrm>
          <a:off x="281355" y="213639"/>
          <a:ext cx="511556" cy="5115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A18A19-B03A-42B1-A6B9-2ABD2F6410AF}">
      <dsp:nvSpPr>
        <dsp:cNvPr id="0" name=""/>
        <dsp:cNvSpPr/>
      </dsp:nvSpPr>
      <dsp:spPr>
        <a:xfrm>
          <a:off x="1074268" y="4366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Automates REST API testing with minimal boilerplate</a:t>
          </a:r>
          <a:endParaRPr lang="en-US" sz="1900" kern="1200"/>
        </a:p>
      </dsp:txBody>
      <dsp:txXfrm>
        <a:off x="1074268" y="4366"/>
        <a:ext cx="5170996" cy="930102"/>
      </dsp:txXfrm>
    </dsp:sp>
    <dsp:sp modelId="{0770CB72-5665-4F3D-B757-7562C2EC3857}">
      <dsp:nvSpPr>
        <dsp:cNvPr id="0" name=""/>
        <dsp:cNvSpPr/>
      </dsp:nvSpPr>
      <dsp:spPr>
        <a:xfrm>
          <a:off x="0" y="1166994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69D035-A98B-4072-BDF5-1DC18174440B}">
      <dsp:nvSpPr>
        <dsp:cNvPr id="0" name=""/>
        <dsp:cNvSpPr/>
      </dsp:nvSpPr>
      <dsp:spPr>
        <a:xfrm>
          <a:off x="281355" y="1376267"/>
          <a:ext cx="511556" cy="5115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C55232-AC33-449E-8052-3DD28481828C}">
      <dsp:nvSpPr>
        <dsp:cNvPr id="0" name=""/>
        <dsp:cNvSpPr/>
      </dsp:nvSpPr>
      <dsp:spPr>
        <a:xfrm>
          <a:off x="1074268" y="1166994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Supports authentication (Basic, OAuth, etc.)</a:t>
          </a:r>
          <a:endParaRPr lang="en-US" sz="1900" kern="1200"/>
        </a:p>
      </dsp:txBody>
      <dsp:txXfrm>
        <a:off x="1074268" y="1166994"/>
        <a:ext cx="5170996" cy="930102"/>
      </dsp:txXfrm>
    </dsp:sp>
    <dsp:sp modelId="{7E9266B0-D443-4B73-AD73-C0590F20C00D}">
      <dsp:nvSpPr>
        <dsp:cNvPr id="0" name=""/>
        <dsp:cNvSpPr/>
      </dsp:nvSpPr>
      <dsp:spPr>
        <a:xfrm>
          <a:off x="0" y="2329622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4B1D0A-D2AC-40FD-943A-F375309FEEEE}">
      <dsp:nvSpPr>
        <dsp:cNvPr id="0" name=""/>
        <dsp:cNvSpPr/>
      </dsp:nvSpPr>
      <dsp:spPr>
        <a:xfrm>
          <a:off x="281355" y="2538895"/>
          <a:ext cx="511556" cy="5115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851CDB-62AF-4758-AFB4-E18E3C804DA0}">
      <dsp:nvSpPr>
        <dsp:cNvPr id="0" name=""/>
        <dsp:cNvSpPr/>
      </dsp:nvSpPr>
      <dsp:spPr>
        <a:xfrm>
          <a:off x="1074268" y="2329622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Validates status codes, headers, and response bodies</a:t>
          </a:r>
          <a:endParaRPr lang="en-US" sz="1900" kern="1200"/>
        </a:p>
      </dsp:txBody>
      <dsp:txXfrm>
        <a:off x="1074268" y="2329622"/>
        <a:ext cx="5170996" cy="930102"/>
      </dsp:txXfrm>
    </dsp:sp>
    <dsp:sp modelId="{A87D1B64-E78B-42C1-816A-B9D41559784B}">
      <dsp:nvSpPr>
        <dsp:cNvPr id="0" name=""/>
        <dsp:cNvSpPr/>
      </dsp:nvSpPr>
      <dsp:spPr>
        <a:xfrm>
          <a:off x="0" y="3492250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41908A-E7ED-4552-8ECF-B86471626D0B}">
      <dsp:nvSpPr>
        <dsp:cNvPr id="0" name=""/>
        <dsp:cNvSpPr/>
      </dsp:nvSpPr>
      <dsp:spPr>
        <a:xfrm>
          <a:off x="281355" y="3701523"/>
          <a:ext cx="511556" cy="51155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B853B1-396C-45C8-8A33-10DBE1038826}">
      <dsp:nvSpPr>
        <dsp:cNvPr id="0" name=""/>
        <dsp:cNvSpPr/>
      </dsp:nvSpPr>
      <dsp:spPr>
        <a:xfrm>
          <a:off x="1074268" y="3492250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Easily integrates with CI/CD pipelines</a:t>
          </a:r>
          <a:endParaRPr lang="en-US" sz="1900" kern="1200"/>
        </a:p>
      </dsp:txBody>
      <dsp:txXfrm>
        <a:off x="1074268" y="3492250"/>
        <a:ext cx="5170996" cy="930102"/>
      </dsp:txXfrm>
    </dsp:sp>
    <dsp:sp modelId="{8D0AB34B-F378-45E5-83B2-D8EFB6F8AAAF}">
      <dsp:nvSpPr>
        <dsp:cNvPr id="0" name=""/>
        <dsp:cNvSpPr/>
      </dsp:nvSpPr>
      <dsp:spPr>
        <a:xfrm>
          <a:off x="0" y="4654878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5D3998-D52F-46DF-BF46-9C56B1A47176}">
      <dsp:nvSpPr>
        <dsp:cNvPr id="0" name=""/>
        <dsp:cNvSpPr/>
      </dsp:nvSpPr>
      <dsp:spPr>
        <a:xfrm>
          <a:off x="281355" y="4864151"/>
          <a:ext cx="511556" cy="51155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8D396B-5762-406C-9C32-2822083DF319}">
      <dsp:nvSpPr>
        <dsp:cNvPr id="0" name=""/>
        <dsp:cNvSpPr/>
      </dsp:nvSpPr>
      <dsp:spPr>
        <a:xfrm>
          <a:off x="1074268" y="4654878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Ideal for microservices and BDD-style testing</a:t>
          </a:r>
          <a:endParaRPr lang="en-US" sz="1900" kern="1200"/>
        </a:p>
      </dsp:txBody>
      <dsp:txXfrm>
        <a:off x="1074268" y="4654878"/>
        <a:ext cx="5170996" cy="93010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2FD51A-C663-4B47-A9AF-862B8EA05F26}">
      <dsp:nvSpPr>
        <dsp:cNvPr id="0" name=""/>
        <dsp:cNvSpPr/>
      </dsp:nvSpPr>
      <dsp:spPr>
        <a:xfrm>
          <a:off x="0" y="26633"/>
          <a:ext cx="6245265" cy="13127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/>
            <a:t>Built on top of </a:t>
          </a:r>
          <a:r>
            <a:rPr lang="en-GB" sz="3300" b="1" kern="1200"/>
            <a:t>HTTP Client libraries</a:t>
          </a:r>
          <a:endParaRPr lang="en-US" sz="3300" kern="1200"/>
        </a:p>
      </dsp:txBody>
      <dsp:txXfrm>
        <a:off x="64083" y="90716"/>
        <a:ext cx="6117099" cy="1184574"/>
      </dsp:txXfrm>
    </dsp:sp>
    <dsp:sp modelId="{B4920E6E-F4F2-4090-B49C-A3FAF7298B08}">
      <dsp:nvSpPr>
        <dsp:cNvPr id="0" name=""/>
        <dsp:cNvSpPr/>
      </dsp:nvSpPr>
      <dsp:spPr>
        <a:xfrm>
          <a:off x="0" y="1434413"/>
          <a:ext cx="6245265" cy="1312740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/>
            <a:t>Uses </a:t>
          </a:r>
          <a:r>
            <a:rPr lang="en-GB" sz="3300" b="1" kern="1200"/>
            <a:t>Fluent API</a:t>
          </a:r>
          <a:r>
            <a:rPr lang="en-GB" sz="3300" kern="1200"/>
            <a:t> for chaining requests and assertions</a:t>
          </a:r>
          <a:endParaRPr lang="en-US" sz="3300" kern="1200"/>
        </a:p>
      </dsp:txBody>
      <dsp:txXfrm>
        <a:off x="64083" y="1498496"/>
        <a:ext cx="6117099" cy="1184574"/>
      </dsp:txXfrm>
    </dsp:sp>
    <dsp:sp modelId="{1F3CE644-C62E-436F-A94D-49864966DDD3}">
      <dsp:nvSpPr>
        <dsp:cNvPr id="0" name=""/>
        <dsp:cNvSpPr/>
      </dsp:nvSpPr>
      <dsp:spPr>
        <a:xfrm>
          <a:off x="0" y="2842193"/>
          <a:ext cx="6245265" cy="1312740"/>
        </a:xfrm>
        <a:prstGeom prst="round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/>
            <a:t>Works with </a:t>
          </a:r>
          <a:r>
            <a:rPr lang="en-GB" sz="3300" b="1" kern="1200"/>
            <a:t>JSON</a:t>
          </a:r>
          <a:r>
            <a:rPr lang="en-GB" sz="3300" kern="1200"/>
            <a:t>, </a:t>
          </a:r>
          <a:r>
            <a:rPr lang="en-GB" sz="3300" b="1" kern="1200"/>
            <a:t>XML</a:t>
          </a:r>
          <a:r>
            <a:rPr lang="en-GB" sz="3300" kern="1200"/>
            <a:t>, and </a:t>
          </a:r>
          <a:r>
            <a:rPr lang="en-GB" sz="3300" b="1" kern="1200"/>
            <a:t>HTML</a:t>
          </a:r>
          <a:r>
            <a:rPr lang="en-GB" sz="3300" kern="1200"/>
            <a:t> responses</a:t>
          </a:r>
          <a:endParaRPr lang="en-US" sz="3300" kern="1200"/>
        </a:p>
      </dsp:txBody>
      <dsp:txXfrm>
        <a:off x="64083" y="2906276"/>
        <a:ext cx="6117099" cy="1184574"/>
      </dsp:txXfrm>
    </dsp:sp>
    <dsp:sp modelId="{2C1B8AE2-C16E-4D5F-8FFE-A5887C9E1B19}">
      <dsp:nvSpPr>
        <dsp:cNvPr id="0" name=""/>
        <dsp:cNvSpPr/>
      </dsp:nvSpPr>
      <dsp:spPr>
        <a:xfrm>
          <a:off x="0" y="4249973"/>
          <a:ext cx="6245265" cy="131274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/>
            <a:t>Compatible with </a:t>
          </a:r>
          <a:r>
            <a:rPr lang="en-GB" sz="3300" b="1" kern="1200"/>
            <a:t>Hamcrest matchers</a:t>
          </a:r>
          <a:r>
            <a:rPr lang="en-GB" sz="3300" kern="1200"/>
            <a:t> for assertions</a:t>
          </a:r>
          <a:endParaRPr lang="en-US" sz="3300" kern="1200"/>
        </a:p>
      </dsp:txBody>
      <dsp:txXfrm>
        <a:off x="64083" y="4314056"/>
        <a:ext cx="6117099" cy="118457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428895-F0F3-4758-82D4-A85F6E37E8C9}">
      <dsp:nvSpPr>
        <dsp:cNvPr id="0" name=""/>
        <dsp:cNvSpPr/>
      </dsp:nvSpPr>
      <dsp:spPr>
        <a:xfrm>
          <a:off x="33" y="174157"/>
          <a:ext cx="5601332" cy="552996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Once you've made a request using REST Assured, the response object gives you a rich set of tools to extract, validate, and log the response data. </a:t>
          </a:r>
          <a:endParaRPr lang="en-US" sz="2400" kern="1200" dirty="0"/>
        </a:p>
      </dsp:txBody>
      <dsp:txXfrm>
        <a:off x="33" y="174157"/>
        <a:ext cx="5601332" cy="5529960"/>
      </dsp:txXfrm>
    </dsp:sp>
    <dsp:sp modelId="{9E27C265-1113-411B-AE2E-2DF490749E3E}">
      <dsp:nvSpPr>
        <dsp:cNvPr id="0" name=""/>
        <dsp:cNvSpPr/>
      </dsp:nvSpPr>
      <dsp:spPr>
        <a:xfrm>
          <a:off x="5741426" y="228596"/>
          <a:ext cx="5906237" cy="5507382"/>
        </a:xfrm>
        <a:prstGeom prst="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Following are details on what you can do with a response in REST Assured: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/>
            <a:t>Status Code Validation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 dirty="0"/>
            <a:t>Headers</a:t>
          </a: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 dirty="0"/>
            <a:t>Cookies</a:t>
          </a: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/>
            <a:t>Response Time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/>
            <a:t>Body Content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/>
            <a:t>JSON Parsing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/>
            <a:t>XML Parsing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/>
            <a:t>Assertions with Hamcrest Matchers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/>
            <a:t>Logging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 dirty="0"/>
            <a:t>Extracting Values for Reuse</a:t>
          </a:r>
          <a:endParaRPr lang="en-US" sz="2400" kern="1200" dirty="0"/>
        </a:p>
      </dsp:txBody>
      <dsp:txXfrm>
        <a:off x="5741426" y="228596"/>
        <a:ext cx="5906237" cy="55073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79798-246C-11A1-711C-224D3E37DA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381B0A-FF9C-4F22-EC57-77E49E85D3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C47F4-8116-BB41-8AB5-91ED69228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6887D-F84B-4171-A920-8D36B5EACED9}" type="datetimeFigureOut">
              <a:rPr lang="en-IN" smtClean="0"/>
              <a:t>13-08-2025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A2C0A-11BB-4EFC-661B-E949E084D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956B3-2FC2-D62D-B0DE-D6BB5CB41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F4A76-958C-481D-A0B3-AA17576C2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382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C945-B46A-B236-F777-6BABC161B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F3ADA-5268-17C4-E825-072F1AEBB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21A05-D4E0-83BD-9449-2C52257FD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6887D-F84B-4171-A920-8D36B5EACED9}" type="datetimeFigureOut">
              <a:rPr lang="en-IN" smtClean="0"/>
              <a:t>13-08-2025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62387-632A-CFEC-824B-AD3E5B707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2D666-90AF-93DC-A915-1CCA37967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F4A76-958C-481D-A0B3-AA17576C2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901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0DE40-D43D-B4F8-E63B-AC93B3607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A0D52-7A6C-5B1B-232F-D1D8AC3A2D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D6E1C-DE7B-1D09-F9F7-942D4985A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6887D-F84B-4171-A920-8D36B5EACED9}" type="datetimeFigureOut">
              <a:rPr lang="en-IN" smtClean="0"/>
              <a:t>13-08-2025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F9D77-F9E6-97CE-69CA-F45CC78B1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6303A2-5B46-2D74-CE6E-B9415F2E8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F4A76-958C-481D-A0B3-AA17576C2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6957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67CD1-D203-00E6-D56C-37CAAA5A7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A12E5-2F3C-29A8-FEFC-A626A47046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1B332F-6B07-C5A3-024B-B21782456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79642-5F7C-A851-F8E4-B768C6C11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6887D-F84B-4171-A920-8D36B5EACED9}" type="datetimeFigureOut">
              <a:rPr lang="en-IN" smtClean="0"/>
              <a:t>13-08-2025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C8914F-1DDF-EA3C-590A-38840DBB4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D04E06-456A-CAE4-ABFB-EA7AF82FF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F4A76-958C-481D-A0B3-AA17576C2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4055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E4A37-7E39-0A8E-2524-B88F38397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869132-3B00-B476-98E1-456CA4B399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FC550B-9DB1-61F0-D827-A62B254129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0C8619-D78B-0F38-C551-B6F8DAC14E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0CC426-EA3C-5509-1BAA-50297D7B9A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8F3CDE-497C-1FDB-1F4B-7E0B8B417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6887D-F84B-4171-A920-8D36B5EACED9}" type="datetimeFigureOut">
              <a:rPr lang="en-IN" smtClean="0"/>
              <a:t>13-08-2025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902BC8-E36D-0C36-BFC4-F5DA568CB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4DE752-EEF0-AA92-D1A7-973795C69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F4A76-958C-481D-A0B3-AA17576C2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7987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F7846-AAC9-0F0F-FD01-23C47B754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D1CE45-5CA5-F333-88F1-F82B1B6F5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6887D-F84B-4171-A920-8D36B5EACED9}" type="datetimeFigureOut">
              <a:rPr lang="en-IN" smtClean="0"/>
              <a:t>13-08-2025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28F81E-68BD-F794-6A30-9DF0878F3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7AD49D-8519-BFEE-1AA7-421FCFA32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F4A76-958C-481D-A0B3-AA17576C2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913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4B600A-8DB3-FBF2-75C0-87FD1ABC6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6887D-F84B-4171-A920-8D36B5EACED9}" type="datetimeFigureOut">
              <a:rPr lang="en-IN" smtClean="0"/>
              <a:t>13-08-2025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ED7AE1-6B46-0111-3471-2FAAF858E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2314D-1FE9-DACC-65FB-FFBD949CA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F4A76-958C-481D-A0B3-AA17576C2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0490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16F56-AC4E-3003-9E00-AA888E22B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DBE7B-66F0-C01A-D0BE-A5B0888F1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418A84-EA2F-38A0-148A-29FA705DDD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754219-EC73-192C-AFBA-6E15FCC82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6887D-F84B-4171-A920-8D36B5EACED9}" type="datetimeFigureOut">
              <a:rPr lang="en-IN" smtClean="0"/>
              <a:t>13-08-2025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FF1C5-03F5-B4B8-BFEA-357B3EC8F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C3B66-1A8E-986E-8C04-75C6592E6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F4A76-958C-481D-A0B3-AA17576C2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0744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28314-0D9B-6ABD-7ED9-E302D6B6E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F11C34-0FB8-2439-8E4A-747D0CC634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66FED0-5734-7875-F659-6893F415BA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722F77-06CC-4C48-4D28-895C60A99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6887D-F84B-4171-A920-8D36B5EACED9}" type="datetimeFigureOut">
              <a:rPr lang="en-IN" smtClean="0"/>
              <a:t>13-08-2025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2EB57C-0C58-7C29-F48A-D8C0DC375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44B224-6060-83AC-A859-E561B1F88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F4A76-958C-481D-A0B3-AA17576C2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8980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BFE56-D218-3EB7-6851-80F6CA356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4F2614-70CF-521D-5ECE-C8C1A1A565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F33D2-A44C-E5B5-2D7F-BBCD08516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6887D-F84B-4171-A920-8D36B5EACED9}" type="datetimeFigureOut">
              <a:rPr lang="en-IN" smtClean="0"/>
              <a:t>13-08-2025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FF94EB-679D-726C-7775-E40B7DA32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1B9B8-5601-7409-E542-5E7A9284C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F4A76-958C-481D-A0B3-AA17576C2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571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A4200E-AFC1-CC14-3838-C13C875D7A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F648EA-2BF8-9D76-2B3A-3C8A6AEBCE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FE183-CEDD-CA2C-D43C-DDAD4FA21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6887D-F84B-4171-A920-8D36B5EACED9}" type="datetimeFigureOut">
              <a:rPr lang="en-IN" smtClean="0"/>
              <a:t>13-08-2025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D37B8-5040-F9E5-1997-87AD67971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A9AAD-2C1B-944D-BF17-9917B7AE9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F4A76-958C-481D-A0B3-AA17576C2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19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FE949-A35D-4841-A6D3-19671FA4B1F0}" type="datetimeFigureOut">
              <a:rPr lang="en-IN" smtClean="0"/>
              <a:t>13-08-2025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5B82-85D3-4363-9361-23EC0389CA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25185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FE949-A35D-4841-A6D3-19671FA4B1F0}" type="datetimeFigureOut">
              <a:rPr lang="en-IN" smtClean="0"/>
              <a:t>13-08-2025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5B82-85D3-4363-9361-23EC0389CA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03736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FE949-A35D-4841-A6D3-19671FA4B1F0}" type="datetimeFigureOut">
              <a:rPr lang="en-IN" smtClean="0"/>
              <a:t>13-08-2025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5B82-85D3-4363-9361-23EC0389CA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41579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FE949-A35D-4841-A6D3-19671FA4B1F0}" type="datetimeFigureOut">
              <a:rPr lang="en-IN" smtClean="0"/>
              <a:t>13-08-2025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5B82-85D3-4363-9361-23EC0389CA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07298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FE949-A35D-4841-A6D3-19671FA4B1F0}" type="datetimeFigureOut">
              <a:rPr lang="en-IN" smtClean="0"/>
              <a:t>13-08-2025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5B82-85D3-4363-9361-23EC0389CA92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4051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FE949-A35D-4841-A6D3-19671FA4B1F0}" type="datetimeFigureOut">
              <a:rPr lang="en-IN" smtClean="0"/>
              <a:t>13-08-2025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5B82-85D3-4363-9361-23EC0389CA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99032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FE949-A35D-4841-A6D3-19671FA4B1F0}" type="datetimeFigureOut">
              <a:rPr lang="en-IN" smtClean="0"/>
              <a:t>13-08-2025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5B82-85D3-4363-9361-23EC0389CA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6060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FE949-A35D-4841-A6D3-19671FA4B1F0}" type="datetimeFigureOut">
              <a:rPr lang="en-IN" smtClean="0"/>
              <a:t>13-08-2025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5B82-85D3-4363-9361-23EC0389CA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1256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121FE949-A35D-4841-A6D3-19671FA4B1F0}" type="datetimeFigureOut">
              <a:rPr lang="en-IN" smtClean="0"/>
              <a:t>13-08-2025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5B82-85D3-4363-9361-23EC0389CA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75963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FE949-A35D-4841-A6D3-19671FA4B1F0}" type="datetimeFigureOut">
              <a:rPr lang="en-IN" smtClean="0"/>
              <a:t>13-08-2025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5B82-85D3-4363-9361-23EC0389CA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7294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FE949-A35D-4841-A6D3-19671FA4B1F0}" type="datetimeFigureOut">
              <a:rPr lang="en-IN" smtClean="0"/>
              <a:t>13-08-2025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5B82-85D3-4363-9361-23EC0389CA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1485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BA533B-E8E6-C063-F9AD-3B8A3132E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99440-7F47-E30A-E013-101A7F6416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C2E86-0ABC-E1EF-A2C5-6FA01183AF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A6887D-F84B-4171-A920-8D36B5EACED9}" type="datetimeFigureOut">
              <a:rPr lang="en-IN" smtClean="0"/>
              <a:t>13-08-2025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3E5B3-4F4F-12EC-A8A2-3405185EB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8526B-CBCD-BB73-557E-B54D3304CC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9F4A76-958C-481D-A0B3-AA17576C2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8107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21FE949-A35D-4841-A6D3-19671FA4B1F0}" type="datetimeFigureOut">
              <a:rPr lang="en-IN" smtClean="0"/>
              <a:t>13-08-2025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5AD65B82-85D3-4363-9361-23EC0389CA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180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ing.postman.com/docs/sending-requests/supported-api-frameworks/making-soap-requests/" TargetMode="External"/><Relationship Id="rId2" Type="http://schemas.openxmlformats.org/officeDocument/2006/relationships/hyperlink" Target="https://www.postman.com/product/api-client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5D2162-3E2B-F1FC-A9DE-457BCBA990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569"/>
          <a:stretch>
            <a:fillRect/>
          </a:stretch>
        </p:blipFill>
        <p:spPr>
          <a:xfrm>
            <a:off x="307775" y="261437"/>
            <a:ext cx="11576450" cy="633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208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7C4BBE-9366-306C-36AA-14FD69C7E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What is an API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EC0CD30E-2BB1-C6C2-BADD-03EA466242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493204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78409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E585A8-4205-D8DC-B08C-DF33DDF03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Why we need APIs</a:t>
            </a:r>
            <a:endParaRPr lang="en-IN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07CCE-5844-FAC2-55A9-F31457F20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8601" y="152400"/>
            <a:ext cx="8011886" cy="608511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400" b="1" dirty="0"/>
              <a:t>1. System Integration: </a:t>
            </a:r>
            <a:r>
              <a:rPr lang="en-GB" sz="2400" dirty="0"/>
              <a:t>APIs connect different systems and platforms</a:t>
            </a:r>
          </a:p>
          <a:p>
            <a:pPr marL="0" indent="0">
              <a:buNone/>
            </a:pPr>
            <a:r>
              <a:rPr lang="en-GB" sz="2400" dirty="0"/>
              <a:t>Example: A CRM system integrates with an email service via API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b="1" dirty="0"/>
              <a:t>2. Reusability of Functionality: </a:t>
            </a:r>
            <a:r>
              <a:rPr lang="en-GB" sz="2400" dirty="0"/>
              <a:t>Developers can reuse existing services without rebuilding them</a:t>
            </a:r>
          </a:p>
          <a:p>
            <a:pPr marL="0" indent="0">
              <a:buNone/>
            </a:pPr>
            <a:r>
              <a:rPr lang="en-GB" sz="2400" dirty="0"/>
              <a:t>Example: Google Maps API used in delivery apps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b="1" dirty="0"/>
              <a:t>3. Faster Development: </a:t>
            </a:r>
            <a:r>
              <a:rPr lang="en-GB" sz="2400" dirty="0"/>
              <a:t>APIs simplify coding by exposing ready-to-use services</a:t>
            </a:r>
          </a:p>
          <a:p>
            <a:pPr marL="0" indent="0">
              <a:buNone/>
            </a:pPr>
            <a:r>
              <a:rPr lang="en-GB" sz="2400" dirty="0"/>
              <a:t>Example: Payment APIs like Stripe or PayPal reduce development time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065697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A8B501-D477-EA90-9AC0-BCE651FBE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FFFF"/>
                </a:solidFill>
              </a:rPr>
              <a:t>Why we need APIs</a:t>
            </a: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DCF06-6272-19EC-931F-E5C70D80C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7272" y="591344"/>
            <a:ext cx="8024728" cy="469911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b="1" dirty="0"/>
              <a:t>4. </a:t>
            </a:r>
            <a:r>
              <a:rPr lang="en-GB" sz="2400" b="1" dirty="0"/>
              <a:t>Third-Party Collaboration: </a:t>
            </a:r>
            <a:r>
              <a:rPr lang="en-GB" sz="2400" dirty="0"/>
              <a:t>APIs allow external developers to build on your platform</a:t>
            </a:r>
          </a:p>
          <a:p>
            <a:pPr marL="0" indent="0">
              <a:buNone/>
            </a:pPr>
            <a:r>
              <a:rPr lang="en-GB" sz="2400" dirty="0"/>
              <a:t>Example: Twitter API lets developers create analytics tools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b="1" dirty="0"/>
              <a:t>5. Data Accessibility: </a:t>
            </a:r>
            <a:r>
              <a:rPr lang="en-GB" sz="2400" dirty="0"/>
              <a:t>APIs enable secure and structured access to data</a:t>
            </a:r>
          </a:p>
          <a:p>
            <a:pPr marL="0" indent="0">
              <a:buNone/>
            </a:pPr>
            <a:r>
              <a:rPr lang="en-GB" sz="2400" dirty="0"/>
              <a:t>Example: Financial APIs provide real-time stock data to trading apps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1616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6B19FF-96B9-F9BC-4327-756A60BE7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GB" sz="5400"/>
              <a:t>How APIs work</a:t>
            </a:r>
            <a:endParaRPr lang="en-IN" sz="540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7CEBC-5DD0-D301-BA09-CD32DA01E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2200"/>
              <a:t>Client sends request to API endpoint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200"/>
              <a:t>API processes the request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200"/>
              <a:t>Server responds with data or action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200"/>
              <a:t>Client receives structured response (usually JSON)</a:t>
            </a:r>
            <a:endParaRPr lang="en-IN" sz="22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46E27F-7E4D-E851-8885-465B49974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113" y="1676400"/>
            <a:ext cx="7287903" cy="4107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761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947263-DAE0-1A72-4DF7-560129EBB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Commonly used APIs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E0EE4C2-D2CF-F156-51D2-2DCE8052CC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3763583"/>
              </p:ext>
            </p:extLst>
          </p:nvPr>
        </p:nvGraphicFramePr>
        <p:xfrm>
          <a:off x="644056" y="2453612"/>
          <a:ext cx="10927830" cy="3510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5576">
                  <a:extLst>
                    <a:ext uri="{9D8B030D-6E8A-4147-A177-3AD203B41FA5}">
                      <a16:colId xmlns:a16="http://schemas.microsoft.com/office/drawing/2014/main" val="4027453850"/>
                    </a:ext>
                  </a:extLst>
                </a:gridCol>
                <a:gridCol w="7552254">
                  <a:extLst>
                    <a:ext uri="{9D8B030D-6E8A-4147-A177-3AD203B41FA5}">
                      <a16:colId xmlns:a16="http://schemas.microsoft.com/office/drawing/2014/main" val="2222806471"/>
                    </a:ext>
                  </a:extLst>
                </a:gridCol>
              </a:tblGrid>
              <a:tr h="58512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100" u="none" strike="noStrike">
                          <a:effectLst/>
                        </a:rPr>
                        <a:t>API Provider</a:t>
                      </a:r>
                      <a:endParaRPr lang="en-IN" sz="3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645" marR="17645" marT="1764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100" u="none" strike="noStrike">
                          <a:effectLst/>
                        </a:rPr>
                        <a:t>Use Case</a:t>
                      </a:r>
                      <a:endParaRPr lang="en-IN" sz="3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645" marR="17645" marT="17645" marB="0" anchor="ctr"/>
                </a:tc>
                <a:extLst>
                  <a:ext uri="{0D108BD9-81ED-4DB2-BD59-A6C34878D82A}">
                    <a16:rowId xmlns:a16="http://schemas.microsoft.com/office/drawing/2014/main" val="3569310920"/>
                  </a:ext>
                </a:extLst>
              </a:tr>
              <a:tr h="58512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Google Maps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645" marR="17645" marT="176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Location tracking, route planning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645" marR="17645" marT="17645" marB="0" anchor="ctr"/>
                </a:tc>
                <a:extLst>
                  <a:ext uri="{0D108BD9-81ED-4DB2-BD59-A6C34878D82A}">
                    <a16:rowId xmlns:a16="http://schemas.microsoft.com/office/drawing/2014/main" val="730293923"/>
                  </a:ext>
                </a:extLst>
              </a:tr>
              <a:tr h="58512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PayPal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645" marR="17645" marT="176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Online payments and subscriptions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645" marR="17645" marT="17645" marB="0" anchor="ctr"/>
                </a:tc>
                <a:extLst>
                  <a:ext uri="{0D108BD9-81ED-4DB2-BD59-A6C34878D82A}">
                    <a16:rowId xmlns:a16="http://schemas.microsoft.com/office/drawing/2014/main" val="4029796909"/>
                  </a:ext>
                </a:extLst>
              </a:tr>
              <a:tr h="58512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OpenWeatherMap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645" marR="17645" marT="176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3100" u="none" strike="noStrike">
                          <a:effectLst/>
                        </a:rPr>
                        <a:t>Real-time weather data for apps</a:t>
                      </a:r>
                      <a:endParaRPr lang="en-GB" sz="3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645" marR="17645" marT="17645" marB="0" anchor="ctr"/>
                </a:tc>
                <a:extLst>
                  <a:ext uri="{0D108BD9-81ED-4DB2-BD59-A6C34878D82A}">
                    <a16:rowId xmlns:a16="http://schemas.microsoft.com/office/drawing/2014/main" val="245273167"/>
                  </a:ext>
                </a:extLst>
              </a:tr>
              <a:tr h="58512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Spotify API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645" marR="17645" marT="176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3100" u="none" strike="noStrike">
                          <a:effectLst/>
                        </a:rPr>
                        <a:t>Music streaming and playlist management</a:t>
                      </a:r>
                      <a:endParaRPr lang="en-GB" sz="3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645" marR="17645" marT="17645" marB="0" anchor="ctr"/>
                </a:tc>
                <a:extLst>
                  <a:ext uri="{0D108BD9-81ED-4DB2-BD59-A6C34878D82A}">
                    <a16:rowId xmlns:a16="http://schemas.microsoft.com/office/drawing/2014/main" val="561157378"/>
                  </a:ext>
                </a:extLst>
              </a:tr>
              <a:tr h="58512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Amazon S3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645" marR="17645" marT="176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3100" u="none" strike="noStrike">
                          <a:effectLst/>
                        </a:rPr>
                        <a:t>Cloud storage and file access</a:t>
                      </a:r>
                      <a:endParaRPr lang="en-GB" sz="3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645" marR="17645" marT="17645" marB="0" anchor="ctr"/>
                </a:tc>
                <a:extLst>
                  <a:ext uri="{0D108BD9-81ED-4DB2-BD59-A6C34878D82A}">
                    <a16:rowId xmlns:a16="http://schemas.microsoft.com/office/drawing/2014/main" val="7206708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7133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1A620B-1069-D397-A7F5-190E10DD2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 dirty="0">
                <a:solidFill>
                  <a:srgbClr val="FFFFFF"/>
                </a:solidFill>
              </a:rPr>
              <a:t>Different Types of APIs – Access levels</a:t>
            </a:r>
            <a:endParaRPr lang="en-IN" sz="4000" dirty="0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5242142-6596-7915-18CF-D67EB13451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8792418"/>
              </p:ext>
            </p:extLst>
          </p:nvPr>
        </p:nvGraphicFramePr>
        <p:xfrm>
          <a:off x="857695" y="2112579"/>
          <a:ext cx="10500553" cy="4192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292">
                  <a:extLst>
                    <a:ext uri="{9D8B030D-6E8A-4147-A177-3AD203B41FA5}">
                      <a16:colId xmlns:a16="http://schemas.microsoft.com/office/drawing/2014/main" val="3760137364"/>
                    </a:ext>
                  </a:extLst>
                </a:gridCol>
                <a:gridCol w="2978530">
                  <a:extLst>
                    <a:ext uri="{9D8B030D-6E8A-4147-A177-3AD203B41FA5}">
                      <a16:colId xmlns:a16="http://schemas.microsoft.com/office/drawing/2014/main" val="1113037685"/>
                    </a:ext>
                  </a:extLst>
                </a:gridCol>
                <a:gridCol w="2264021">
                  <a:extLst>
                    <a:ext uri="{9D8B030D-6E8A-4147-A177-3AD203B41FA5}">
                      <a16:colId xmlns:a16="http://schemas.microsoft.com/office/drawing/2014/main" val="852745171"/>
                    </a:ext>
                  </a:extLst>
                </a:gridCol>
                <a:gridCol w="3225710">
                  <a:extLst>
                    <a:ext uri="{9D8B030D-6E8A-4147-A177-3AD203B41FA5}">
                      <a16:colId xmlns:a16="http://schemas.microsoft.com/office/drawing/2014/main" val="3679770005"/>
                    </a:ext>
                  </a:extLst>
                </a:gridCol>
              </a:tblGrid>
              <a:tr h="51228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700" u="none" strike="noStrike">
                          <a:effectLst/>
                        </a:rPr>
                        <a:t>Type</a:t>
                      </a:r>
                      <a:endParaRPr lang="en-IN" sz="2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49" marR="15449" marT="154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700" u="none" strike="noStrike">
                          <a:effectLst/>
                        </a:rPr>
                        <a:t>Audience</a:t>
                      </a:r>
                      <a:endParaRPr lang="en-IN" sz="2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49" marR="15449" marT="154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700" u="none" strike="noStrike">
                          <a:effectLst/>
                        </a:rPr>
                        <a:t>Access Level</a:t>
                      </a:r>
                      <a:endParaRPr lang="en-IN" sz="2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49" marR="15449" marT="154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700" u="none" strike="noStrike">
                          <a:effectLst/>
                        </a:rPr>
                        <a:t>Common Use Case</a:t>
                      </a:r>
                      <a:endParaRPr lang="en-IN" sz="2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49" marR="15449" marT="15449" marB="0" anchor="ctr"/>
                </a:tc>
                <a:extLst>
                  <a:ext uri="{0D108BD9-81ED-4DB2-BD59-A6C34878D82A}">
                    <a16:rowId xmlns:a16="http://schemas.microsoft.com/office/drawing/2014/main" val="2915889444"/>
                  </a:ext>
                </a:extLst>
              </a:tr>
              <a:tr h="920131">
                <a:tc>
                  <a:txBody>
                    <a:bodyPr/>
                    <a:lstStyle/>
                    <a:p>
                      <a:pPr algn="l" fontAlgn="ctr"/>
                      <a:r>
                        <a:rPr lang="en-IN" sz="2700" u="none" strike="noStrike">
                          <a:effectLst/>
                        </a:rPr>
                        <a:t>Open API</a:t>
                      </a:r>
                      <a:endParaRPr lang="en-IN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49" marR="15449" marT="15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700" u="none" strike="noStrike">
                          <a:effectLst/>
                        </a:rPr>
                        <a:t>Public</a:t>
                      </a:r>
                      <a:endParaRPr lang="en-IN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49" marR="15449" marT="15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700" u="none" strike="noStrike">
                          <a:effectLst/>
                        </a:rPr>
                        <a:t>Minimal restriction</a:t>
                      </a:r>
                      <a:endParaRPr lang="en-IN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49" marR="15449" marT="15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700" u="none" strike="noStrike">
                          <a:effectLst/>
                        </a:rPr>
                        <a:t>Third-party app development</a:t>
                      </a:r>
                      <a:endParaRPr lang="en-IN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49" marR="15449" marT="15449" marB="0" anchor="ctr"/>
                </a:tc>
                <a:extLst>
                  <a:ext uri="{0D108BD9-81ED-4DB2-BD59-A6C34878D82A}">
                    <a16:rowId xmlns:a16="http://schemas.microsoft.com/office/drawing/2014/main" val="1958675792"/>
                  </a:ext>
                </a:extLst>
              </a:tr>
              <a:tr h="920131">
                <a:tc>
                  <a:txBody>
                    <a:bodyPr/>
                    <a:lstStyle/>
                    <a:p>
                      <a:pPr algn="l" fontAlgn="ctr"/>
                      <a:r>
                        <a:rPr lang="en-IN" sz="2700" u="none" strike="noStrike">
                          <a:effectLst/>
                        </a:rPr>
                        <a:t>Internal API</a:t>
                      </a:r>
                      <a:endParaRPr lang="en-IN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49" marR="15449" marT="15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700" u="none" strike="noStrike">
                          <a:effectLst/>
                        </a:rPr>
                        <a:t>Organization</a:t>
                      </a:r>
                      <a:endParaRPr lang="en-IN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49" marR="15449" marT="15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700" u="none" strike="noStrike">
                          <a:effectLst/>
                        </a:rPr>
                        <a:t>Restricted</a:t>
                      </a:r>
                      <a:endParaRPr lang="en-IN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49" marR="15449" marT="15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700" u="none" strike="noStrike">
                          <a:effectLst/>
                        </a:rPr>
                        <a:t>Internal system integration</a:t>
                      </a:r>
                      <a:endParaRPr lang="en-IN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49" marR="15449" marT="15449" marB="0" anchor="ctr"/>
                </a:tc>
                <a:extLst>
                  <a:ext uri="{0D108BD9-81ED-4DB2-BD59-A6C34878D82A}">
                    <a16:rowId xmlns:a16="http://schemas.microsoft.com/office/drawing/2014/main" val="714238555"/>
                  </a:ext>
                </a:extLst>
              </a:tr>
              <a:tr h="512283">
                <a:tc>
                  <a:txBody>
                    <a:bodyPr/>
                    <a:lstStyle/>
                    <a:p>
                      <a:pPr algn="l" fontAlgn="ctr"/>
                      <a:r>
                        <a:rPr lang="en-IN" sz="2700" u="none" strike="noStrike">
                          <a:effectLst/>
                        </a:rPr>
                        <a:t>Partner API</a:t>
                      </a:r>
                      <a:endParaRPr lang="en-IN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49" marR="15449" marT="15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700" u="none" strike="noStrike">
                          <a:effectLst/>
                        </a:rPr>
                        <a:t>Business partners</a:t>
                      </a:r>
                      <a:endParaRPr lang="en-IN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49" marR="15449" marT="15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700" u="none" strike="noStrike">
                          <a:effectLst/>
                        </a:rPr>
                        <a:t>Controlled</a:t>
                      </a:r>
                      <a:endParaRPr lang="en-IN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49" marR="15449" marT="15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700" u="none" strike="noStrike">
                          <a:effectLst/>
                        </a:rPr>
                        <a:t>B2B data sharing</a:t>
                      </a:r>
                      <a:endParaRPr lang="en-IN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49" marR="15449" marT="15449" marB="0" anchor="ctr"/>
                </a:tc>
                <a:extLst>
                  <a:ext uri="{0D108BD9-81ED-4DB2-BD59-A6C34878D82A}">
                    <a16:rowId xmlns:a16="http://schemas.microsoft.com/office/drawing/2014/main" val="1979205070"/>
                  </a:ext>
                </a:extLst>
              </a:tr>
              <a:tr h="1327980">
                <a:tc>
                  <a:txBody>
                    <a:bodyPr/>
                    <a:lstStyle/>
                    <a:p>
                      <a:pPr algn="l" fontAlgn="ctr"/>
                      <a:r>
                        <a:rPr lang="en-IN" sz="2700" u="none" strike="noStrike">
                          <a:effectLst/>
                        </a:rPr>
                        <a:t>Composite API</a:t>
                      </a:r>
                      <a:endParaRPr lang="en-IN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49" marR="15449" marT="15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700" u="none" strike="noStrike">
                          <a:effectLst/>
                        </a:rPr>
                        <a:t>Developers</a:t>
                      </a:r>
                      <a:endParaRPr lang="en-IN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49" marR="15449" marT="15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700" u="none" strike="noStrike">
                          <a:effectLst/>
                        </a:rPr>
                        <a:t>Varies</a:t>
                      </a:r>
                      <a:endParaRPr lang="en-IN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49" marR="15449" marT="15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700" u="none" strike="noStrike">
                          <a:effectLst/>
                        </a:rPr>
                        <a:t>Aggregated data from multiple sources</a:t>
                      </a:r>
                      <a:endParaRPr lang="en-GB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49" marR="15449" marT="15449" marB="0" anchor="ctr"/>
                </a:tc>
                <a:extLst>
                  <a:ext uri="{0D108BD9-81ED-4DB2-BD59-A6C34878D82A}">
                    <a16:rowId xmlns:a16="http://schemas.microsoft.com/office/drawing/2014/main" val="34503906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0772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62DEBE-19BA-86AC-0B63-B65E24B27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Types of APIs – Based on Protocols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DD1B4DC-5CDB-5F1F-4B7E-AC84EC15DC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9854586"/>
              </p:ext>
            </p:extLst>
          </p:nvPr>
        </p:nvGraphicFramePr>
        <p:xfrm>
          <a:off x="644056" y="2214219"/>
          <a:ext cx="10927830" cy="39895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7289">
                  <a:extLst>
                    <a:ext uri="{9D8B030D-6E8A-4147-A177-3AD203B41FA5}">
                      <a16:colId xmlns:a16="http://schemas.microsoft.com/office/drawing/2014/main" val="7861198"/>
                    </a:ext>
                  </a:extLst>
                </a:gridCol>
                <a:gridCol w="5009691">
                  <a:extLst>
                    <a:ext uri="{9D8B030D-6E8A-4147-A177-3AD203B41FA5}">
                      <a16:colId xmlns:a16="http://schemas.microsoft.com/office/drawing/2014/main" val="1438311301"/>
                    </a:ext>
                  </a:extLst>
                </a:gridCol>
                <a:gridCol w="4340850">
                  <a:extLst>
                    <a:ext uri="{9D8B030D-6E8A-4147-A177-3AD203B41FA5}">
                      <a16:colId xmlns:a16="http://schemas.microsoft.com/office/drawing/2014/main" val="1121631914"/>
                    </a:ext>
                  </a:extLst>
                </a:gridCol>
              </a:tblGrid>
              <a:tr h="48744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500" u="none" strike="noStrike">
                          <a:effectLst/>
                        </a:rPr>
                        <a:t>API Style</a:t>
                      </a:r>
                      <a:endParaRPr lang="en-IN" sz="2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700" marR="14700" marT="147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500" u="none" strike="noStrike">
                          <a:effectLst/>
                        </a:rPr>
                        <a:t>Description</a:t>
                      </a:r>
                      <a:endParaRPr lang="en-IN" sz="2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700" marR="14700" marT="147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500" u="none" strike="noStrike">
                          <a:effectLst/>
                        </a:rPr>
                        <a:t>Example Use Case</a:t>
                      </a:r>
                      <a:endParaRPr lang="en-IN" sz="2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700" marR="14700" marT="14700" marB="0" anchor="ctr"/>
                </a:tc>
                <a:extLst>
                  <a:ext uri="{0D108BD9-81ED-4DB2-BD59-A6C34878D82A}">
                    <a16:rowId xmlns:a16="http://schemas.microsoft.com/office/drawing/2014/main" val="2510270589"/>
                  </a:ext>
                </a:extLst>
              </a:tr>
              <a:tr h="875520">
                <a:tc>
                  <a:txBody>
                    <a:bodyPr/>
                    <a:lstStyle/>
                    <a:p>
                      <a:pPr algn="l" fontAlgn="ctr"/>
                      <a:r>
                        <a:rPr lang="en-IN" sz="2500" u="none" strike="noStrike">
                          <a:effectLst/>
                        </a:rPr>
                        <a:t>REST</a:t>
                      </a:r>
                      <a:endParaRPr lang="en-IN" sz="2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700" marR="14700" marT="147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500" u="none" strike="noStrike">
                          <a:effectLst/>
                        </a:rPr>
                        <a:t>Stateless, uses HTTP methods</a:t>
                      </a:r>
                      <a:endParaRPr lang="en-IN" sz="2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700" marR="14700" marT="147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500" u="none" strike="noStrike">
                          <a:effectLst/>
                        </a:rPr>
                        <a:t>Most modern web services (e.g., GitHub)</a:t>
                      </a:r>
                      <a:endParaRPr lang="en-GB" sz="2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700" marR="14700" marT="14700" marB="0" anchor="ctr"/>
                </a:tc>
                <a:extLst>
                  <a:ext uri="{0D108BD9-81ED-4DB2-BD59-A6C34878D82A}">
                    <a16:rowId xmlns:a16="http://schemas.microsoft.com/office/drawing/2014/main" val="892559474"/>
                  </a:ext>
                </a:extLst>
              </a:tr>
              <a:tr h="875520">
                <a:tc>
                  <a:txBody>
                    <a:bodyPr/>
                    <a:lstStyle/>
                    <a:p>
                      <a:pPr algn="l" fontAlgn="ctr"/>
                      <a:r>
                        <a:rPr lang="en-IN" sz="2500" u="none" strike="noStrike">
                          <a:effectLst/>
                        </a:rPr>
                        <a:t>SOAP</a:t>
                      </a:r>
                      <a:endParaRPr lang="en-IN" sz="2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700" marR="14700" marT="147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500" u="none" strike="noStrike">
                          <a:effectLst/>
                        </a:rPr>
                        <a:t>XML-based, strict structure</a:t>
                      </a:r>
                      <a:endParaRPr lang="en-IN" sz="2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700" marR="14700" marT="147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500" u="none" strike="noStrike">
                          <a:effectLst/>
                        </a:rPr>
                        <a:t>Enterprise apps like banking systems</a:t>
                      </a:r>
                      <a:endParaRPr lang="en-GB" sz="2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700" marR="14700" marT="14700" marB="0" anchor="ctr"/>
                </a:tc>
                <a:extLst>
                  <a:ext uri="{0D108BD9-81ED-4DB2-BD59-A6C34878D82A}">
                    <a16:rowId xmlns:a16="http://schemas.microsoft.com/office/drawing/2014/main" val="1369479470"/>
                  </a:ext>
                </a:extLst>
              </a:tr>
              <a:tr h="875520">
                <a:tc>
                  <a:txBody>
                    <a:bodyPr/>
                    <a:lstStyle/>
                    <a:p>
                      <a:pPr algn="l" fontAlgn="ctr"/>
                      <a:r>
                        <a:rPr lang="en-IN" sz="2500" u="none" strike="noStrike">
                          <a:effectLst/>
                        </a:rPr>
                        <a:t>GraphQL</a:t>
                      </a:r>
                      <a:endParaRPr lang="en-IN" sz="2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700" marR="14700" marT="147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500" u="none" strike="noStrike">
                          <a:effectLst/>
                        </a:rPr>
                        <a:t>Flexible queries, client controls data shape</a:t>
                      </a:r>
                      <a:endParaRPr lang="en-IN" sz="2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700" marR="14700" marT="147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500" u="none" strike="noStrike">
                          <a:effectLst/>
                        </a:rPr>
                        <a:t>Facebook APIs, Shopify</a:t>
                      </a:r>
                      <a:endParaRPr lang="en-IN" sz="2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700" marR="14700" marT="14700" marB="0" anchor="ctr"/>
                </a:tc>
                <a:extLst>
                  <a:ext uri="{0D108BD9-81ED-4DB2-BD59-A6C34878D82A}">
                    <a16:rowId xmlns:a16="http://schemas.microsoft.com/office/drawing/2014/main" val="3930765195"/>
                  </a:ext>
                </a:extLst>
              </a:tr>
              <a:tr h="875520">
                <a:tc>
                  <a:txBody>
                    <a:bodyPr/>
                    <a:lstStyle/>
                    <a:p>
                      <a:pPr algn="l" fontAlgn="ctr"/>
                      <a:r>
                        <a:rPr lang="en-IN" sz="2500" u="none" strike="noStrike">
                          <a:effectLst/>
                        </a:rPr>
                        <a:t>gRPC</a:t>
                      </a:r>
                      <a:endParaRPr lang="en-IN" sz="2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700" marR="14700" marT="147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500" u="none" strike="noStrike">
                          <a:effectLst/>
                        </a:rPr>
                        <a:t>High-performance, binary format, uses Protocol Buffers</a:t>
                      </a:r>
                      <a:endParaRPr lang="en-GB" sz="2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700" marR="14700" marT="147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500" u="none" strike="noStrike">
                          <a:effectLst/>
                        </a:rPr>
                        <a:t>Microservices in large-scale systems</a:t>
                      </a:r>
                      <a:endParaRPr lang="en-IN" sz="2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700" marR="14700" marT="14700" marB="0" anchor="ctr"/>
                </a:tc>
                <a:extLst>
                  <a:ext uri="{0D108BD9-81ED-4DB2-BD59-A6C34878D82A}">
                    <a16:rowId xmlns:a16="http://schemas.microsoft.com/office/drawing/2014/main" val="1912825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3955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E95AE3-BD56-C59C-779C-25C74D0E5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>
                <a:solidFill>
                  <a:schemeClr val="bg1"/>
                </a:solidFill>
              </a:rPr>
              <a:t>REST APIs</a:t>
            </a:r>
            <a:endParaRPr lang="en-IN" sz="4000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69025-2CD4-DAD4-B6F3-4337438A8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4659" y="2207225"/>
            <a:ext cx="10829612" cy="39956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/>
              <a:t>REST (Representational State Transfer)</a:t>
            </a:r>
            <a:r>
              <a:rPr lang="en-GB" sz="2400" dirty="0"/>
              <a:t> is an architectural style for designing networked applications. A REST API (or RESTful API) allows systems to communicate over HTTP using standardized methods.</a:t>
            </a:r>
          </a:p>
          <a:p>
            <a:pPr marL="0" indent="0">
              <a:buNone/>
            </a:pPr>
            <a:endParaRPr lang="en-GB" sz="2400" b="1" dirty="0"/>
          </a:p>
          <a:p>
            <a:pPr marL="0" indent="0">
              <a:buNone/>
            </a:pPr>
            <a:r>
              <a:rPr lang="en-GB" sz="2400" b="1" dirty="0"/>
              <a:t>Key Concepts:</a:t>
            </a:r>
          </a:p>
          <a:p>
            <a:r>
              <a:rPr lang="en-GB" sz="2400" b="1" dirty="0"/>
              <a:t>Client:</a:t>
            </a:r>
            <a:r>
              <a:rPr lang="en-GB" sz="2400" dirty="0"/>
              <a:t> The application making the request (e.g., browser, mobile app)</a:t>
            </a:r>
          </a:p>
          <a:p>
            <a:r>
              <a:rPr lang="en-GB" sz="2400" b="1" dirty="0"/>
              <a:t>Server:</a:t>
            </a:r>
            <a:r>
              <a:rPr lang="en-GB" sz="2400" dirty="0"/>
              <a:t> The system hosting the resource</a:t>
            </a:r>
          </a:p>
          <a:p>
            <a:r>
              <a:rPr lang="en-GB" sz="2400" b="1" dirty="0"/>
              <a:t>Resource:</a:t>
            </a:r>
            <a:r>
              <a:rPr lang="en-GB" sz="2400" dirty="0"/>
              <a:t> Any data object (e.g., user, product, post)</a:t>
            </a:r>
          </a:p>
          <a:p>
            <a:r>
              <a:rPr lang="en-GB" sz="2400" b="1" dirty="0"/>
              <a:t>Representation:</a:t>
            </a:r>
            <a:r>
              <a:rPr lang="en-GB" sz="2400" dirty="0"/>
              <a:t> The format in which data is returned (usually JSON or XML)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32598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DD78B0-FB0C-D4D5-F190-29695E0B6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Features of REST APIs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5E6262E4-B376-CA6F-88A0-34F13D3EDE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429234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15522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4F49C15-96F9-1BC1-0D34-31183C8640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0000778"/>
              </p:ext>
            </p:extLst>
          </p:nvPr>
        </p:nvGraphicFramePr>
        <p:xfrm>
          <a:off x="643467" y="1165147"/>
          <a:ext cx="10905067" cy="4527707"/>
        </p:xfrm>
        <a:graphic>
          <a:graphicData uri="http://schemas.openxmlformats.org/drawingml/2006/table">
            <a:tbl>
              <a:tblPr firstRow="1" bandRow="1">
                <a:solidFill>
                  <a:srgbClr val="F7F7F7"/>
                </a:solidFill>
                <a:tableStyleId>{5C22544A-7EE6-4342-B048-85BDC9FD1C3A}</a:tableStyleId>
              </a:tblPr>
              <a:tblGrid>
                <a:gridCol w="3068686">
                  <a:extLst>
                    <a:ext uri="{9D8B030D-6E8A-4147-A177-3AD203B41FA5}">
                      <a16:colId xmlns:a16="http://schemas.microsoft.com/office/drawing/2014/main" val="2320469426"/>
                    </a:ext>
                  </a:extLst>
                </a:gridCol>
                <a:gridCol w="7836381">
                  <a:extLst>
                    <a:ext uri="{9D8B030D-6E8A-4147-A177-3AD203B41FA5}">
                      <a16:colId xmlns:a16="http://schemas.microsoft.com/office/drawing/2014/main" val="1410945368"/>
                    </a:ext>
                  </a:extLst>
                </a:gridCol>
              </a:tblGrid>
              <a:tr h="77830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900" b="1" u="none" strike="noStrike" cap="all" spc="60">
                          <a:solidFill>
                            <a:schemeClr val="tx1"/>
                          </a:solidFill>
                          <a:effectLst/>
                        </a:rPr>
                        <a:t>Feature</a:t>
                      </a:r>
                      <a:endParaRPr lang="en-IN" sz="1900" b="1" i="0" u="none" strike="noStrike" cap="all" spc="6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16196" marR="216196" marT="216196" marB="2161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900" b="1" u="none" strike="noStrike" cap="all" spc="60">
                          <a:solidFill>
                            <a:schemeClr val="tx1"/>
                          </a:solidFill>
                          <a:effectLst/>
                        </a:rPr>
                        <a:t>Description</a:t>
                      </a:r>
                      <a:endParaRPr lang="en-IN" sz="1900" b="1" i="0" u="none" strike="noStrike" cap="all" spc="6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16196" marR="216196" marT="216196" marB="2161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2994430"/>
                  </a:ext>
                </a:extLst>
              </a:tr>
              <a:tr h="980489">
                <a:tc>
                  <a:txBody>
                    <a:bodyPr/>
                    <a:lstStyle/>
                    <a:p>
                      <a:pPr algn="l" fontAlgn="ctr"/>
                      <a:r>
                        <a:rPr lang="en-IN" sz="2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Stateless</a:t>
                      </a:r>
                      <a:endParaRPr lang="en-IN" sz="2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09" marR="10009" marT="10009" marB="14413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No session data stored on server; each request is self-contained</a:t>
                      </a:r>
                      <a:endParaRPr lang="en-GB" sz="2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09" marR="10009" marT="10009" marB="14413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0300690"/>
                  </a:ext>
                </a:extLst>
              </a:tr>
              <a:tr h="596141">
                <a:tc>
                  <a:txBody>
                    <a:bodyPr/>
                    <a:lstStyle/>
                    <a:p>
                      <a:pPr algn="l" fontAlgn="ctr"/>
                      <a:r>
                        <a:rPr lang="en-IN" sz="2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Cacheable</a:t>
                      </a:r>
                      <a:endParaRPr lang="en-IN" sz="2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09" marR="10009" marT="10009" marB="14413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Responses can be cached to improve performance</a:t>
                      </a:r>
                      <a:endParaRPr lang="en-GB" sz="2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09" marR="10009" marT="10009" marB="14413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192157"/>
                  </a:ext>
                </a:extLst>
              </a:tr>
              <a:tr h="596141">
                <a:tc>
                  <a:txBody>
                    <a:bodyPr/>
                    <a:lstStyle/>
                    <a:p>
                      <a:pPr algn="l" fontAlgn="ctr"/>
                      <a:r>
                        <a:rPr lang="en-IN" sz="2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Uniform Interface</a:t>
                      </a:r>
                      <a:endParaRPr lang="en-IN" sz="2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09" marR="10009" marT="10009" marB="14413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Consistent use of URIs, methods, and status codes</a:t>
                      </a:r>
                      <a:endParaRPr lang="en-GB" sz="2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09" marR="10009" marT="10009" marB="14413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7674724"/>
                  </a:ext>
                </a:extLst>
              </a:tr>
              <a:tr h="980489">
                <a:tc>
                  <a:txBody>
                    <a:bodyPr/>
                    <a:lstStyle/>
                    <a:p>
                      <a:pPr algn="l" fontAlgn="ctr"/>
                      <a:r>
                        <a:rPr lang="en-IN" sz="2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Layered System</a:t>
                      </a:r>
                      <a:endParaRPr lang="en-IN" sz="2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09" marR="10009" marT="10009" marB="14413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APIs can be deployed across multiple layers for scalability and security</a:t>
                      </a:r>
                      <a:endParaRPr lang="en-GB" sz="2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09" marR="10009" marT="10009" marB="14413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5628641"/>
                  </a:ext>
                </a:extLst>
              </a:tr>
              <a:tr h="596141">
                <a:tc>
                  <a:txBody>
                    <a:bodyPr/>
                    <a:lstStyle/>
                    <a:p>
                      <a:pPr algn="l" fontAlgn="ctr"/>
                      <a:r>
                        <a:rPr lang="en-IN" sz="2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Client-Server Model</a:t>
                      </a:r>
                      <a:endParaRPr lang="en-IN" sz="2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09" marR="10009" marT="10009" marB="14413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Separation of concerns between client and server</a:t>
                      </a:r>
                      <a:endParaRPr lang="en-GB" sz="25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09" marR="10009" marT="10009" marB="14413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8969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4829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44D292-8727-D428-12BD-AE9AA91C9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GB" sz="5400" dirty="0"/>
              <a:t>How REST APIs Work</a:t>
            </a:r>
            <a:endParaRPr lang="en-IN" sz="5400" dirty="0"/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01798-6354-43B9-3DD8-15F19F249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2807208"/>
            <a:ext cx="5399315" cy="3011627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en-GB" sz="2000" b="1" dirty="0"/>
              <a:t>Client-Server Communication: </a:t>
            </a:r>
            <a:r>
              <a:rPr lang="en-GB" sz="2000" dirty="0"/>
              <a:t>The client sends a request to the server using a specific HTTP method (GET, POST, PUT, DELETE).</a:t>
            </a:r>
          </a:p>
          <a:p>
            <a:pPr marL="0" indent="0">
              <a:buNone/>
            </a:pPr>
            <a:r>
              <a:rPr lang="en-GB" sz="2000" dirty="0"/>
              <a:t>The server processes the request and returns a response, usually in JSON format. 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b="1" dirty="0"/>
              <a:t>Resources and URIs: </a:t>
            </a:r>
            <a:r>
              <a:rPr lang="en-GB" sz="2000" dirty="0"/>
              <a:t>A resource is any data object (e.g., user, product, post).Each resource is identified by a URI (Uniform Resource Identifier).Example: /users/123 refers to the user with ID 123.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57A205-8386-A3D9-5520-D7D001294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714" y="1254328"/>
            <a:ext cx="6006302" cy="4349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4854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AD7C5BE-418C-4A44-91BF-28E411F75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120" y="1559052"/>
            <a:ext cx="10271760" cy="4347972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0D7A64-48AA-5482-2594-20ADF1CA5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ln>
            <a:solidFill>
              <a:srgbClr val="404040"/>
            </a:solidFill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z="4500" b="1" u="sng" dirty="0">
                <a:solidFill>
                  <a:srgbClr val="002060"/>
                </a:solidFill>
                <a:effectLst/>
              </a:rPr>
              <a:t>URN, URL and URI </a:t>
            </a:r>
            <a:endParaRPr lang="en-US" sz="4500" b="1" u="sng" dirty="0">
              <a:solidFill>
                <a:srgbClr val="002060"/>
              </a:solidFill>
            </a:endParaRPr>
          </a:p>
        </p:txBody>
      </p:sp>
      <p:pic>
        <p:nvPicPr>
          <p:cNvPr id="5" name="Picture 4" descr="A close-up of a web page&#10;&#10;AI-generated content may be incorrect.">
            <a:extLst>
              <a:ext uri="{FF2B5EF4-FFF2-40B4-BE49-F238E27FC236}">
                <a16:creationId xmlns:a16="http://schemas.microsoft.com/office/drawing/2014/main" id="{0D4D04A9-CEAC-CD7A-070E-DDB019758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0919" y="2500884"/>
            <a:ext cx="7661836" cy="2930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051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680840-2EF7-CF02-308F-A5C9E4247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GB" sz="4800"/>
              <a:t>Types of HTTPS Methods in REST APIs</a:t>
            </a:r>
            <a:endParaRPr lang="en-IN" sz="48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E3F9AA8-88F8-1498-EA4D-1A60F2AC5A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1915342"/>
              </p:ext>
            </p:extLst>
          </p:nvPr>
        </p:nvGraphicFramePr>
        <p:xfrm>
          <a:off x="1166497" y="3017519"/>
          <a:ext cx="9854651" cy="3209904"/>
        </p:xfrm>
        <a:graphic>
          <a:graphicData uri="http://schemas.openxmlformats.org/drawingml/2006/table">
            <a:tbl>
              <a:tblPr/>
              <a:tblGrid>
                <a:gridCol w="1833208">
                  <a:extLst>
                    <a:ext uri="{9D8B030D-6E8A-4147-A177-3AD203B41FA5}">
                      <a16:colId xmlns:a16="http://schemas.microsoft.com/office/drawing/2014/main" val="3592977295"/>
                    </a:ext>
                  </a:extLst>
                </a:gridCol>
                <a:gridCol w="2230866">
                  <a:extLst>
                    <a:ext uri="{9D8B030D-6E8A-4147-A177-3AD203B41FA5}">
                      <a16:colId xmlns:a16="http://schemas.microsoft.com/office/drawing/2014/main" val="3526639852"/>
                    </a:ext>
                  </a:extLst>
                </a:gridCol>
                <a:gridCol w="3337683">
                  <a:extLst>
                    <a:ext uri="{9D8B030D-6E8A-4147-A177-3AD203B41FA5}">
                      <a16:colId xmlns:a16="http://schemas.microsoft.com/office/drawing/2014/main" val="1006258409"/>
                    </a:ext>
                  </a:extLst>
                </a:gridCol>
                <a:gridCol w="2452894">
                  <a:extLst>
                    <a:ext uri="{9D8B030D-6E8A-4147-A177-3AD203B41FA5}">
                      <a16:colId xmlns:a16="http://schemas.microsoft.com/office/drawing/2014/main" val="853428542"/>
                    </a:ext>
                  </a:extLst>
                </a:gridCol>
              </a:tblGrid>
              <a:tr h="43954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HTTP Method</a:t>
                      </a:r>
                      <a:endParaRPr lang="en-IN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55" marR="13255" marT="13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CRUD Operation</a:t>
                      </a:r>
                      <a:endParaRPr lang="en-IN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55" marR="13255" marT="13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Description</a:t>
                      </a:r>
                      <a:endParaRPr lang="en-IN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55" marR="13255" marT="13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Example Request</a:t>
                      </a:r>
                      <a:endParaRPr lang="en-IN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55" marR="13255" marT="13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487950"/>
                  </a:ext>
                </a:extLst>
              </a:tr>
              <a:tr h="43954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GET</a:t>
                      </a:r>
                      <a:endParaRPr lang="en-IN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55" marR="13255" marT="13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Read</a:t>
                      </a:r>
                      <a:endParaRPr lang="en-IN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55" marR="13255" marT="13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Retrieve data</a:t>
                      </a:r>
                      <a:endParaRPr lang="en-IN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55" marR="13255" marT="13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GET /products/101</a:t>
                      </a:r>
                      <a:endParaRPr lang="en-IN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55" marR="13255" marT="13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9604640"/>
                  </a:ext>
                </a:extLst>
              </a:tr>
              <a:tr h="43954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POST</a:t>
                      </a:r>
                      <a:endParaRPr lang="en-IN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55" marR="13255" marT="13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Create</a:t>
                      </a:r>
                      <a:endParaRPr lang="en-IN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55" marR="13255" marT="13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Add new data</a:t>
                      </a:r>
                      <a:endParaRPr lang="en-IN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55" marR="13255" marT="13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POST /products</a:t>
                      </a:r>
                      <a:endParaRPr lang="en-IN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55" marR="13255" marT="13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7739358"/>
                  </a:ext>
                </a:extLst>
              </a:tr>
              <a:tr h="43954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PUT</a:t>
                      </a:r>
                      <a:endParaRPr lang="en-IN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55" marR="13255" marT="13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Update</a:t>
                      </a:r>
                      <a:endParaRPr lang="en-IN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55" marR="13255" marT="13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Replace existing data</a:t>
                      </a:r>
                      <a:endParaRPr lang="en-IN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55" marR="13255" marT="13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PUT /products/101</a:t>
                      </a:r>
                      <a:endParaRPr lang="en-IN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55" marR="13255" marT="13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0739116"/>
                  </a:ext>
                </a:extLst>
              </a:tr>
              <a:tr h="7258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PATCH</a:t>
                      </a:r>
                      <a:endParaRPr lang="en-IN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55" marR="13255" marT="13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Update</a:t>
                      </a:r>
                      <a:endParaRPr lang="en-IN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55" marR="13255" marT="13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Modify part of existing data</a:t>
                      </a:r>
                      <a:endParaRPr lang="en-GB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55" marR="13255" marT="13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PATCH /products/101</a:t>
                      </a:r>
                      <a:endParaRPr lang="en-IN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55" marR="13255" marT="13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1648678"/>
                  </a:ext>
                </a:extLst>
              </a:tr>
              <a:tr h="7258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DELETE</a:t>
                      </a:r>
                      <a:endParaRPr lang="en-IN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55" marR="13255" marT="13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Delete</a:t>
                      </a:r>
                      <a:endParaRPr lang="en-IN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55" marR="13255" marT="13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Remove data</a:t>
                      </a:r>
                      <a:endParaRPr lang="en-IN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55" marR="13255" marT="13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DELETE /products/101</a:t>
                      </a:r>
                      <a:endParaRPr lang="en-IN" sz="3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55" marR="13255" marT="13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98709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01706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860DD7-927C-4E2D-346F-1EA9BC934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SOAP APIs</a:t>
            </a:r>
            <a:endParaRPr lang="en-IN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CCD0B-5AF1-9C3F-22E5-221F54E55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600" b="1" dirty="0"/>
              <a:t>SOAP (Simple Object Access Protocol)</a:t>
            </a:r>
            <a:r>
              <a:rPr lang="en-GB" sz="2600" dirty="0"/>
              <a:t> is a protocol for exchanging structured information in web services. It uses </a:t>
            </a:r>
            <a:r>
              <a:rPr lang="en-GB" sz="2600" b="1" dirty="0"/>
              <a:t>XML</a:t>
            </a:r>
            <a:r>
              <a:rPr lang="en-GB" sz="2600" dirty="0"/>
              <a:t> to encode messages and relies on </a:t>
            </a:r>
            <a:r>
              <a:rPr lang="en-GB" sz="2600" b="1" dirty="0"/>
              <a:t>HTTP</a:t>
            </a:r>
            <a:r>
              <a:rPr lang="en-GB" sz="2600" dirty="0"/>
              <a:t> or </a:t>
            </a:r>
            <a:r>
              <a:rPr lang="en-GB" sz="2600" b="1" dirty="0"/>
              <a:t>SMTP</a:t>
            </a:r>
            <a:r>
              <a:rPr lang="en-GB" sz="2600" dirty="0"/>
              <a:t> for transport.</a:t>
            </a:r>
          </a:p>
          <a:p>
            <a:pPr marL="0" indent="0">
              <a:buNone/>
            </a:pPr>
            <a:endParaRPr lang="en-GB" sz="2600" b="1" dirty="0"/>
          </a:p>
          <a:p>
            <a:pPr marL="0" indent="0">
              <a:buNone/>
            </a:pPr>
            <a:r>
              <a:rPr lang="en-GB" sz="2600" b="1" dirty="0"/>
              <a:t>Key Characteristics:</a:t>
            </a:r>
          </a:p>
          <a:p>
            <a:r>
              <a:rPr lang="en-GB" sz="2600" b="1" dirty="0"/>
              <a:t>Protocol-based</a:t>
            </a:r>
            <a:r>
              <a:rPr lang="en-GB" sz="2600" dirty="0"/>
              <a:t> (not just architectural like REST)</a:t>
            </a:r>
          </a:p>
          <a:p>
            <a:r>
              <a:rPr lang="en-GB" sz="2600" b="1" dirty="0"/>
              <a:t>Strict standards</a:t>
            </a:r>
            <a:r>
              <a:rPr lang="en-GB" sz="2600" dirty="0"/>
              <a:t> defined by W3C</a:t>
            </a:r>
          </a:p>
          <a:p>
            <a:r>
              <a:rPr lang="en-GB" sz="2600" b="1" dirty="0"/>
              <a:t>Platform and language independent</a:t>
            </a:r>
            <a:endParaRPr lang="en-GB" sz="2600" dirty="0"/>
          </a:p>
          <a:p>
            <a:r>
              <a:rPr lang="en-GB" sz="2600" b="1" dirty="0"/>
              <a:t>Built-in error handling and security features</a:t>
            </a:r>
            <a:endParaRPr lang="en-GB" sz="2600" dirty="0"/>
          </a:p>
          <a:p>
            <a:pPr marL="0" indent="0">
              <a:buNone/>
            </a:pP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11728070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F7C685-747B-B50C-AA87-C87F9E6A2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Features of SOAP APIs</a:t>
            </a:r>
            <a:endParaRPr lang="en-IN">
              <a:solidFill>
                <a:srgbClr val="FFFFFF"/>
              </a:solidFill>
            </a:endParaRP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BA48D7E-FDAC-29BF-FBA0-0A076A3A6EF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67272" y="591344"/>
            <a:ext cx="7654614" cy="55856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Strong typing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via XML Schema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Built-in error handling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with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&lt;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soap:Fault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&gt;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WS-Security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for authentication and encryption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Extensibility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through custom headers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Transport independence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(can use HTTP, SMTP, etc.)</a:t>
            </a:r>
          </a:p>
        </p:txBody>
      </p:sp>
    </p:spTree>
    <p:extLst>
      <p:ext uri="{BB962C8B-B14F-4D97-AF65-F5344CB8AC3E}">
        <p14:creationId xmlns:p14="http://schemas.microsoft.com/office/powerpoint/2010/main" val="25815730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C620202-7AD6-7BAD-B190-F634A5C5BD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1304593"/>
              </p:ext>
            </p:extLst>
          </p:nvPr>
        </p:nvGraphicFramePr>
        <p:xfrm>
          <a:off x="141514" y="0"/>
          <a:ext cx="11919857" cy="6858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8710">
                  <a:extLst>
                    <a:ext uri="{9D8B030D-6E8A-4147-A177-3AD203B41FA5}">
                      <a16:colId xmlns:a16="http://schemas.microsoft.com/office/drawing/2014/main" val="993982793"/>
                    </a:ext>
                  </a:extLst>
                </a:gridCol>
                <a:gridCol w="5449729">
                  <a:extLst>
                    <a:ext uri="{9D8B030D-6E8A-4147-A177-3AD203B41FA5}">
                      <a16:colId xmlns:a16="http://schemas.microsoft.com/office/drawing/2014/main" val="1577661215"/>
                    </a:ext>
                  </a:extLst>
                </a:gridCol>
                <a:gridCol w="4621418">
                  <a:extLst>
                    <a:ext uri="{9D8B030D-6E8A-4147-A177-3AD203B41FA5}">
                      <a16:colId xmlns:a16="http://schemas.microsoft.com/office/drawing/2014/main" val="2554905818"/>
                    </a:ext>
                  </a:extLst>
                </a:gridCol>
              </a:tblGrid>
              <a:tr h="27910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700" u="none" strike="noStrike">
                          <a:effectLst/>
                        </a:rPr>
                        <a:t>Feature</a:t>
                      </a:r>
                      <a:endParaRPr lang="en-IN" sz="1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56" marR="8656" marT="865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700" u="none" strike="noStrike">
                          <a:effectLst/>
                        </a:rPr>
                        <a:t>Description</a:t>
                      </a:r>
                      <a:endParaRPr lang="en-IN" sz="1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56" marR="8656" marT="865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700" u="none" strike="noStrike">
                          <a:effectLst/>
                        </a:rPr>
                        <a:t>Benefit</a:t>
                      </a:r>
                      <a:endParaRPr lang="en-IN" sz="1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56" marR="8656" marT="8656" marB="0" anchor="ctr"/>
                </a:tc>
                <a:extLst>
                  <a:ext uri="{0D108BD9-81ED-4DB2-BD59-A6C34878D82A}">
                    <a16:rowId xmlns:a16="http://schemas.microsoft.com/office/drawing/2014/main" val="1905621949"/>
                  </a:ext>
                </a:extLst>
              </a:tr>
              <a:tr h="549187">
                <a:tc>
                  <a:txBody>
                    <a:bodyPr/>
                    <a:lstStyle/>
                    <a:p>
                      <a:pPr algn="l" fontAlgn="ctr"/>
                      <a:r>
                        <a:rPr lang="en-IN" sz="1700" u="none" strike="noStrike">
                          <a:effectLst/>
                        </a:rPr>
                        <a:t>Protocol-Based</a:t>
                      </a:r>
                      <a:endParaRPr lang="en-IN" sz="1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56" marR="8656" marT="86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700" u="none" strike="noStrike">
                          <a:effectLst/>
                        </a:rPr>
                        <a:t>SOAP is a formal protocol with strict standards defined by W3C</a:t>
                      </a:r>
                      <a:endParaRPr lang="en-GB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56" marR="8656" marT="86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700" u="none" strike="noStrike">
                          <a:effectLst/>
                        </a:rPr>
                        <a:t>Ensures consistency and reliability across platforms</a:t>
                      </a:r>
                      <a:endParaRPr lang="en-GB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56" marR="8656" marT="8656" marB="0" anchor="ctr"/>
                </a:tc>
                <a:extLst>
                  <a:ext uri="{0D108BD9-81ED-4DB2-BD59-A6C34878D82A}">
                    <a16:rowId xmlns:a16="http://schemas.microsoft.com/office/drawing/2014/main" val="2765540923"/>
                  </a:ext>
                </a:extLst>
              </a:tr>
              <a:tr h="53784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700" u="none" strike="noStrike" dirty="0">
                          <a:effectLst/>
                        </a:rPr>
                        <a:t>XML Messaging</a:t>
                      </a:r>
                      <a:endParaRPr lang="en-IN" sz="17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56" marR="8656" marT="86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700" u="none" strike="noStrike">
                          <a:effectLst/>
                        </a:rPr>
                        <a:t>All messages are encoded in XML format</a:t>
                      </a:r>
                      <a:endParaRPr lang="en-GB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56" marR="8656" marT="86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700" u="none" strike="noStrike">
                          <a:effectLst/>
                        </a:rPr>
                        <a:t>Platform-independent and human-readable</a:t>
                      </a:r>
                      <a:endParaRPr lang="en-IN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56" marR="8656" marT="8656" marB="0" anchor="ctr"/>
                </a:tc>
                <a:extLst>
                  <a:ext uri="{0D108BD9-81ED-4DB2-BD59-A6C34878D82A}">
                    <a16:rowId xmlns:a16="http://schemas.microsoft.com/office/drawing/2014/main" val="189445724"/>
                  </a:ext>
                </a:extLst>
              </a:tr>
              <a:tr h="549187">
                <a:tc>
                  <a:txBody>
                    <a:bodyPr/>
                    <a:lstStyle/>
                    <a:p>
                      <a:pPr algn="l" fontAlgn="ctr"/>
                      <a:r>
                        <a:rPr lang="en-IN" sz="1700" u="none" strike="noStrike">
                          <a:effectLst/>
                        </a:rPr>
                        <a:t>Envelope Structure</a:t>
                      </a:r>
                      <a:endParaRPr lang="en-IN" sz="1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56" marR="8656" marT="86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700" u="none" strike="noStrike" dirty="0">
                          <a:effectLst/>
                        </a:rPr>
                        <a:t>Messages are wrapped in a SOAP envelope with optional header and mandatory body</a:t>
                      </a:r>
                      <a:endParaRPr lang="en-GB" sz="1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56" marR="8656" marT="86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700" u="none" strike="noStrike">
                          <a:effectLst/>
                        </a:rPr>
                        <a:t>Organizes message content and metadata cleanly</a:t>
                      </a:r>
                      <a:endParaRPr lang="en-GB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56" marR="8656" marT="8656" marB="0" anchor="ctr"/>
                </a:tc>
                <a:extLst>
                  <a:ext uri="{0D108BD9-81ED-4DB2-BD59-A6C34878D82A}">
                    <a16:rowId xmlns:a16="http://schemas.microsoft.com/office/drawing/2014/main" val="3427412748"/>
                  </a:ext>
                </a:extLst>
              </a:tr>
              <a:tr h="549187">
                <a:tc>
                  <a:txBody>
                    <a:bodyPr/>
                    <a:lstStyle/>
                    <a:p>
                      <a:pPr algn="l" fontAlgn="ctr"/>
                      <a:r>
                        <a:rPr lang="en-IN" sz="1700" u="none" strike="noStrike">
                          <a:effectLst/>
                        </a:rPr>
                        <a:t>Transport Flexibility</a:t>
                      </a:r>
                      <a:endParaRPr lang="en-IN" sz="1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56" marR="8656" marT="86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700" u="none" strike="noStrike" dirty="0">
                          <a:effectLst/>
                        </a:rPr>
                        <a:t>Can use HTTP, SMTP, TCP, or UDP for message transport</a:t>
                      </a:r>
                      <a:endParaRPr lang="en-GB" sz="1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56" marR="8656" marT="86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700" u="none" strike="noStrike">
                          <a:effectLst/>
                        </a:rPr>
                        <a:t>Works across diverse network environments</a:t>
                      </a:r>
                      <a:endParaRPr lang="en-GB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56" marR="8656" marT="8656" marB="0" anchor="ctr"/>
                </a:tc>
                <a:extLst>
                  <a:ext uri="{0D108BD9-81ED-4DB2-BD59-A6C34878D82A}">
                    <a16:rowId xmlns:a16="http://schemas.microsoft.com/office/drawing/2014/main" val="2089761828"/>
                  </a:ext>
                </a:extLst>
              </a:tr>
              <a:tr h="549187">
                <a:tc>
                  <a:txBody>
                    <a:bodyPr/>
                    <a:lstStyle/>
                    <a:p>
                      <a:pPr algn="l" fontAlgn="ctr"/>
                      <a:r>
                        <a:rPr lang="en-IN" sz="1700" u="none" strike="noStrike">
                          <a:effectLst/>
                        </a:rPr>
                        <a:t>WS-Security Support</a:t>
                      </a:r>
                      <a:endParaRPr lang="en-IN" sz="1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56" marR="8656" marT="86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700" u="none" strike="noStrike">
                          <a:effectLst/>
                        </a:rPr>
                        <a:t>Built-in support for encryption, authentication, and digital signatures</a:t>
                      </a:r>
                      <a:endParaRPr lang="en-GB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56" marR="8656" marT="86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700" u="none" strike="noStrike">
                          <a:effectLst/>
                        </a:rPr>
                        <a:t>Ensures secure data transmission</a:t>
                      </a:r>
                      <a:endParaRPr lang="en-IN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56" marR="8656" marT="8656" marB="0" anchor="ctr"/>
                </a:tc>
                <a:extLst>
                  <a:ext uri="{0D108BD9-81ED-4DB2-BD59-A6C34878D82A}">
                    <a16:rowId xmlns:a16="http://schemas.microsoft.com/office/drawing/2014/main" val="462340040"/>
                  </a:ext>
                </a:extLst>
              </a:tr>
              <a:tr h="549187">
                <a:tc>
                  <a:txBody>
                    <a:bodyPr/>
                    <a:lstStyle/>
                    <a:p>
                      <a:pPr algn="l" fontAlgn="ctr"/>
                      <a:r>
                        <a:rPr lang="en-IN" sz="1700" u="none" strike="noStrike">
                          <a:effectLst/>
                        </a:rPr>
                        <a:t>Extensibility</a:t>
                      </a:r>
                      <a:endParaRPr lang="en-IN" sz="1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56" marR="8656" marT="86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700" u="none" strike="noStrike" dirty="0">
                          <a:effectLst/>
                        </a:rPr>
                        <a:t>Allows custom headers and elements for additional functionality</a:t>
                      </a:r>
                      <a:endParaRPr lang="en-GB" sz="1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56" marR="8656" marT="86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700" u="none" strike="noStrike">
                          <a:effectLst/>
                        </a:rPr>
                        <a:t>Can be adapted for complex enterprise needs</a:t>
                      </a:r>
                      <a:endParaRPr lang="en-GB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56" marR="8656" marT="8656" marB="0" anchor="ctr"/>
                </a:tc>
                <a:extLst>
                  <a:ext uri="{0D108BD9-81ED-4DB2-BD59-A6C34878D82A}">
                    <a16:rowId xmlns:a16="http://schemas.microsoft.com/office/drawing/2014/main" val="765851702"/>
                  </a:ext>
                </a:extLst>
              </a:tr>
              <a:tr h="549187">
                <a:tc>
                  <a:txBody>
                    <a:bodyPr/>
                    <a:lstStyle/>
                    <a:p>
                      <a:pPr algn="l" fontAlgn="ctr"/>
                      <a:r>
                        <a:rPr lang="en-IN" sz="1700" u="none" strike="noStrike">
                          <a:effectLst/>
                        </a:rPr>
                        <a:t>Reliable Messaging</a:t>
                      </a:r>
                      <a:endParaRPr lang="en-IN" sz="1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56" marR="8656" marT="86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700" u="none" strike="noStrike" dirty="0">
                          <a:effectLst/>
                        </a:rPr>
                        <a:t>Supports message delivery guarantees and acknowledgment mechanisms</a:t>
                      </a:r>
                      <a:endParaRPr lang="en-GB" sz="1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56" marR="8656" marT="86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700" u="none" strike="noStrike">
                          <a:effectLst/>
                        </a:rPr>
                        <a:t>Ensures messages are delivered in correct order</a:t>
                      </a:r>
                      <a:endParaRPr lang="en-GB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56" marR="8656" marT="8656" marB="0" anchor="ctr"/>
                </a:tc>
                <a:extLst>
                  <a:ext uri="{0D108BD9-81ED-4DB2-BD59-A6C34878D82A}">
                    <a16:rowId xmlns:a16="http://schemas.microsoft.com/office/drawing/2014/main" val="3641533635"/>
                  </a:ext>
                </a:extLst>
              </a:tr>
              <a:tr h="549187">
                <a:tc>
                  <a:txBody>
                    <a:bodyPr/>
                    <a:lstStyle/>
                    <a:p>
                      <a:pPr algn="l" fontAlgn="ctr"/>
                      <a:r>
                        <a:rPr lang="en-IN" sz="1700" u="none" strike="noStrike">
                          <a:effectLst/>
                        </a:rPr>
                        <a:t>Error Handling</a:t>
                      </a:r>
                      <a:endParaRPr lang="en-IN" sz="1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56" marR="8656" marT="86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700" u="none" strike="noStrike">
                          <a:effectLst/>
                        </a:rPr>
                        <a:t>Uses &lt;soap:Fault&gt; element to return detailed error information</a:t>
                      </a:r>
                      <a:endParaRPr lang="en-GB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56" marR="8656" marT="86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700" u="none" strike="noStrike">
                          <a:effectLst/>
                        </a:rPr>
                        <a:t>Provides structured and informative error responses</a:t>
                      </a:r>
                      <a:endParaRPr lang="en-GB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56" marR="8656" marT="8656" marB="0" anchor="ctr"/>
                </a:tc>
                <a:extLst>
                  <a:ext uri="{0D108BD9-81ED-4DB2-BD59-A6C34878D82A}">
                    <a16:rowId xmlns:a16="http://schemas.microsoft.com/office/drawing/2014/main" val="3842431390"/>
                  </a:ext>
                </a:extLst>
              </a:tr>
              <a:tr h="549187">
                <a:tc>
                  <a:txBody>
                    <a:bodyPr/>
                    <a:lstStyle/>
                    <a:p>
                      <a:pPr algn="l" fontAlgn="ctr"/>
                      <a:r>
                        <a:rPr lang="en-IN" sz="1700" u="none" strike="noStrike">
                          <a:effectLst/>
                        </a:rPr>
                        <a:t>Platform Independence</a:t>
                      </a:r>
                      <a:endParaRPr lang="en-IN" sz="1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56" marR="8656" marT="86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700" u="none" strike="noStrike">
                          <a:effectLst/>
                        </a:rPr>
                        <a:t>Works across different operating systems and programming languages</a:t>
                      </a:r>
                      <a:endParaRPr lang="en-GB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56" marR="8656" marT="86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700" u="none" strike="noStrike">
                          <a:effectLst/>
                        </a:rPr>
                        <a:t>Ideal for heterogeneous enterprise environments</a:t>
                      </a:r>
                      <a:endParaRPr lang="en-IN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56" marR="8656" marT="8656" marB="0" anchor="ctr"/>
                </a:tc>
                <a:extLst>
                  <a:ext uri="{0D108BD9-81ED-4DB2-BD59-A6C34878D82A}">
                    <a16:rowId xmlns:a16="http://schemas.microsoft.com/office/drawing/2014/main" val="1572520776"/>
                  </a:ext>
                </a:extLst>
              </a:tr>
              <a:tr h="549187">
                <a:tc>
                  <a:txBody>
                    <a:bodyPr/>
                    <a:lstStyle/>
                    <a:p>
                      <a:pPr algn="l" fontAlgn="ctr"/>
                      <a:r>
                        <a:rPr lang="en-IN" sz="1700" u="none" strike="noStrike">
                          <a:effectLst/>
                        </a:rPr>
                        <a:t>Strong Typing</a:t>
                      </a:r>
                      <a:endParaRPr lang="en-IN" sz="1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56" marR="8656" marT="86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700" u="none" strike="noStrike">
                          <a:effectLst/>
                        </a:rPr>
                        <a:t>Uses XML Schema for defining data types</a:t>
                      </a:r>
                      <a:endParaRPr lang="en-IN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56" marR="8656" marT="86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700" u="none" strike="noStrike">
                          <a:effectLst/>
                        </a:rPr>
                        <a:t>Reduces ambiguity and enforces data integrity</a:t>
                      </a:r>
                      <a:endParaRPr lang="en-GB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56" marR="8656" marT="8656" marB="0" anchor="ctr"/>
                </a:tc>
                <a:extLst>
                  <a:ext uri="{0D108BD9-81ED-4DB2-BD59-A6C34878D82A}">
                    <a16:rowId xmlns:a16="http://schemas.microsoft.com/office/drawing/2014/main" val="2689084717"/>
                  </a:ext>
                </a:extLst>
              </a:tr>
              <a:tr h="549187">
                <a:tc>
                  <a:txBody>
                    <a:bodyPr/>
                    <a:lstStyle/>
                    <a:p>
                      <a:pPr algn="l" fontAlgn="ctr"/>
                      <a:r>
                        <a:rPr lang="en-IN" sz="1700" u="none" strike="noStrike">
                          <a:effectLst/>
                        </a:rPr>
                        <a:t>RPC Support</a:t>
                      </a:r>
                      <a:endParaRPr lang="en-IN" sz="1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56" marR="8656" marT="86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700" u="none" strike="noStrike">
                          <a:effectLst/>
                        </a:rPr>
                        <a:t>Can perform Remote Procedure Calls (RPC) via XML</a:t>
                      </a:r>
                      <a:endParaRPr lang="en-GB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56" marR="8656" marT="86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700" u="none" strike="noStrike">
                          <a:effectLst/>
                        </a:rPr>
                        <a:t>Enables function-like interactions between systems</a:t>
                      </a:r>
                      <a:endParaRPr lang="en-GB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56" marR="8656" marT="8656" marB="0" anchor="ctr"/>
                </a:tc>
                <a:extLst>
                  <a:ext uri="{0D108BD9-81ED-4DB2-BD59-A6C34878D82A}">
                    <a16:rowId xmlns:a16="http://schemas.microsoft.com/office/drawing/2014/main" val="691538986"/>
                  </a:ext>
                </a:extLst>
              </a:tr>
              <a:tr h="549187">
                <a:tc>
                  <a:txBody>
                    <a:bodyPr/>
                    <a:lstStyle/>
                    <a:p>
                      <a:pPr algn="l" fontAlgn="ctr"/>
                      <a:r>
                        <a:rPr lang="en-IN" sz="1700" u="none" strike="noStrike">
                          <a:effectLst/>
                        </a:rPr>
                        <a:t>Firewall Friendly</a:t>
                      </a:r>
                      <a:endParaRPr lang="en-IN" sz="1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56" marR="8656" marT="86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700" u="none" strike="noStrike">
                          <a:effectLst/>
                        </a:rPr>
                        <a:t>Operates over HTTP, which is commonly allowed through firewalls</a:t>
                      </a:r>
                      <a:endParaRPr lang="en-GB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56" marR="8656" marT="86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700" u="none" strike="noStrike" dirty="0">
                          <a:effectLst/>
                        </a:rPr>
                        <a:t>Easy to deploy in secure environments</a:t>
                      </a:r>
                      <a:endParaRPr lang="en-GB" sz="1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656" marR="8656" marT="8656" marB="0" anchor="ctr"/>
                </a:tc>
                <a:extLst>
                  <a:ext uri="{0D108BD9-81ED-4DB2-BD59-A6C34878D82A}">
                    <a16:rowId xmlns:a16="http://schemas.microsoft.com/office/drawing/2014/main" val="35354819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32301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09299E-0F5C-E22C-3BFE-BFE458549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GB" sz="5400"/>
              <a:t>How SOAP APIs work</a:t>
            </a:r>
            <a:endParaRPr lang="en-IN" sz="5400"/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5DB79-28A0-8E66-3F65-6FA76E98F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57" y="2807208"/>
            <a:ext cx="3951079" cy="3410712"/>
          </a:xfrm>
        </p:spPr>
        <p:txBody>
          <a:bodyPr anchor="t">
            <a:noAutofit/>
          </a:bodyPr>
          <a:lstStyle/>
          <a:p>
            <a:r>
              <a:rPr lang="en-GB" sz="1800" dirty="0"/>
              <a:t>SOAP uses XML as the data format for messages being sent and received by an </a:t>
            </a:r>
            <a:r>
              <a:rPr lang="en-GB" sz="18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API client</a:t>
            </a:r>
            <a:r>
              <a:rPr lang="en-GB" sz="1800" dirty="0"/>
              <a:t>, and it provides four distinct dimensions to the API protocol:</a:t>
            </a:r>
          </a:p>
          <a:p>
            <a:r>
              <a:rPr lang="en-GB" sz="1800" b="1" dirty="0"/>
              <a:t>Envelope</a:t>
            </a:r>
            <a:r>
              <a:rPr lang="en-GB" sz="1800" dirty="0"/>
              <a:t>: Defining the structure of the message.</a:t>
            </a:r>
          </a:p>
          <a:p>
            <a:r>
              <a:rPr lang="en-GB" sz="1800" b="1" dirty="0"/>
              <a:t>Encoding</a:t>
            </a:r>
            <a:r>
              <a:rPr lang="en-GB" sz="1800" dirty="0"/>
              <a:t>: Rules for expressing the type of data.</a:t>
            </a:r>
          </a:p>
          <a:p>
            <a:r>
              <a:rPr lang="en-GB" sz="1800" b="1" dirty="0"/>
              <a:t>Requests</a:t>
            </a:r>
            <a:r>
              <a:rPr lang="en-GB" sz="1800" dirty="0"/>
              <a:t>: How each </a:t>
            </a:r>
            <a:r>
              <a:rPr lang="en-GB" sz="18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SOAP API request</a:t>
            </a:r>
            <a:r>
              <a:rPr lang="en-GB" sz="1800" dirty="0"/>
              <a:t> is structured.</a:t>
            </a:r>
          </a:p>
          <a:p>
            <a:r>
              <a:rPr lang="en-GB" sz="1800" b="1" dirty="0"/>
              <a:t>Responses</a:t>
            </a:r>
            <a:r>
              <a:rPr lang="en-GB" sz="1800" dirty="0"/>
              <a:t>: How each SOAP API response is structured.</a:t>
            </a:r>
          </a:p>
          <a:p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CD2F36-15B0-F570-092A-21443159C8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1098995"/>
            <a:ext cx="6903720" cy="4660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6553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073E9-8824-0D3E-A796-2D8F6569E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52309-2227-20E6-EC97-C7D62CFB3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Request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Response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A3B15A-1452-F733-9FD5-721D2C28F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706" y="1690688"/>
            <a:ext cx="8987232" cy="19830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A01DB6-9FC2-435D-9D63-8816A05AF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5705" y="4147458"/>
            <a:ext cx="8883751" cy="1843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2941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C164AD-33B3-16FC-CCB9-187277B4A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API Testing</a:t>
            </a:r>
            <a:endParaRPr lang="en-IN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EC9B4-D2CB-2CFC-1781-90632424F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b="1" dirty="0"/>
              <a:t>API Testing</a:t>
            </a:r>
            <a:r>
              <a:rPr lang="en-GB" dirty="0"/>
              <a:t> is a type of software testing that focuses on verifying that an application's </a:t>
            </a:r>
            <a:r>
              <a:rPr lang="en-GB" b="1" dirty="0"/>
              <a:t>Application Programming Interfaces (APIs)</a:t>
            </a:r>
            <a:r>
              <a:rPr lang="en-GB" dirty="0"/>
              <a:t> work as expected. It ensures that APIs:</a:t>
            </a:r>
          </a:p>
          <a:p>
            <a:r>
              <a:rPr lang="en-GB" dirty="0"/>
              <a:t>Return correct responses</a:t>
            </a:r>
          </a:p>
          <a:p>
            <a:r>
              <a:rPr lang="en-GB" dirty="0"/>
              <a:t>Handle errors gracefully</a:t>
            </a:r>
          </a:p>
          <a:p>
            <a:r>
              <a:rPr lang="en-GB" dirty="0"/>
              <a:t>Perform efficiently</a:t>
            </a:r>
          </a:p>
          <a:p>
            <a:r>
              <a:rPr lang="en-GB" dirty="0"/>
              <a:t>Are secure and scalable</a:t>
            </a:r>
          </a:p>
          <a:p>
            <a:pPr marL="0" indent="0">
              <a:buNone/>
            </a:pPr>
            <a:r>
              <a:rPr lang="en-GB" dirty="0"/>
              <a:t>Unlike UI testing, API testing is performed at the </a:t>
            </a:r>
            <a:r>
              <a:rPr lang="en-GB" b="1" dirty="0"/>
              <a:t>integration level</a:t>
            </a:r>
            <a:r>
              <a:rPr lang="en-GB" dirty="0"/>
              <a:t>, often before the UI is developed.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61346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2AFD76-8B63-9877-5272-AB1FE8EB5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IN" sz="4000">
                <a:solidFill>
                  <a:srgbClr val="FFFFFF"/>
                </a:solidFill>
              </a:rPr>
              <a:t>How API Testing Works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9C2F4D3F-8AB7-6113-F7DF-5B5364F707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5114984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017773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F9ECE0-4A4F-7482-0D7E-B9D5C1DCC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IN" sz="4000">
                <a:solidFill>
                  <a:srgbClr val="FFFFFF"/>
                </a:solidFill>
              </a:rPr>
              <a:t>Types of API Testing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361CBD8-764D-4EF5-D632-1A63AF261E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5620712"/>
              </p:ext>
            </p:extLst>
          </p:nvPr>
        </p:nvGraphicFramePr>
        <p:xfrm>
          <a:off x="1562218" y="2615979"/>
          <a:ext cx="9091505" cy="3689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6525">
                  <a:extLst>
                    <a:ext uri="{9D8B030D-6E8A-4147-A177-3AD203B41FA5}">
                      <a16:colId xmlns:a16="http://schemas.microsoft.com/office/drawing/2014/main" val="1362664675"/>
                    </a:ext>
                  </a:extLst>
                </a:gridCol>
                <a:gridCol w="6364980">
                  <a:extLst>
                    <a:ext uri="{9D8B030D-6E8A-4147-A177-3AD203B41FA5}">
                      <a16:colId xmlns:a16="http://schemas.microsoft.com/office/drawing/2014/main" val="4120538033"/>
                    </a:ext>
                  </a:extLst>
                </a:gridCol>
              </a:tblGrid>
              <a:tr h="47323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500" u="none" strike="noStrike">
                          <a:effectLst/>
                        </a:rPr>
                        <a:t>Type</a:t>
                      </a:r>
                      <a:endParaRPr lang="en-IN" sz="2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271" marR="14271" marT="1427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500" u="none" strike="noStrike">
                          <a:effectLst/>
                        </a:rPr>
                        <a:t>Purpose</a:t>
                      </a:r>
                      <a:endParaRPr lang="en-IN" sz="2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271" marR="14271" marT="14271" marB="0" anchor="ctr"/>
                </a:tc>
                <a:extLst>
                  <a:ext uri="{0D108BD9-81ED-4DB2-BD59-A6C34878D82A}">
                    <a16:rowId xmlns:a16="http://schemas.microsoft.com/office/drawing/2014/main" val="2943902556"/>
                  </a:ext>
                </a:extLst>
              </a:tr>
              <a:tr h="473235">
                <a:tc>
                  <a:txBody>
                    <a:bodyPr/>
                    <a:lstStyle/>
                    <a:p>
                      <a:pPr algn="l" fontAlgn="ctr"/>
                      <a:r>
                        <a:rPr lang="en-IN" sz="2500" u="none" strike="noStrike">
                          <a:effectLst/>
                        </a:rPr>
                        <a:t>Functional Testing</a:t>
                      </a:r>
                      <a:endParaRPr lang="en-IN" sz="2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271" marR="14271" marT="142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500" u="none" strike="noStrike">
                          <a:effectLst/>
                        </a:rPr>
                        <a:t>Validates API behavior and output</a:t>
                      </a:r>
                      <a:endParaRPr lang="en-GB" sz="2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271" marR="14271" marT="14271" marB="0" anchor="ctr"/>
                </a:tc>
                <a:extLst>
                  <a:ext uri="{0D108BD9-81ED-4DB2-BD59-A6C34878D82A}">
                    <a16:rowId xmlns:a16="http://schemas.microsoft.com/office/drawing/2014/main" val="3507158896"/>
                  </a:ext>
                </a:extLst>
              </a:tr>
              <a:tr h="473235">
                <a:tc>
                  <a:txBody>
                    <a:bodyPr/>
                    <a:lstStyle/>
                    <a:p>
                      <a:pPr algn="l" fontAlgn="ctr"/>
                      <a:r>
                        <a:rPr lang="en-IN" sz="2500" u="none" strike="noStrike">
                          <a:effectLst/>
                        </a:rPr>
                        <a:t>Security Testing</a:t>
                      </a:r>
                      <a:endParaRPr lang="en-IN" sz="2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271" marR="14271" marT="142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500" u="none" strike="noStrike">
                          <a:effectLst/>
                        </a:rPr>
                        <a:t>Checks for vulnerabilities and access control</a:t>
                      </a:r>
                      <a:endParaRPr lang="en-GB" sz="2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271" marR="14271" marT="14271" marB="0" anchor="ctr"/>
                </a:tc>
                <a:extLst>
                  <a:ext uri="{0D108BD9-81ED-4DB2-BD59-A6C34878D82A}">
                    <a16:rowId xmlns:a16="http://schemas.microsoft.com/office/drawing/2014/main" val="109992515"/>
                  </a:ext>
                </a:extLst>
              </a:tr>
              <a:tr h="473235">
                <a:tc>
                  <a:txBody>
                    <a:bodyPr/>
                    <a:lstStyle/>
                    <a:p>
                      <a:pPr algn="l" fontAlgn="ctr"/>
                      <a:r>
                        <a:rPr lang="en-IN" sz="2500" u="none" strike="noStrike">
                          <a:effectLst/>
                        </a:rPr>
                        <a:t>Load Testing</a:t>
                      </a:r>
                      <a:endParaRPr lang="en-IN" sz="2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271" marR="14271" marT="142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500" u="none" strike="noStrike">
                          <a:effectLst/>
                        </a:rPr>
                        <a:t>Measures performance under stress</a:t>
                      </a:r>
                      <a:endParaRPr lang="en-IN" sz="2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271" marR="14271" marT="14271" marB="0" anchor="ctr"/>
                </a:tc>
                <a:extLst>
                  <a:ext uri="{0D108BD9-81ED-4DB2-BD59-A6C34878D82A}">
                    <a16:rowId xmlns:a16="http://schemas.microsoft.com/office/drawing/2014/main" val="491013384"/>
                  </a:ext>
                </a:extLst>
              </a:tr>
              <a:tr h="473235">
                <a:tc>
                  <a:txBody>
                    <a:bodyPr/>
                    <a:lstStyle/>
                    <a:p>
                      <a:pPr algn="l" fontAlgn="ctr"/>
                      <a:r>
                        <a:rPr lang="en-IN" sz="2500" u="none" strike="noStrike">
                          <a:effectLst/>
                        </a:rPr>
                        <a:t>Validation Testing</a:t>
                      </a:r>
                      <a:endParaRPr lang="en-IN" sz="2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271" marR="14271" marT="142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500" u="none" strike="noStrike">
                          <a:effectLst/>
                        </a:rPr>
                        <a:t>Ensures correct data formats and values</a:t>
                      </a:r>
                      <a:endParaRPr lang="en-GB" sz="2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271" marR="14271" marT="14271" marB="0" anchor="ctr"/>
                </a:tc>
                <a:extLst>
                  <a:ext uri="{0D108BD9-81ED-4DB2-BD59-A6C34878D82A}">
                    <a16:rowId xmlns:a16="http://schemas.microsoft.com/office/drawing/2014/main" val="2326782391"/>
                  </a:ext>
                </a:extLst>
              </a:tr>
              <a:tr h="473235">
                <a:tc>
                  <a:txBody>
                    <a:bodyPr/>
                    <a:lstStyle/>
                    <a:p>
                      <a:pPr algn="l" fontAlgn="ctr"/>
                      <a:r>
                        <a:rPr lang="en-IN" sz="2500" u="none" strike="noStrike">
                          <a:effectLst/>
                        </a:rPr>
                        <a:t>Error Testing</a:t>
                      </a:r>
                      <a:endParaRPr lang="en-IN" sz="2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271" marR="14271" marT="142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500" u="none" strike="noStrike">
                          <a:effectLst/>
                        </a:rPr>
                        <a:t>Verifies handling of invalid inputs</a:t>
                      </a:r>
                      <a:endParaRPr lang="en-IN" sz="2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271" marR="14271" marT="14271" marB="0" anchor="ctr"/>
                </a:tc>
                <a:extLst>
                  <a:ext uri="{0D108BD9-81ED-4DB2-BD59-A6C34878D82A}">
                    <a16:rowId xmlns:a16="http://schemas.microsoft.com/office/drawing/2014/main" val="1657819354"/>
                  </a:ext>
                </a:extLst>
              </a:tr>
              <a:tr h="849996">
                <a:tc>
                  <a:txBody>
                    <a:bodyPr/>
                    <a:lstStyle/>
                    <a:p>
                      <a:pPr algn="l" fontAlgn="ctr"/>
                      <a:r>
                        <a:rPr lang="en-IN" sz="2500" u="none" strike="noStrike">
                          <a:effectLst/>
                        </a:rPr>
                        <a:t>UI Integration</a:t>
                      </a:r>
                      <a:endParaRPr lang="en-IN" sz="2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271" marR="14271" marT="142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500" u="none" strike="noStrike">
                          <a:effectLst/>
                        </a:rPr>
                        <a:t>Confirms API works with front-end components</a:t>
                      </a:r>
                      <a:endParaRPr lang="en-GB" sz="2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271" marR="14271" marT="14271" marB="0" anchor="ctr"/>
                </a:tc>
                <a:extLst>
                  <a:ext uri="{0D108BD9-81ED-4DB2-BD59-A6C34878D82A}">
                    <a16:rowId xmlns:a16="http://schemas.microsoft.com/office/drawing/2014/main" val="2998500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14195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343" name="Rectangle 14342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45" name="Rectangle 14344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47" name="Rectangle 14346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49" name="Rectangle 14348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3196A8D5-BEDD-3F80-07C1-70787DB52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200" y="581406"/>
            <a:ext cx="11277600" cy="5695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2898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E6964B-9407-C2C6-7A41-5D1CA94A8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Popular API Testing Tools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865C4D9-52FA-7EF0-83FC-FC6F27E21C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1369150"/>
              </p:ext>
            </p:extLst>
          </p:nvPr>
        </p:nvGraphicFramePr>
        <p:xfrm>
          <a:off x="1591712" y="2615979"/>
          <a:ext cx="9032518" cy="3689406"/>
        </p:xfrm>
        <a:graphic>
          <a:graphicData uri="http://schemas.openxmlformats.org/drawingml/2006/table">
            <a:tbl>
              <a:tblPr/>
              <a:tblGrid>
                <a:gridCol w="2643371">
                  <a:extLst>
                    <a:ext uri="{9D8B030D-6E8A-4147-A177-3AD203B41FA5}">
                      <a16:colId xmlns:a16="http://schemas.microsoft.com/office/drawing/2014/main" val="1107429822"/>
                    </a:ext>
                  </a:extLst>
                </a:gridCol>
                <a:gridCol w="6389147">
                  <a:extLst>
                    <a:ext uri="{9D8B030D-6E8A-4147-A177-3AD203B41FA5}">
                      <a16:colId xmlns:a16="http://schemas.microsoft.com/office/drawing/2014/main" val="4125984537"/>
                    </a:ext>
                  </a:extLst>
                </a:gridCol>
              </a:tblGrid>
              <a:tr h="6149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3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Tool</a:t>
                      </a:r>
                      <a:endParaRPr lang="en-IN" sz="5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543" marR="18543" marT="18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3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Features</a:t>
                      </a:r>
                      <a:endParaRPr lang="en-IN" sz="5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543" marR="18543" marT="18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0087373"/>
                  </a:ext>
                </a:extLst>
              </a:tr>
              <a:tr h="6149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3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Postman</a:t>
                      </a:r>
                      <a:endParaRPr lang="en-IN" sz="5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543" marR="18543" marT="18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3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Manual testing, scripting, automation</a:t>
                      </a:r>
                      <a:endParaRPr lang="en-IN" sz="5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543" marR="18543" marT="18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8573074"/>
                  </a:ext>
                </a:extLst>
              </a:tr>
              <a:tr h="6149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3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REST Assured</a:t>
                      </a:r>
                      <a:endParaRPr lang="en-IN" sz="5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543" marR="18543" marT="18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3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Java-based automation framework</a:t>
                      </a:r>
                      <a:endParaRPr lang="en-IN" sz="5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543" marR="18543" marT="18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282156"/>
                  </a:ext>
                </a:extLst>
              </a:tr>
              <a:tr h="6149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3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SoapUI</a:t>
                      </a:r>
                      <a:endParaRPr lang="en-IN" sz="5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543" marR="18543" marT="18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3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SOAP and REST testing</a:t>
                      </a:r>
                      <a:endParaRPr lang="en-IN" sz="5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543" marR="18543" marT="18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615176"/>
                  </a:ext>
                </a:extLst>
              </a:tr>
              <a:tr h="6149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3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JMeter</a:t>
                      </a:r>
                      <a:endParaRPr lang="en-IN" sz="5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543" marR="18543" marT="18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3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Performance testing for APIs</a:t>
                      </a:r>
                      <a:endParaRPr lang="en-IN" sz="5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543" marR="18543" marT="18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614601"/>
                  </a:ext>
                </a:extLst>
              </a:tr>
              <a:tr h="6149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3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Karate</a:t>
                      </a:r>
                      <a:endParaRPr lang="en-IN" sz="5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543" marR="18543" marT="18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BDD-style API testing</a:t>
                      </a:r>
                      <a:endParaRPr lang="en-IN" sz="5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543" marR="18543" marT="18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03302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8320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1C5A0A-5DC1-5013-8122-DC974B0C8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What to Validate in API Testing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2251472-21AE-0058-5DFF-0188EB1841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0578891"/>
              </p:ext>
            </p:extLst>
          </p:nvPr>
        </p:nvGraphicFramePr>
        <p:xfrm>
          <a:off x="911445" y="2881436"/>
          <a:ext cx="10393050" cy="3158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7525">
                  <a:extLst>
                    <a:ext uri="{9D8B030D-6E8A-4147-A177-3AD203B41FA5}">
                      <a16:colId xmlns:a16="http://schemas.microsoft.com/office/drawing/2014/main" val="248037862"/>
                    </a:ext>
                  </a:extLst>
                </a:gridCol>
                <a:gridCol w="7575525">
                  <a:extLst>
                    <a:ext uri="{9D8B030D-6E8A-4147-A177-3AD203B41FA5}">
                      <a16:colId xmlns:a16="http://schemas.microsoft.com/office/drawing/2014/main" val="670170746"/>
                    </a:ext>
                  </a:extLst>
                </a:gridCol>
              </a:tblGrid>
              <a:tr h="63169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300" u="none" strike="noStrike">
                          <a:effectLst/>
                        </a:rPr>
                        <a:t>Element</a:t>
                      </a:r>
                      <a:endParaRPr lang="en-IN" sz="3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300" u="none" strike="noStrike">
                          <a:effectLst/>
                        </a:rPr>
                        <a:t>What to Check</a:t>
                      </a:r>
                      <a:endParaRPr lang="en-IN" sz="3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extLst>
                  <a:ext uri="{0D108BD9-81ED-4DB2-BD59-A6C34878D82A}">
                    <a16:rowId xmlns:a16="http://schemas.microsoft.com/office/drawing/2014/main" val="4182783523"/>
                  </a:ext>
                </a:extLst>
              </a:tr>
              <a:tr h="631698">
                <a:tc>
                  <a:txBody>
                    <a:bodyPr/>
                    <a:lstStyle/>
                    <a:p>
                      <a:pPr algn="l" fontAlgn="ctr"/>
                      <a:r>
                        <a:rPr lang="en-IN" sz="3300" u="none" strike="noStrike">
                          <a:effectLst/>
                        </a:rPr>
                        <a:t>Status Code</a:t>
                      </a:r>
                      <a:endParaRPr lang="en-IN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300" u="none" strike="noStrike">
                          <a:effectLst/>
                        </a:rPr>
                        <a:t>200, 201, 400, 401, 500, etc.</a:t>
                      </a:r>
                      <a:endParaRPr lang="en-IN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extLst>
                  <a:ext uri="{0D108BD9-81ED-4DB2-BD59-A6C34878D82A}">
                    <a16:rowId xmlns:a16="http://schemas.microsoft.com/office/drawing/2014/main" val="2733268245"/>
                  </a:ext>
                </a:extLst>
              </a:tr>
              <a:tr h="631698">
                <a:tc>
                  <a:txBody>
                    <a:bodyPr/>
                    <a:lstStyle/>
                    <a:p>
                      <a:pPr algn="l" fontAlgn="ctr"/>
                      <a:r>
                        <a:rPr lang="en-IN" sz="3300" u="none" strike="noStrike">
                          <a:effectLst/>
                        </a:rPr>
                        <a:t>Headers</a:t>
                      </a:r>
                      <a:endParaRPr lang="en-IN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300" u="none" strike="noStrike">
                          <a:effectLst/>
                        </a:rPr>
                        <a:t>Content-Type, Authorization</a:t>
                      </a:r>
                      <a:endParaRPr lang="en-IN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extLst>
                  <a:ext uri="{0D108BD9-81ED-4DB2-BD59-A6C34878D82A}">
                    <a16:rowId xmlns:a16="http://schemas.microsoft.com/office/drawing/2014/main" val="62905987"/>
                  </a:ext>
                </a:extLst>
              </a:tr>
              <a:tr h="631698">
                <a:tc>
                  <a:txBody>
                    <a:bodyPr/>
                    <a:lstStyle/>
                    <a:p>
                      <a:pPr algn="l" fontAlgn="ctr"/>
                      <a:r>
                        <a:rPr lang="en-IN" sz="3300" u="none" strike="noStrike">
                          <a:effectLst/>
                        </a:rPr>
                        <a:t>Body</a:t>
                      </a:r>
                      <a:endParaRPr lang="en-IN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300" u="none" strike="noStrike">
                          <a:effectLst/>
                        </a:rPr>
                        <a:t>JSON structure, field values</a:t>
                      </a:r>
                      <a:endParaRPr lang="en-IN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extLst>
                  <a:ext uri="{0D108BD9-81ED-4DB2-BD59-A6C34878D82A}">
                    <a16:rowId xmlns:a16="http://schemas.microsoft.com/office/drawing/2014/main" val="3242767877"/>
                  </a:ext>
                </a:extLst>
              </a:tr>
              <a:tr h="631698">
                <a:tc>
                  <a:txBody>
                    <a:bodyPr/>
                    <a:lstStyle/>
                    <a:p>
                      <a:pPr algn="l" fontAlgn="ctr"/>
                      <a:r>
                        <a:rPr lang="en-IN" sz="3300" u="none" strike="noStrike">
                          <a:effectLst/>
                        </a:rPr>
                        <a:t>Time</a:t>
                      </a:r>
                      <a:endParaRPr lang="en-IN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300" u="none" strike="noStrike" dirty="0">
                          <a:effectLst/>
                        </a:rPr>
                        <a:t>Response time in milliseconds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extLst>
                  <a:ext uri="{0D108BD9-81ED-4DB2-BD59-A6C34878D82A}">
                    <a16:rowId xmlns:a16="http://schemas.microsoft.com/office/drawing/2014/main" val="1759929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94116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A9D110-D12F-9C62-F980-3193C0047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GB"/>
              <a:t>HTTP Response Codes</a:t>
            </a:r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6B78835-C7BE-C101-D6C0-5A67A613A7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9431025"/>
              </p:ext>
            </p:extLst>
          </p:nvPr>
        </p:nvGraphicFramePr>
        <p:xfrm>
          <a:off x="947260" y="2209934"/>
          <a:ext cx="10297479" cy="3790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3579">
                  <a:extLst>
                    <a:ext uri="{9D8B030D-6E8A-4147-A177-3AD203B41FA5}">
                      <a16:colId xmlns:a16="http://schemas.microsoft.com/office/drawing/2014/main" val="2402671128"/>
                    </a:ext>
                  </a:extLst>
                </a:gridCol>
                <a:gridCol w="2247900">
                  <a:extLst>
                    <a:ext uri="{9D8B030D-6E8A-4147-A177-3AD203B41FA5}">
                      <a16:colId xmlns:a16="http://schemas.microsoft.com/office/drawing/2014/main" val="3894871301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343596265"/>
                    </a:ext>
                  </a:extLst>
                </a:gridCol>
              </a:tblGrid>
              <a:tr h="63169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300" u="none" strike="noStrike">
                          <a:effectLst/>
                        </a:rPr>
                        <a:t>Category</a:t>
                      </a:r>
                      <a:endParaRPr lang="en-IN" sz="3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300" u="none" strike="noStrike">
                          <a:effectLst/>
                        </a:rPr>
                        <a:t>Range</a:t>
                      </a:r>
                      <a:endParaRPr lang="en-IN" sz="3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300" u="none" strike="noStrike">
                          <a:effectLst/>
                        </a:rPr>
                        <a:t>Meaning</a:t>
                      </a:r>
                      <a:endParaRPr lang="en-IN" sz="3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extLst>
                  <a:ext uri="{0D108BD9-81ED-4DB2-BD59-A6C34878D82A}">
                    <a16:rowId xmlns:a16="http://schemas.microsoft.com/office/drawing/2014/main" val="164364319"/>
                  </a:ext>
                </a:extLst>
              </a:tr>
              <a:tr h="631698">
                <a:tc>
                  <a:txBody>
                    <a:bodyPr/>
                    <a:lstStyle/>
                    <a:p>
                      <a:pPr algn="l" fontAlgn="ctr"/>
                      <a:r>
                        <a:rPr lang="en-IN" sz="3300" u="none" strike="noStrike">
                          <a:effectLst/>
                        </a:rPr>
                        <a:t>1xx</a:t>
                      </a:r>
                      <a:endParaRPr lang="en-IN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300" u="none" strike="noStrike">
                          <a:effectLst/>
                        </a:rPr>
                        <a:t>100–199</a:t>
                      </a:r>
                      <a:endParaRPr lang="en-IN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300" u="none" strike="noStrike">
                          <a:effectLst/>
                        </a:rPr>
                        <a:t>Informational responses</a:t>
                      </a:r>
                      <a:endParaRPr lang="en-IN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extLst>
                  <a:ext uri="{0D108BD9-81ED-4DB2-BD59-A6C34878D82A}">
                    <a16:rowId xmlns:a16="http://schemas.microsoft.com/office/drawing/2014/main" val="2586658324"/>
                  </a:ext>
                </a:extLst>
              </a:tr>
              <a:tr h="631698">
                <a:tc>
                  <a:txBody>
                    <a:bodyPr/>
                    <a:lstStyle/>
                    <a:p>
                      <a:pPr algn="l" fontAlgn="ctr"/>
                      <a:r>
                        <a:rPr lang="en-IN" sz="3300" u="none" strike="noStrike">
                          <a:effectLst/>
                        </a:rPr>
                        <a:t>2xx</a:t>
                      </a:r>
                      <a:endParaRPr lang="en-IN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300" u="none" strike="noStrike">
                          <a:effectLst/>
                        </a:rPr>
                        <a:t>200–299</a:t>
                      </a:r>
                      <a:endParaRPr lang="en-IN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300" u="none" strike="noStrike">
                          <a:effectLst/>
                        </a:rPr>
                        <a:t>Successful responses</a:t>
                      </a:r>
                      <a:endParaRPr lang="en-IN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extLst>
                  <a:ext uri="{0D108BD9-81ED-4DB2-BD59-A6C34878D82A}">
                    <a16:rowId xmlns:a16="http://schemas.microsoft.com/office/drawing/2014/main" val="3479283120"/>
                  </a:ext>
                </a:extLst>
              </a:tr>
              <a:tr h="631698">
                <a:tc>
                  <a:txBody>
                    <a:bodyPr/>
                    <a:lstStyle/>
                    <a:p>
                      <a:pPr algn="l" fontAlgn="ctr"/>
                      <a:r>
                        <a:rPr lang="en-IN" sz="3300" u="none" strike="noStrike">
                          <a:effectLst/>
                        </a:rPr>
                        <a:t>3xx</a:t>
                      </a:r>
                      <a:endParaRPr lang="en-IN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300" u="none" strike="noStrike">
                          <a:effectLst/>
                        </a:rPr>
                        <a:t>300–399</a:t>
                      </a:r>
                      <a:endParaRPr lang="en-IN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300" u="none" strike="noStrike">
                          <a:effectLst/>
                        </a:rPr>
                        <a:t>Redirection messages</a:t>
                      </a:r>
                      <a:endParaRPr lang="en-IN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extLst>
                  <a:ext uri="{0D108BD9-81ED-4DB2-BD59-A6C34878D82A}">
                    <a16:rowId xmlns:a16="http://schemas.microsoft.com/office/drawing/2014/main" val="4261981826"/>
                  </a:ext>
                </a:extLst>
              </a:tr>
              <a:tr h="631698">
                <a:tc>
                  <a:txBody>
                    <a:bodyPr/>
                    <a:lstStyle/>
                    <a:p>
                      <a:pPr algn="l" fontAlgn="ctr"/>
                      <a:r>
                        <a:rPr lang="en-IN" sz="3300" u="none" strike="noStrike">
                          <a:effectLst/>
                        </a:rPr>
                        <a:t>4xx</a:t>
                      </a:r>
                      <a:endParaRPr lang="en-IN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300" u="none" strike="noStrike">
                          <a:effectLst/>
                        </a:rPr>
                        <a:t>400–499</a:t>
                      </a:r>
                      <a:endParaRPr lang="en-IN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300" u="none" strike="noStrike">
                          <a:effectLst/>
                        </a:rPr>
                        <a:t>Client error responses</a:t>
                      </a:r>
                      <a:endParaRPr lang="en-IN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extLst>
                  <a:ext uri="{0D108BD9-81ED-4DB2-BD59-A6C34878D82A}">
                    <a16:rowId xmlns:a16="http://schemas.microsoft.com/office/drawing/2014/main" val="581591593"/>
                  </a:ext>
                </a:extLst>
              </a:tr>
              <a:tr h="631698">
                <a:tc>
                  <a:txBody>
                    <a:bodyPr/>
                    <a:lstStyle/>
                    <a:p>
                      <a:pPr algn="l" fontAlgn="ctr"/>
                      <a:r>
                        <a:rPr lang="en-IN" sz="3300" u="none" strike="noStrike">
                          <a:effectLst/>
                        </a:rPr>
                        <a:t>5xx</a:t>
                      </a:r>
                      <a:endParaRPr lang="en-IN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300" u="none" strike="noStrike">
                          <a:effectLst/>
                        </a:rPr>
                        <a:t>500–599</a:t>
                      </a:r>
                      <a:endParaRPr lang="en-IN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300" u="none" strike="noStrike">
                          <a:effectLst/>
                        </a:rPr>
                        <a:t>Server error responses</a:t>
                      </a:r>
                      <a:endParaRPr lang="en-IN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extLst>
                  <a:ext uri="{0D108BD9-81ED-4DB2-BD59-A6C34878D82A}">
                    <a16:rowId xmlns:a16="http://schemas.microsoft.com/office/drawing/2014/main" val="8026548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03753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3299B2-3D3F-DA12-E993-F86F85B35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IN" dirty="0"/>
              <a:t>2xx – Success Codes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A946B90-06A9-2ADB-00BC-4027F87B10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1549206"/>
              </p:ext>
            </p:extLst>
          </p:nvPr>
        </p:nvGraphicFramePr>
        <p:xfrm>
          <a:off x="2089309" y="2338712"/>
          <a:ext cx="8013381" cy="3532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4926">
                  <a:extLst>
                    <a:ext uri="{9D8B030D-6E8A-4147-A177-3AD203B41FA5}">
                      <a16:colId xmlns:a16="http://schemas.microsoft.com/office/drawing/2014/main" val="520752832"/>
                    </a:ext>
                  </a:extLst>
                </a:gridCol>
                <a:gridCol w="1929765">
                  <a:extLst>
                    <a:ext uri="{9D8B030D-6E8A-4147-A177-3AD203B41FA5}">
                      <a16:colId xmlns:a16="http://schemas.microsoft.com/office/drawing/2014/main" val="916591522"/>
                    </a:ext>
                  </a:extLst>
                </a:gridCol>
                <a:gridCol w="4758690">
                  <a:extLst>
                    <a:ext uri="{9D8B030D-6E8A-4147-A177-3AD203B41FA5}">
                      <a16:colId xmlns:a16="http://schemas.microsoft.com/office/drawing/2014/main" val="154158458"/>
                    </a:ext>
                  </a:extLst>
                </a:gridCol>
              </a:tblGrid>
              <a:tr h="63169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300" u="none" strike="noStrike">
                          <a:effectLst/>
                        </a:rPr>
                        <a:t>Code</a:t>
                      </a:r>
                      <a:endParaRPr lang="en-IN" sz="3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300" u="none" strike="noStrike">
                          <a:effectLst/>
                        </a:rPr>
                        <a:t>Meaning</a:t>
                      </a:r>
                      <a:endParaRPr lang="en-IN" sz="3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300" u="none" strike="noStrike">
                          <a:effectLst/>
                        </a:rPr>
                        <a:t>Description</a:t>
                      </a:r>
                      <a:endParaRPr lang="en-IN" sz="3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extLst>
                  <a:ext uri="{0D108BD9-81ED-4DB2-BD59-A6C34878D82A}">
                    <a16:rowId xmlns:a16="http://schemas.microsoft.com/office/drawing/2014/main" val="3637723000"/>
                  </a:ext>
                </a:extLst>
              </a:tr>
              <a:tr h="631698">
                <a:tc>
                  <a:txBody>
                    <a:bodyPr/>
                    <a:lstStyle/>
                    <a:p>
                      <a:pPr algn="r" fontAlgn="ctr"/>
                      <a:r>
                        <a:rPr lang="en-IN" sz="3300" u="none" strike="noStrike">
                          <a:effectLst/>
                        </a:rPr>
                        <a:t>200</a:t>
                      </a:r>
                      <a:endParaRPr lang="en-IN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300" u="none" strike="noStrike">
                          <a:effectLst/>
                        </a:rPr>
                        <a:t>OK</a:t>
                      </a:r>
                      <a:endParaRPr lang="en-IN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300" u="none" strike="noStrike">
                          <a:effectLst/>
                        </a:rPr>
                        <a:t>Request succeeded</a:t>
                      </a:r>
                      <a:endParaRPr lang="en-IN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extLst>
                  <a:ext uri="{0D108BD9-81ED-4DB2-BD59-A6C34878D82A}">
                    <a16:rowId xmlns:a16="http://schemas.microsoft.com/office/drawing/2014/main" val="1430832007"/>
                  </a:ext>
                </a:extLst>
              </a:tr>
              <a:tr h="1134618">
                <a:tc>
                  <a:txBody>
                    <a:bodyPr/>
                    <a:lstStyle/>
                    <a:p>
                      <a:pPr algn="r" fontAlgn="ctr"/>
                      <a:r>
                        <a:rPr lang="en-IN" sz="3300" u="none" strike="noStrike">
                          <a:effectLst/>
                        </a:rPr>
                        <a:t>201</a:t>
                      </a:r>
                      <a:endParaRPr lang="en-IN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300" u="none" strike="noStrike">
                          <a:effectLst/>
                        </a:rPr>
                        <a:t>Created</a:t>
                      </a:r>
                      <a:endParaRPr lang="en-IN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300" u="none" strike="noStrike">
                          <a:effectLst/>
                        </a:rPr>
                        <a:t>Resource created successfully</a:t>
                      </a:r>
                      <a:endParaRPr lang="en-IN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extLst>
                  <a:ext uri="{0D108BD9-81ED-4DB2-BD59-A6C34878D82A}">
                    <a16:rowId xmlns:a16="http://schemas.microsoft.com/office/drawing/2014/main" val="948920458"/>
                  </a:ext>
                </a:extLst>
              </a:tr>
              <a:tr h="1134618">
                <a:tc>
                  <a:txBody>
                    <a:bodyPr/>
                    <a:lstStyle/>
                    <a:p>
                      <a:pPr algn="r" fontAlgn="ctr"/>
                      <a:r>
                        <a:rPr lang="en-IN" sz="3300" u="none" strike="noStrike">
                          <a:effectLst/>
                        </a:rPr>
                        <a:t>204</a:t>
                      </a:r>
                      <a:endParaRPr lang="en-IN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300" u="none" strike="noStrike">
                          <a:effectLst/>
                        </a:rPr>
                        <a:t>No Content</a:t>
                      </a:r>
                      <a:endParaRPr lang="en-IN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3300" u="none" strike="noStrike">
                          <a:effectLst/>
                        </a:rPr>
                        <a:t>Request succeeded, no content returned</a:t>
                      </a:r>
                      <a:endParaRPr lang="en-GB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extLst>
                  <a:ext uri="{0D108BD9-81ED-4DB2-BD59-A6C34878D82A}">
                    <a16:rowId xmlns:a16="http://schemas.microsoft.com/office/drawing/2014/main" val="22423087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14044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788D6C-0D7B-97C2-CEBB-957F782E3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fr-FR" dirty="0"/>
              <a:t>Slide 5: 3xx – Redirection Codes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6160694-7A3D-0352-5942-4C6135F304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277788"/>
              </p:ext>
            </p:extLst>
          </p:nvPr>
        </p:nvGraphicFramePr>
        <p:xfrm>
          <a:off x="1486852" y="2590172"/>
          <a:ext cx="9218295" cy="3029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4926">
                  <a:extLst>
                    <a:ext uri="{9D8B030D-6E8A-4147-A177-3AD203B41FA5}">
                      <a16:colId xmlns:a16="http://schemas.microsoft.com/office/drawing/2014/main" val="1108900202"/>
                    </a:ext>
                  </a:extLst>
                </a:gridCol>
                <a:gridCol w="2672715">
                  <a:extLst>
                    <a:ext uri="{9D8B030D-6E8A-4147-A177-3AD203B41FA5}">
                      <a16:colId xmlns:a16="http://schemas.microsoft.com/office/drawing/2014/main" val="3944446078"/>
                    </a:ext>
                  </a:extLst>
                </a:gridCol>
                <a:gridCol w="5220654">
                  <a:extLst>
                    <a:ext uri="{9D8B030D-6E8A-4147-A177-3AD203B41FA5}">
                      <a16:colId xmlns:a16="http://schemas.microsoft.com/office/drawing/2014/main" val="951345869"/>
                    </a:ext>
                  </a:extLst>
                </a:gridCol>
              </a:tblGrid>
              <a:tr h="63169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300" u="none" strike="noStrike">
                          <a:effectLst/>
                        </a:rPr>
                        <a:t>Code</a:t>
                      </a:r>
                      <a:endParaRPr lang="en-IN" sz="3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300" u="none" strike="noStrike">
                          <a:effectLst/>
                        </a:rPr>
                        <a:t>Meaning</a:t>
                      </a:r>
                      <a:endParaRPr lang="en-IN" sz="3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300" u="none" strike="noStrike">
                          <a:effectLst/>
                        </a:rPr>
                        <a:t>Description</a:t>
                      </a:r>
                      <a:endParaRPr lang="en-IN" sz="3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extLst>
                  <a:ext uri="{0D108BD9-81ED-4DB2-BD59-A6C34878D82A}">
                    <a16:rowId xmlns:a16="http://schemas.microsoft.com/office/drawing/2014/main" val="1972703393"/>
                  </a:ext>
                </a:extLst>
              </a:tr>
              <a:tr h="1134618">
                <a:tc>
                  <a:txBody>
                    <a:bodyPr/>
                    <a:lstStyle/>
                    <a:p>
                      <a:pPr algn="r" fontAlgn="ctr"/>
                      <a:r>
                        <a:rPr lang="en-IN" sz="3300" u="none" strike="noStrike">
                          <a:effectLst/>
                        </a:rPr>
                        <a:t>301</a:t>
                      </a:r>
                      <a:endParaRPr lang="en-IN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300" u="none" strike="noStrike">
                          <a:effectLst/>
                        </a:rPr>
                        <a:t>Moved Permanently</a:t>
                      </a:r>
                      <a:endParaRPr lang="en-IN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3300" u="none" strike="noStrike">
                          <a:effectLst/>
                        </a:rPr>
                        <a:t>Resource moved to a new URL</a:t>
                      </a:r>
                      <a:endParaRPr lang="en-GB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extLst>
                  <a:ext uri="{0D108BD9-81ED-4DB2-BD59-A6C34878D82A}">
                    <a16:rowId xmlns:a16="http://schemas.microsoft.com/office/drawing/2014/main" val="3618819502"/>
                  </a:ext>
                </a:extLst>
              </a:tr>
              <a:tr h="631698">
                <a:tc>
                  <a:txBody>
                    <a:bodyPr/>
                    <a:lstStyle/>
                    <a:p>
                      <a:pPr algn="r" fontAlgn="ctr"/>
                      <a:r>
                        <a:rPr lang="en-IN" sz="3300" u="none" strike="noStrike">
                          <a:effectLst/>
                        </a:rPr>
                        <a:t>302</a:t>
                      </a:r>
                      <a:endParaRPr lang="en-IN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300" u="none" strike="noStrike">
                          <a:effectLst/>
                        </a:rPr>
                        <a:t>Found</a:t>
                      </a:r>
                      <a:endParaRPr lang="en-IN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300" u="none" strike="noStrike">
                          <a:effectLst/>
                        </a:rPr>
                        <a:t>Temporary redirect</a:t>
                      </a:r>
                      <a:endParaRPr lang="en-IN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extLst>
                  <a:ext uri="{0D108BD9-81ED-4DB2-BD59-A6C34878D82A}">
                    <a16:rowId xmlns:a16="http://schemas.microsoft.com/office/drawing/2014/main" val="3077829154"/>
                  </a:ext>
                </a:extLst>
              </a:tr>
              <a:tr h="631698">
                <a:tc>
                  <a:txBody>
                    <a:bodyPr/>
                    <a:lstStyle/>
                    <a:p>
                      <a:pPr algn="r" fontAlgn="ctr"/>
                      <a:r>
                        <a:rPr lang="en-IN" sz="3300" u="none" strike="noStrike">
                          <a:effectLst/>
                        </a:rPr>
                        <a:t>304</a:t>
                      </a:r>
                      <a:endParaRPr lang="en-IN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300" u="none" strike="noStrike">
                          <a:effectLst/>
                        </a:rPr>
                        <a:t>Not Modified</a:t>
                      </a:r>
                      <a:endParaRPr lang="en-IN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3300" u="none" strike="noStrike">
                          <a:effectLst/>
                        </a:rPr>
                        <a:t>Cached version is still valid</a:t>
                      </a:r>
                      <a:endParaRPr lang="en-GB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extLst>
                  <a:ext uri="{0D108BD9-81ED-4DB2-BD59-A6C34878D82A}">
                    <a16:rowId xmlns:a16="http://schemas.microsoft.com/office/drawing/2014/main" val="9355658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62846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012174-72FB-EF39-B501-4BC63F905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IN" dirty="0"/>
              <a:t>4xx – Client Error Codes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182269B-D5AD-8FB3-E7D1-88C7EDCD0B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0234606"/>
              </p:ext>
            </p:extLst>
          </p:nvPr>
        </p:nvGraphicFramePr>
        <p:xfrm>
          <a:off x="838200" y="2186321"/>
          <a:ext cx="10515601" cy="38374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4682">
                  <a:extLst>
                    <a:ext uri="{9D8B030D-6E8A-4147-A177-3AD203B41FA5}">
                      <a16:colId xmlns:a16="http://schemas.microsoft.com/office/drawing/2014/main" val="134983955"/>
                    </a:ext>
                  </a:extLst>
                </a:gridCol>
                <a:gridCol w="3431981">
                  <a:extLst>
                    <a:ext uri="{9D8B030D-6E8A-4147-A177-3AD203B41FA5}">
                      <a16:colId xmlns:a16="http://schemas.microsoft.com/office/drawing/2014/main" val="674392097"/>
                    </a:ext>
                  </a:extLst>
                </a:gridCol>
                <a:gridCol w="5448938">
                  <a:extLst>
                    <a:ext uri="{9D8B030D-6E8A-4147-A177-3AD203B41FA5}">
                      <a16:colId xmlns:a16="http://schemas.microsoft.com/office/drawing/2014/main" val="2211066107"/>
                    </a:ext>
                  </a:extLst>
                </a:gridCol>
              </a:tblGrid>
              <a:tr h="56464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900" u="none" strike="noStrike">
                          <a:effectLst/>
                        </a:rPr>
                        <a:t>Code</a:t>
                      </a:r>
                      <a:endParaRPr lang="en-IN" sz="2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028" marR="17028" marT="1702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900" u="none" strike="noStrike">
                          <a:effectLst/>
                        </a:rPr>
                        <a:t>Meaning</a:t>
                      </a:r>
                      <a:endParaRPr lang="en-IN" sz="2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028" marR="17028" marT="1702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900" u="none" strike="noStrike">
                          <a:effectLst/>
                        </a:rPr>
                        <a:t>Description</a:t>
                      </a:r>
                      <a:endParaRPr lang="en-IN" sz="2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028" marR="17028" marT="17028" marB="0" anchor="ctr"/>
                </a:tc>
                <a:extLst>
                  <a:ext uri="{0D108BD9-81ED-4DB2-BD59-A6C34878D82A}">
                    <a16:rowId xmlns:a16="http://schemas.microsoft.com/office/drawing/2014/main" val="3829117616"/>
                  </a:ext>
                </a:extLst>
              </a:tr>
              <a:tr h="1014184">
                <a:tc>
                  <a:txBody>
                    <a:bodyPr/>
                    <a:lstStyle/>
                    <a:p>
                      <a:pPr algn="r" fontAlgn="ctr"/>
                      <a:r>
                        <a:rPr lang="en-IN" sz="2900" u="none" strike="noStrike">
                          <a:effectLst/>
                        </a:rPr>
                        <a:t>400</a:t>
                      </a:r>
                      <a:endParaRPr lang="en-IN" sz="2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028" marR="17028" marT="170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900" u="none" strike="noStrike">
                          <a:effectLst/>
                        </a:rPr>
                        <a:t>Bad Request</a:t>
                      </a:r>
                      <a:endParaRPr lang="en-IN" sz="2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028" marR="17028" marT="170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900" u="none" strike="noStrike">
                          <a:effectLst/>
                        </a:rPr>
                        <a:t>Malformed syntax or invalid request</a:t>
                      </a:r>
                      <a:endParaRPr lang="en-GB" sz="2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028" marR="17028" marT="17028" marB="0" anchor="ctr"/>
                </a:tc>
                <a:extLst>
                  <a:ext uri="{0D108BD9-81ED-4DB2-BD59-A6C34878D82A}">
                    <a16:rowId xmlns:a16="http://schemas.microsoft.com/office/drawing/2014/main" val="2561410372"/>
                  </a:ext>
                </a:extLst>
              </a:tr>
              <a:tr h="564647">
                <a:tc>
                  <a:txBody>
                    <a:bodyPr/>
                    <a:lstStyle/>
                    <a:p>
                      <a:pPr algn="r" fontAlgn="ctr"/>
                      <a:r>
                        <a:rPr lang="en-IN" sz="2900" u="none" strike="noStrike">
                          <a:effectLst/>
                        </a:rPr>
                        <a:t>401</a:t>
                      </a:r>
                      <a:endParaRPr lang="en-IN" sz="2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028" marR="17028" marT="170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900" u="none" strike="noStrike">
                          <a:effectLst/>
                        </a:rPr>
                        <a:t>Unauthorized</a:t>
                      </a:r>
                      <a:endParaRPr lang="en-IN" sz="2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028" marR="17028" marT="170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900" u="none" strike="noStrike">
                          <a:effectLst/>
                        </a:rPr>
                        <a:t>Authentication required</a:t>
                      </a:r>
                      <a:endParaRPr lang="en-IN" sz="2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028" marR="17028" marT="17028" marB="0" anchor="ctr"/>
                </a:tc>
                <a:extLst>
                  <a:ext uri="{0D108BD9-81ED-4DB2-BD59-A6C34878D82A}">
                    <a16:rowId xmlns:a16="http://schemas.microsoft.com/office/drawing/2014/main" val="1855679747"/>
                  </a:ext>
                </a:extLst>
              </a:tr>
              <a:tr h="564647">
                <a:tc>
                  <a:txBody>
                    <a:bodyPr/>
                    <a:lstStyle/>
                    <a:p>
                      <a:pPr algn="r" fontAlgn="ctr"/>
                      <a:r>
                        <a:rPr lang="en-IN" sz="2900" u="none" strike="noStrike">
                          <a:effectLst/>
                        </a:rPr>
                        <a:t>403</a:t>
                      </a:r>
                      <a:endParaRPr lang="en-IN" sz="2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028" marR="17028" marT="170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900" u="none" strike="noStrike">
                          <a:effectLst/>
                        </a:rPr>
                        <a:t>Forbidden</a:t>
                      </a:r>
                      <a:endParaRPr lang="en-IN" sz="2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028" marR="17028" marT="170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900" u="none" strike="noStrike">
                          <a:effectLst/>
                        </a:rPr>
                        <a:t>Access denied</a:t>
                      </a:r>
                      <a:endParaRPr lang="en-IN" sz="2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028" marR="17028" marT="17028" marB="0" anchor="ctr"/>
                </a:tc>
                <a:extLst>
                  <a:ext uri="{0D108BD9-81ED-4DB2-BD59-A6C34878D82A}">
                    <a16:rowId xmlns:a16="http://schemas.microsoft.com/office/drawing/2014/main" val="3795688443"/>
                  </a:ext>
                </a:extLst>
              </a:tr>
              <a:tr h="564647">
                <a:tc>
                  <a:txBody>
                    <a:bodyPr/>
                    <a:lstStyle/>
                    <a:p>
                      <a:pPr algn="r" fontAlgn="ctr"/>
                      <a:r>
                        <a:rPr lang="en-IN" sz="2900" u="none" strike="noStrike">
                          <a:effectLst/>
                        </a:rPr>
                        <a:t>404</a:t>
                      </a:r>
                      <a:endParaRPr lang="en-IN" sz="2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028" marR="17028" marT="170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900" u="none" strike="noStrike">
                          <a:effectLst/>
                        </a:rPr>
                        <a:t>Not Found</a:t>
                      </a:r>
                      <a:endParaRPr lang="en-IN" sz="2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028" marR="17028" marT="170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900" u="none" strike="noStrike">
                          <a:effectLst/>
                        </a:rPr>
                        <a:t>Resource not found</a:t>
                      </a:r>
                      <a:endParaRPr lang="en-IN" sz="2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028" marR="17028" marT="17028" marB="0" anchor="ctr"/>
                </a:tc>
                <a:extLst>
                  <a:ext uri="{0D108BD9-81ED-4DB2-BD59-A6C34878D82A}">
                    <a16:rowId xmlns:a16="http://schemas.microsoft.com/office/drawing/2014/main" val="2982817209"/>
                  </a:ext>
                </a:extLst>
              </a:tr>
              <a:tr h="564647">
                <a:tc>
                  <a:txBody>
                    <a:bodyPr/>
                    <a:lstStyle/>
                    <a:p>
                      <a:pPr algn="r" fontAlgn="ctr"/>
                      <a:r>
                        <a:rPr lang="en-IN" sz="2900" u="none" strike="noStrike">
                          <a:effectLst/>
                        </a:rPr>
                        <a:t>429</a:t>
                      </a:r>
                      <a:endParaRPr lang="en-IN" sz="2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028" marR="17028" marT="170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900" u="none" strike="noStrike">
                          <a:effectLst/>
                        </a:rPr>
                        <a:t>Too Many Requests</a:t>
                      </a:r>
                      <a:endParaRPr lang="en-IN" sz="2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028" marR="17028" marT="1702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900" u="none" strike="noStrike">
                          <a:effectLst/>
                        </a:rPr>
                        <a:t>Rate limit exceeded</a:t>
                      </a:r>
                      <a:endParaRPr lang="en-IN" sz="2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028" marR="17028" marT="17028" marB="0" anchor="ctr"/>
                </a:tc>
                <a:extLst>
                  <a:ext uri="{0D108BD9-81ED-4DB2-BD59-A6C34878D82A}">
                    <a16:rowId xmlns:a16="http://schemas.microsoft.com/office/drawing/2014/main" val="2004643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95904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E9384B-9687-AB15-0238-027F8A413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IN" dirty="0"/>
              <a:t>5xx – Server Error Codes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C110058-6BE2-16D7-D7AE-9E8C9C14B1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7568121"/>
              </p:ext>
            </p:extLst>
          </p:nvPr>
        </p:nvGraphicFramePr>
        <p:xfrm>
          <a:off x="1247171" y="1926266"/>
          <a:ext cx="9697660" cy="43575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1350">
                  <a:extLst>
                    <a:ext uri="{9D8B030D-6E8A-4147-A177-3AD203B41FA5}">
                      <a16:colId xmlns:a16="http://schemas.microsoft.com/office/drawing/2014/main" val="3096267181"/>
                    </a:ext>
                  </a:extLst>
                </a:gridCol>
                <a:gridCol w="3018477">
                  <a:extLst>
                    <a:ext uri="{9D8B030D-6E8A-4147-A177-3AD203B41FA5}">
                      <a16:colId xmlns:a16="http://schemas.microsoft.com/office/drawing/2014/main" val="1493386311"/>
                    </a:ext>
                  </a:extLst>
                </a:gridCol>
                <a:gridCol w="5137833">
                  <a:extLst>
                    <a:ext uri="{9D8B030D-6E8A-4147-A177-3AD203B41FA5}">
                      <a16:colId xmlns:a16="http://schemas.microsoft.com/office/drawing/2014/main" val="3385868389"/>
                    </a:ext>
                  </a:extLst>
                </a:gridCol>
              </a:tblGrid>
              <a:tr h="53240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u="none" strike="noStrike">
                          <a:effectLst/>
                        </a:rPr>
                        <a:t>Code</a:t>
                      </a:r>
                      <a:endParaRPr lang="en-IN" sz="2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056" marR="16056" marT="1605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u="none" strike="noStrike">
                          <a:effectLst/>
                        </a:rPr>
                        <a:t>Meaning</a:t>
                      </a:r>
                      <a:endParaRPr lang="en-IN" sz="2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056" marR="16056" marT="1605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u="none" strike="noStrike">
                          <a:effectLst/>
                        </a:rPr>
                        <a:t>Description</a:t>
                      </a:r>
                      <a:endParaRPr lang="en-IN" sz="2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056" marR="16056" marT="16056" marB="0" anchor="ctr"/>
                </a:tc>
                <a:extLst>
                  <a:ext uri="{0D108BD9-81ED-4DB2-BD59-A6C34878D82A}">
                    <a16:rowId xmlns:a16="http://schemas.microsoft.com/office/drawing/2014/main" val="2689215946"/>
                  </a:ext>
                </a:extLst>
              </a:tr>
              <a:tr h="956279">
                <a:tc>
                  <a:txBody>
                    <a:bodyPr/>
                    <a:lstStyle/>
                    <a:p>
                      <a:pPr algn="r" fontAlgn="ctr"/>
                      <a:r>
                        <a:rPr lang="en-IN" sz="2800" u="none" strike="noStrike">
                          <a:effectLst/>
                        </a:rPr>
                        <a:t>500</a:t>
                      </a:r>
                      <a:endParaRPr lang="en-IN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056" marR="16056" marT="160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800" u="none" strike="noStrike">
                          <a:effectLst/>
                        </a:rPr>
                        <a:t>Internal Server Error</a:t>
                      </a:r>
                      <a:endParaRPr lang="en-IN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056" marR="16056" marT="160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800" u="none" strike="noStrike">
                          <a:effectLst/>
                        </a:rPr>
                        <a:t>Generic server failure</a:t>
                      </a:r>
                      <a:endParaRPr lang="en-IN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056" marR="16056" marT="16056" marB="0" anchor="ctr"/>
                </a:tc>
                <a:extLst>
                  <a:ext uri="{0D108BD9-81ED-4DB2-BD59-A6C34878D82A}">
                    <a16:rowId xmlns:a16="http://schemas.microsoft.com/office/drawing/2014/main" val="1778086985"/>
                  </a:ext>
                </a:extLst>
              </a:tr>
              <a:tr h="956279">
                <a:tc>
                  <a:txBody>
                    <a:bodyPr/>
                    <a:lstStyle/>
                    <a:p>
                      <a:pPr algn="r" fontAlgn="ctr"/>
                      <a:r>
                        <a:rPr lang="en-IN" sz="2800" u="none" strike="noStrike">
                          <a:effectLst/>
                        </a:rPr>
                        <a:t>502</a:t>
                      </a:r>
                      <a:endParaRPr lang="en-IN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056" marR="16056" marT="160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800" u="none" strike="noStrike">
                          <a:effectLst/>
                        </a:rPr>
                        <a:t>Bad Gateway</a:t>
                      </a:r>
                      <a:endParaRPr lang="en-IN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056" marR="16056" marT="160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800" u="none" strike="noStrike">
                          <a:effectLst/>
                        </a:rPr>
                        <a:t>Invalid response from upstream server</a:t>
                      </a:r>
                      <a:endParaRPr lang="en-GB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056" marR="16056" marT="16056" marB="0" anchor="ctr"/>
                </a:tc>
                <a:extLst>
                  <a:ext uri="{0D108BD9-81ED-4DB2-BD59-A6C34878D82A}">
                    <a16:rowId xmlns:a16="http://schemas.microsoft.com/office/drawing/2014/main" val="2590328360"/>
                  </a:ext>
                </a:extLst>
              </a:tr>
              <a:tr h="956279">
                <a:tc>
                  <a:txBody>
                    <a:bodyPr/>
                    <a:lstStyle/>
                    <a:p>
                      <a:pPr algn="r" fontAlgn="ctr"/>
                      <a:r>
                        <a:rPr lang="en-IN" sz="2800" u="none" strike="noStrike">
                          <a:effectLst/>
                        </a:rPr>
                        <a:t>503</a:t>
                      </a:r>
                      <a:endParaRPr lang="en-IN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056" marR="16056" marT="160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800" u="none" strike="noStrike">
                          <a:effectLst/>
                        </a:rPr>
                        <a:t>Service Unavailable</a:t>
                      </a:r>
                      <a:endParaRPr lang="en-IN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056" marR="16056" marT="160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800" u="none" strike="noStrike">
                          <a:effectLst/>
                        </a:rPr>
                        <a:t>Server is down or overloaded</a:t>
                      </a:r>
                      <a:endParaRPr lang="en-GB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056" marR="16056" marT="16056" marB="0" anchor="ctr"/>
                </a:tc>
                <a:extLst>
                  <a:ext uri="{0D108BD9-81ED-4DB2-BD59-A6C34878D82A}">
                    <a16:rowId xmlns:a16="http://schemas.microsoft.com/office/drawing/2014/main" val="2595561716"/>
                  </a:ext>
                </a:extLst>
              </a:tr>
              <a:tr h="956279">
                <a:tc>
                  <a:txBody>
                    <a:bodyPr/>
                    <a:lstStyle/>
                    <a:p>
                      <a:pPr algn="r" fontAlgn="ctr"/>
                      <a:r>
                        <a:rPr lang="en-IN" sz="2800" u="none" strike="noStrike">
                          <a:effectLst/>
                        </a:rPr>
                        <a:t>504</a:t>
                      </a:r>
                      <a:endParaRPr lang="en-IN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056" marR="16056" marT="160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800" u="none" strike="noStrike">
                          <a:effectLst/>
                        </a:rPr>
                        <a:t>Gateway Timeout</a:t>
                      </a:r>
                      <a:endParaRPr lang="en-IN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056" marR="16056" marT="160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800" u="none" strike="noStrike">
                          <a:effectLst/>
                        </a:rPr>
                        <a:t>Upstream server didn’t respond in time</a:t>
                      </a:r>
                      <a:endParaRPr lang="en-GB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056" marR="16056" marT="16056" marB="0" anchor="ctr"/>
                </a:tc>
                <a:extLst>
                  <a:ext uri="{0D108BD9-81ED-4DB2-BD59-A6C34878D82A}">
                    <a16:rowId xmlns:a16="http://schemas.microsoft.com/office/drawing/2014/main" val="326440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53921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056CEF-F0EB-3EB4-9C0B-F4D580101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Components of an API Request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0DC7625-9089-99C7-F2F4-FFDAD0C98C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8988801"/>
              </p:ext>
            </p:extLst>
          </p:nvPr>
        </p:nvGraphicFramePr>
        <p:xfrm>
          <a:off x="644056" y="2796410"/>
          <a:ext cx="10927831" cy="3328545"/>
        </p:xfrm>
        <a:graphic>
          <a:graphicData uri="http://schemas.openxmlformats.org/drawingml/2006/table">
            <a:tbl>
              <a:tblPr/>
              <a:tblGrid>
                <a:gridCol w="1820059">
                  <a:extLst>
                    <a:ext uri="{9D8B030D-6E8A-4147-A177-3AD203B41FA5}">
                      <a16:colId xmlns:a16="http://schemas.microsoft.com/office/drawing/2014/main" val="1152851542"/>
                    </a:ext>
                  </a:extLst>
                </a:gridCol>
                <a:gridCol w="4485212">
                  <a:extLst>
                    <a:ext uri="{9D8B030D-6E8A-4147-A177-3AD203B41FA5}">
                      <a16:colId xmlns:a16="http://schemas.microsoft.com/office/drawing/2014/main" val="1945702683"/>
                    </a:ext>
                  </a:extLst>
                </a:gridCol>
                <a:gridCol w="4622560">
                  <a:extLst>
                    <a:ext uri="{9D8B030D-6E8A-4147-A177-3AD203B41FA5}">
                      <a16:colId xmlns:a16="http://schemas.microsoft.com/office/drawing/2014/main" val="3487545953"/>
                    </a:ext>
                  </a:extLst>
                </a:gridCol>
              </a:tblGrid>
              <a:tr h="3204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Component</a:t>
                      </a:r>
                      <a:endParaRPr lang="en-IN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63" marR="9663" marT="9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Description</a:t>
                      </a:r>
                      <a:endParaRPr lang="en-IN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63" marR="9663" marT="9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Example</a:t>
                      </a:r>
                      <a:endParaRPr lang="en-IN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63" marR="9663" marT="9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5730556"/>
                  </a:ext>
                </a:extLst>
              </a:tr>
              <a:tr h="3204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Endpoint (URL)</a:t>
                      </a:r>
                      <a:endParaRPr lang="en-IN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63" marR="9663" marT="9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The full URL that identifies the resource or service</a:t>
                      </a:r>
                      <a:endParaRPr lang="en-GB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63" marR="9663" marT="9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https://api.openai.com/v1/chat/completions</a:t>
                      </a:r>
                      <a:endParaRPr lang="en-IN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63" marR="9663" marT="9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0418358"/>
                  </a:ext>
                </a:extLst>
              </a:tr>
              <a:tr h="3204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HTTP Method</a:t>
                      </a:r>
                      <a:endParaRPr lang="en-IN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63" marR="9663" marT="9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Specifies the type of action to perform</a:t>
                      </a:r>
                      <a:endParaRPr lang="en-GB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63" marR="9663" marT="9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5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GET</a:t>
                      </a:r>
                      <a:r>
                        <a:rPr lang="en-GB" sz="1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, </a:t>
                      </a:r>
                      <a:r>
                        <a:rPr lang="en-GB" sz="15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POST</a:t>
                      </a:r>
                      <a:r>
                        <a:rPr lang="en-GB" sz="1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, </a:t>
                      </a:r>
                      <a:r>
                        <a:rPr lang="en-GB" sz="15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PUT</a:t>
                      </a:r>
                      <a:r>
                        <a:rPr lang="en-GB" sz="1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, </a:t>
                      </a:r>
                      <a:r>
                        <a:rPr lang="en-GB" sz="15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DELETE</a:t>
                      </a:r>
                      <a:r>
                        <a:rPr lang="en-GB" sz="1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, </a:t>
                      </a:r>
                      <a:r>
                        <a:rPr lang="en-GB" sz="15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PATCH</a:t>
                      </a:r>
                      <a:endParaRPr lang="en-GB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63" marR="9663" marT="9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2859735"/>
                  </a:ext>
                </a:extLst>
              </a:tr>
              <a:tr h="575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Headers</a:t>
                      </a:r>
                      <a:endParaRPr lang="en-IN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63" marR="9663" marT="9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Metadata sent with the request (e.g., authentication, content type)</a:t>
                      </a:r>
                      <a:endParaRPr lang="en-GB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63" marR="9663" marT="9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Authorization: Bearer &lt;token&gt;</a:t>
                      </a:r>
                      <a:endParaRPr lang="en-IN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63" marR="9663" marT="9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089216"/>
                  </a:ext>
                </a:extLst>
              </a:tr>
              <a:tr h="575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Query Parameters</a:t>
                      </a:r>
                      <a:endParaRPr lang="en-IN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63" marR="9663" marT="9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Key-value pairs appended to the URL for filtering or customization</a:t>
                      </a:r>
                      <a:endParaRPr lang="en-GB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63" marR="9663" marT="9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?limit=10&amp;sort=desc</a:t>
                      </a:r>
                      <a:endParaRPr lang="en-IN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63" marR="9663" marT="9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986375"/>
                  </a:ext>
                </a:extLst>
              </a:tr>
              <a:tr h="575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Request Body</a:t>
                      </a:r>
                      <a:endParaRPr lang="en-IN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63" marR="9663" marT="9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 sent with the request (usually in </a:t>
                      </a:r>
                      <a:r>
                        <a:rPr lang="en-GB" sz="15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POST</a:t>
                      </a:r>
                      <a:r>
                        <a:rPr lang="en-GB" sz="1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, </a:t>
                      </a:r>
                      <a:r>
                        <a:rPr lang="en-GB" sz="15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PUT</a:t>
                      </a:r>
                      <a:r>
                        <a:rPr lang="en-GB" sz="1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, or </a:t>
                      </a:r>
                      <a:r>
                        <a:rPr lang="en-GB" sz="15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PATCH</a:t>
                      </a:r>
                      <a:r>
                        <a:rPr lang="en-GB" sz="1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methods)</a:t>
                      </a:r>
                      <a:endParaRPr lang="en-GB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63" marR="9663" marT="9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JSON payload</a:t>
                      </a:r>
                      <a:endParaRPr lang="en-IN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63" marR="9663" marT="9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755130"/>
                  </a:ext>
                </a:extLst>
              </a:tr>
              <a:tr h="3204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Authentication</a:t>
                      </a:r>
                      <a:endParaRPr lang="en-IN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63" marR="9663" marT="9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Credentials or tokens to verify identity and access</a:t>
                      </a:r>
                      <a:endParaRPr lang="en-GB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63" marR="9663" marT="9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API key, OAuth token, JWT</a:t>
                      </a:r>
                      <a:endParaRPr lang="en-GB" sz="2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63" marR="9663" marT="9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2402129"/>
                  </a:ext>
                </a:extLst>
              </a:tr>
              <a:tr h="3204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Content Type</a:t>
                      </a:r>
                      <a:endParaRPr lang="en-IN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63" marR="9663" marT="9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Specifies the format of the request body</a:t>
                      </a:r>
                      <a:endParaRPr lang="en-GB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63" marR="9663" marT="9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application/</a:t>
                      </a:r>
                      <a:r>
                        <a:rPr lang="en-IN" sz="1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json</a:t>
                      </a:r>
                      <a:endParaRPr lang="en-IN" sz="2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63" marR="9663" marT="9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0492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77216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CFA476-210B-DD50-5284-8A6D247A9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GB" sz="8000"/>
              <a:t>Rest Assured</a:t>
            </a:r>
            <a:endParaRPr lang="en-IN" sz="80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462F67-9C17-C427-185E-083DE946D0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834555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606931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3B7DAA-1FE2-BCD3-9AA2-91095DBB0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IN" sz="8000"/>
              <a:t>Why Use REST Assured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71D04B1-0970-167D-B4EB-1D473B362C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0786066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292179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FA5AA2-B42E-35C0-29C4-91DB7B57B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IN" sz="5600"/>
              <a:t>REST Assured Architecture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CD9EDF9-FF96-4689-9595-349EEB44A1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3141281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280412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C6C4EA-F49E-B96A-E26E-6860615D9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Key Features of Rest Assured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B3C2D55-8890-7346-356E-DAD9484BBF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8387521"/>
              </p:ext>
            </p:extLst>
          </p:nvPr>
        </p:nvGraphicFramePr>
        <p:xfrm>
          <a:off x="1472089" y="2112579"/>
          <a:ext cx="9271764" cy="4192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5375">
                  <a:extLst>
                    <a:ext uri="{9D8B030D-6E8A-4147-A177-3AD203B41FA5}">
                      <a16:colId xmlns:a16="http://schemas.microsoft.com/office/drawing/2014/main" val="2104771482"/>
                    </a:ext>
                  </a:extLst>
                </a:gridCol>
                <a:gridCol w="7596389">
                  <a:extLst>
                    <a:ext uri="{9D8B030D-6E8A-4147-A177-3AD203B41FA5}">
                      <a16:colId xmlns:a16="http://schemas.microsoft.com/office/drawing/2014/main" val="3032568976"/>
                    </a:ext>
                  </a:extLst>
                </a:gridCol>
              </a:tblGrid>
              <a:tr h="61694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200" u="none" strike="noStrike">
                          <a:effectLst/>
                        </a:rPr>
                        <a:t>Feature</a:t>
                      </a:r>
                      <a:endParaRPr lang="en-IN" sz="3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605" marR="18605" marT="1860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200" u="none" strike="noStrike">
                          <a:effectLst/>
                        </a:rPr>
                        <a:t>Description</a:t>
                      </a:r>
                      <a:endParaRPr lang="en-IN" sz="3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605" marR="18605" marT="18605" marB="0" anchor="ctr"/>
                </a:tc>
                <a:extLst>
                  <a:ext uri="{0D108BD9-81ED-4DB2-BD59-A6C34878D82A}">
                    <a16:rowId xmlns:a16="http://schemas.microsoft.com/office/drawing/2014/main" val="1261282901"/>
                  </a:ext>
                </a:extLst>
              </a:tr>
              <a:tr h="1108110">
                <a:tc>
                  <a:txBody>
                    <a:bodyPr/>
                    <a:lstStyle/>
                    <a:p>
                      <a:pPr algn="l" fontAlgn="ctr"/>
                      <a:r>
                        <a:rPr lang="en-IN" sz="2900" u="none" strike="noStrike">
                          <a:effectLst/>
                        </a:rPr>
                        <a:t>given()</a:t>
                      </a:r>
                      <a:endParaRPr lang="en-IN" sz="29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18605" marR="18605" marT="1860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3200" u="none" strike="noStrike">
                          <a:effectLst/>
                        </a:rPr>
                        <a:t>Sets up request parameters, headers, body</a:t>
                      </a:r>
                      <a:endParaRPr lang="en-GB" sz="3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605" marR="18605" marT="18605" marB="0" anchor="ctr"/>
                </a:tc>
                <a:extLst>
                  <a:ext uri="{0D108BD9-81ED-4DB2-BD59-A6C34878D82A}">
                    <a16:rowId xmlns:a16="http://schemas.microsoft.com/office/drawing/2014/main" val="3412952221"/>
                  </a:ext>
                </a:extLst>
              </a:tr>
              <a:tr h="616940">
                <a:tc>
                  <a:txBody>
                    <a:bodyPr/>
                    <a:lstStyle/>
                    <a:p>
                      <a:pPr algn="l" fontAlgn="ctr"/>
                      <a:r>
                        <a:rPr lang="en-IN" sz="2900" u="none" strike="noStrike">
                          <a:effectLst/>
                        </a:rPr>
                        <a:t>when()</a:t>
                      </a:r>
                      <a:endParaRPr lang="en-IN" sz="29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18605" marR="18605" marT="1860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3200" u="none" strike="noStrike">
                          <a:effectLst/>
                        </a:rPr>
                        <a:t>Defines the HTTP method and endpoint</a:t>
                      </a:r>
                      <a:endParaRPr lang="en-GB" sz="3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605" marR="18605" marT="18605" marB="0" anchor="ctr"/>
                </a:tc>
                <a:extLst>
                  <a:ext uri="{0D108BD9-81ED-4DB2-BD59-A6C34878D82A}">
                    <a16:rowId xmlns:a16="http://schemas.microsoft.com/office/drawing/2014/main" val="1848623306"/>
                  </a:ext>
                </a:extLst>
              </a:tr>
              <a:tr h="616940">
                <a:tc>
                  <a:txBody>
                    <a:bodyPr/>
                    <a:lstStyle/>
                    <a:p>
                      <a:pPr algn="l" fontAlgn="ctr"/>
                      <a:r>
                        <a:rPr lang="en-IN" sz="2900" u="none" strike="noStrike">
                          <a:effectLst/>
                        </a:rPr>
                        <a:t>then()</a:t>
                      </a:r>
                      <a:endParaRPr lang="en-IN" sz="29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18605" marR="18605" marT="1860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3200" u="none" strike="noStrike">
                          <a:effectLst/>
                        </a:rPr>
                        <a:t>Validates response status, headers, body</a:t>
                      </a:r>
                      <a:endParaRPr lang="en-GB" sz="3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605" marR="18605" marT="18605" marB="0" anchor="ctr"/>
                </a:tc>
                <a:extLst>
                  <a:ext uri="{0D108BD9-81ED-4DB2-BD59-A6C34878D82A}">
                    <a16:rowId xmlns:a16="http://schemas.microsoft.com/office/drawing/2014/main" val="3781924390"/>
                  </a:ext>
                </a:extLst>
              </a:tr>
              <a:tr h="616940">
                <a:tc>
                  <a:txBody>
                    <a:bodyPr/>
                    <a:lstStyle/>
                    <a:p>
                      <a:pPr algn="l" fontAlgn="ctr"/>
                      <a:r>
                        <a:rPr lang="en-IN" sz="2900" u="none" strike="noStrike">
                          <a:effectLst/>
                        </a:rPr>
                        <a:t>extract()</a:t>
                      </a:r>
                      <a:endParaRPr lang="en-IN" sz="29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18605" marR="18605" marT="1860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3200" u="none" strike="noStrike">
                          <a:effectLst/>
                        </a:rPr>
                        <a:t>Retrieves values from the response</a:t>
                      </a:r>
                      <a:endParaRPr lang="en-GB" sz="3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605" marR="18605" marT="18605" marB="0" anchor="ctr"/>
                </a:tc>
                <a:extLst>
                  <a:ext uri="{0D108BD9-81ED-4DB2-BD59-A6C34878D82A}">
                    <a16:rowId xmlns:a16="http://schemas.microsoft.com/office/drawing/2014/main" val="2443528883"/>
                  </a:ext>
                </a:extLst>
              </a:tr>
              <a:tr h="616940">
                <a:tc>
                  <a:txBody>
                    <a:bodyPr/>
                    <a:lstStyle/>
                    <a:p>
                      <a:pPr algn="l" fontAlgn="ctr"/>
                      <a:r>
                        <a:rPr lang="en-IN" sz="2900" u="none" strike="noStrike">
                          <a:effectLst/>
                        </a:rPr>
                        <a:t>path()</a:t>
                      </a:r>
                      <a:endParaRPr lang="en-IN" sz="29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18605" marR="18605" marT="1860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200" u="none" strike="noStrike">
                          <a:effectLst/>
                        </a:rPr>
                        <a:t>Navigates JSON/XML response structure</a:t>
                      </a:r>
                      <a:endParaRPr lang="en-IN" sz="3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605" marR="18605" marT="18605" marB="0" anchor="ctr"/>
                </a:tc>
                <a:extLst>
                  <a:ext uri="{0D108BD9-81ED-4DB2-BD59-A6C34878D82A}">
                    <a16:rowId xmlns:a16="http://schemas.microsoft.com/office/drawing/2014/main" val="37120577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36702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18811-BABE-9D85-993B-A652FAC8C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435429"/>
            <a:ext cx="12115800" cy="631371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i="1" dirty="0"/>
              <a:t>import io.restassured.RestAssured;</a:t>
            </a:r>
          </a:p>
          <a:p>
            <a:pPr marL="0" indent="0">
              <a:buNone/>
            </a:pPr>
            <a:r>
              <a:rPr lang="en-IN" i="1" dirty="0"/>
              <a:t>import static io.restassured.RestAssured.*;</a:t>
            </a:r>
          </a:p>
          <a:p>
            <a:pPr marL="0" indent="0">
              <a:buNone/>
            </a:pPr>
            <a:r>
              <a:rPr lang="en-IN" i="1" dirty="0"/>
              <a:t>import static org.hamcrest.Matchers.*;</a:t>
            </a:r>
          </a:p>
          <a:p>
            <a:pPr marL="0" indent="0">
              <a:buNone/>
            </a:pPr>
            <a:endParaRPr lang="en-IN" i="1" dirty="0"/>
          </a:p>
          <a:p>
            <a:pPr marL="0" indent="0">
              <a:buNone/>
            </a:pPr>
            <a:r>
              <a:rPr lang="en-IN" i="1" dirty="0"/>
              <a:t>public class SampleTest {</a:t>
            </a:r>
          </a:p>
          <a:p>
            <a:pPr marL="0" indent="0">
              <a:buNone/>
            </a:pPr>
            <a:r>
              <a:rPr lang="en-IN" i="1" dirty="0"/>
              <a:t>  @Test</a:t>
            </a:r>
          </a:p>
          <a:p>
            <a:pPr marL="0" indent="0">
              <a:buNone/>
            </a:pPr>
            <a:r>
              <a:rPr lang="en-IN" i="1" dirty="0"/>
              <a:t>  public void testStatusCode() {</a:t>
            </a:r>
          </a:p>
          <a:p>
            <a:pPr marL="0" indent="0">
              <a:buNone/>
            </a:pPr>
            <a:r>
              <a:rPr lang="en-IN" i="1" dirty="0"/>
              <a:t>    given().</a:t>
            </a:r>
          </a:p>
          <a:p>
            <a:pPr marL="0" indent="0">
              <a:buNone/>
            </a:pPr>
            <a:r>
              <a:rPr lang="en-IN" i="1" dirty="0"/>
              <a:t>      baseUri("https://api.example.com").</a:t>
            </a:r>
          </a:p>
          <a:p>
            <a:pPr marL="0" indent="0">
              <a:buNone/>
            </a:pPr>
            <a:r>
              <a:rPr lang="en-IN" i="1" dirty="0"/>
              <a:t>    when().</a:t>
            </a:r>
          </a:p>
          <a:p>
            <a:pPr marL="0" indent="0">
              <a:buNone/>
            </a:pPr>
            <a:r>
              <a:rPr lang="en-IN" i="1" dirty="0"/>
              <a:t>      get("/users/1").</a:t>
            </a:r>
          </a:p>
          <a:p>
            <a:pPr marL="0" indent="0">
              <a:buNone/>
            </a:pPr>
            <a:r>
              <a:rPr lang="en-IN" i="1" dirty="0"/>
              <a:t>    then().</a:t>
            </a:r>
          </a:p>
          <a:p>
            <a:pPr marL="0" indent="0">
              <a:buNone/>
            </a:pPr>
            <a:r>
              <a:rPr lang="en-IN" i="1" dirty="0"/>
              <a:t>      statusCode(200).</a:t>
            </a:r>
          </a:p>
          <a:p>
            <a:pPr marL="0" indent="0">
              <a:buNone/>
            </a:pPr>
            <a:r>
              <a:rPr lang="en-IN" i="1" dirty="0"/>
              <a:t>      body("name", equalTo("John Doe"));</a:t>
            </a:r>
          </a:p>
          <a:p>
            <a:pPr marL="0" indent="0">
              <a:buNone/>
            </a:pPr>
            <a:r>
              <a:rPr lang="en-IN" i="1" dirty="0"/>
              <a:t>  }</a:t>
            </a:r>
          </a:p>
          <a:p>
            <a:pPr marL="0" indent="0">
              <a:buNone/>
            </a:pPr>
            <a:r>
              <a:rPr lang="en-IN" i="1" dirty="0"/>
              <a:t>}</a:t>
            </a:r>
          </a:p>
          <a:p>
            <a:pPr marL="0" indent="0">
              <a:buNone/>
            </a:pP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5865920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33A5-72CC-1AE6-E7E7-C386FAD96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10000"/>
          </a:bodyPr>
          <a:lstStyle/>
          <a:p>
            <a:pPr marL="0" indent="0" fontAlgn="base">
              <a:buNone/>
            </a:pPr>
            <a:r>
              <a:rPr lang="en-IN" i="1" dirty="0"/>
              <a:t>import static io.restassured.RestAssured.*;</a:t>
            </a:r>
            <a:r>
              <a:rPr lang="en-US" i="1" dirty="0"/>
              <a:t>​</a:t>
            </a:r>
          </a:p>
          <a:p>
            <a:pPr marL="0" indent="0" fontAlgn="base">
              <a:buNone/>
            </a:pPr>
            <a:r>
              <a:rPr lang="en-IN" i="1" dirty="0"/>
              <a:t>import static org.hamcrest.Matchers.*;</a:t>
            </a:r>
            <a:r>
              <a:rPr lang="en-US" i="1" dirty="0"/>
              <a:t>​</a:t>
            </a:r>
          </a:p>
          <a:p>
            <a:pPr marL="0" indent="0" fontAlgn="base">
              <a:buNone/>
            </a:pPr>
            <a:r>
              <a:rPr lang="en-IN" i="1" dirty="0"/>
              <a:t>import org.junit.Test;</a:t>
            </a:r>
            <a:r>
              <a:rPr lang="en-US" i="1" dirty="0"/>
              <a:t>​</a:t>
            </a:r>
          </a:p>
          <a:p>
            <a:pPr marL="0" indent="0" fontAlgn="base">
              <a:buNone/>
            </a:pPr>
            <a:r>
              <a:rPr lang="en-IN" i="1" dirty="0"/>
              <a:t>​</a:t>
            </a:r>
          </a:p>
          <a:p>
            <a:pPr marL="0" indent="0" fontAlgn="base">
              <a:buNone/>
            </a:pPr>
            <a:r>
              <a:rPr lang="en-IN" i="1" dirty="0"/>
              <a:t>public class SimpleGetTest {</a:t>
            </a:r>
            <a:r>
              <a:rPr lang="en-US" i="1" dirty="0"/>
              <a:t>​</a:t>
            </a:r>
          </a:p>
          <a:p>
            <a:pPr marL="0" indent="0" fontAlgn="base">
              <a:buNone/>
            </a:pPr>
            <a:r>
              <a:rPr lang="en-IN" i="1" dirty="0"/>
              <a:t>@Test</a:t>
            </a:r>
            <a:r>
              <a:rPr lang="en-US" i="1" dirty="0"/>
              <a:t>​</a:t>
            </a:r>
          </a:p>
          <a:p>
            <a:pPr marL="0" indent="0" fontAlgn="base">
              <a:buNone/>
            </a:pPr>
            <a:r>
              <a:rPr lang="en-IN" i="1" dirty="0"/>
              <a:t>public void checkStatusCode() {</a:t>
            </a:r>
            <a:r>
              <a:rPr lang="en-US" i="1" dirty="0"/>
              <a:t>​</a:t>
            </a:r>
          </a:p>
          <a:p>
            <a:pPr marL="0" indent="0" fontAlgn="base">
              <a:buNone/>
            </a:pPr>
            <a:r>
              <a:rPr lang="en-IN" i="1" dirty="0"/>
              <a:t>given().</a:t>
            </a:r>
            <a:r>
              <a:rPr lang="en-US" i="1" dirty="0"/>
              <a:t>​</a:t>
            </a:r>
          </a:p>
          <a:p>
            <a:pPr marL="0" indent="0" fontAlgn="base">
              <a:buNone/>
            </a:pPr>
            <a:r>
              <a:rPr lang="en-IN" i="1" dirty="0"/>
              <a:t>body(requestBody).</a:t>
            </a:r>
            <a:r>
              <a:rPr lang="en-US" i="1" dirty="0"/>
              <a:t>​</a:t>
            </a:r>
          </a:p>
          <a:p>
            <a:pPr marL="0" indent="0" fontAlgn="base">
              <a:buNone/>
            </a:pPr>
            <a:r>
              <a:rPr lang="en-IN" i="1" dirty="0"/>
              <a:t>contentType("application/</a:t>
            </a:r>
            <a:r>
              <a:rPr lang="en-IN" i="1" dirty="0" err="1"/>
              <a:t>json</a:t>
            </a:r>
            <a:r>
              <a:rPr lang="en-IN" i="1" dirty="0"/>
              <a:t>").</a:t>
            </a:r>
            <a:r>
              <a:rPr lang="en-US" i="1" dirty="0"/>
              <a:t>​</a:t>
            </a:r>
          </a:p>
          <a:p>
            <a:pPr marL="0" indent="0" fontAlgn="base">
              <a:buNone/>
            </a:pPr>
            <a:r>
              <a:rPr lang="en-IN" i="1" dirty="0"/>
              <a:t>when().</a:t>
            </a:r>
            <a:r>
              <a:rPr lang="en-US" i="1" dirty="0"/>
              <a:t>​</a:t>
            </a:r>
          </a:p>
          <a:p>
            <a:pPr marL="0" indent="0" fontAlgn="base">
              <a:buNone/>
            </a:pPr>
            <a:r>
              <a:rPr lang="en-IN" i="1" dirty="0"/>
              <a:t>put/post("https://jsonplaceholder.typicode.com/posts").</a:t>
            </a:r>
            <a:r>
              <a:rPr lang="en-US" i="1" dirty="0"/>
              <a:t>​</a:t>
            </a:r>
          </a:p>
          <a:p>
            <a:pPr marL="0" indent="0" fontAlgn="base">
              <a:buNone/>
            </a:pPr>
            <a:r>
              <a:rPr lang="en-IN" i="1" dirty="0"/>
              <a:t>then().</a:t>
            </a:r>
            <a:r>
              <a:rPr lang="en-US" i="1" dirty="0"/>
              <a:t>​</a:t>
            </a:r>
          </a:p>
          <a:p>
            <a:pPr marL="0" indent="0" fontAlgn="base">
              <a:buNone/>
            </a:pPr>
            <a:r>
              <a:rPr lang="en-IN" i="1" dirty="0"/>
              <a:t>statusCode(201); // POST usually returns 201 forcreated</a:t>
            </a:r>
            <a:r>
              <a:rPr lang="en-US" i="1" dirty="0"/>
              <a:t>​</a:t>
            </a:r>
          </a:p>
          <a:p>
            <a:pPr marL="0" indent="0" fontAlgn="base">
              <a:buNone/>
            </a:pPr>
            <a:r>
              <a:rPr lang="en-IN" i="1" dirty="0"/>
              <a:t>}</a:t>
            </a:r>
            <a:r>
              <a:rPr lang="en-US" i="1" dirty="0"/>
              <a:t>​</a:t>
            </a:r>
          </a:p>
          <a:p>
            <a:pPr marL="0" indent="0">
              <a:buNone/>
            </a:pP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14484766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CEC3F-2464-8BE5-22F3-87D345871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915" y="0"/>
            <a:ext cx="10515600" cy="1325563"/>
          </a:xfrm>
        </p:spPr>
        <p:txBody>
          <a:bodyPr/>
          <a:lstStyle/>
          <a:p>
            <a:r>
              <a:rPr lang="en-GB" dirty="0"/>
              <a:t>Building your request body – JSON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6AD0E-1825-D407-4591-89CD1DAF8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914" y="1153886"/>
            <a:ext cx="11821886" cy="5606143"/>
          </a:xfrm>
        </p:spPr>
        <p:txBody>
          <a:bodyPr/>
          <a:lstStyle/>
          <a:p>
            <a:pPr marL="0" indent="0" fontAlgn="base">
              <a:buNone/>
            </a:pPr>
            <a:r>
              <a:rPr lang="en-US" i="1" dirty="0"/>
              <a:t>JSONObject data = new JSONObject();​</a:t>
            </a:r>
          </a:p>
          <a:p>
            <a:pPr marL="0" indent="0" fontAlgn="base">
              <a:buNone/>
            </a:pPr>
            <a:r>
              <a:rPr lang="en-US" i="1" dirty="0"/>
              <a:t>data.put(“name”, “Selenium”);​</a:t>
            </a:r>
          </a:p>
          <a:p>
            <a:pPr marL="0" indent="0" fontAlgn="base">
              <a:buNone/>
            </a:pPr>
            <a:r>
              <a:rPr lang="en-US" i="1" dirty="0"/>
              <a:t>data.put(“location”, “desktop”);​</a:t>
            </a:r>
          </a:p>
          <a:p>
            <a:pPr marL="0" indent="0" fontAlgn="base">
              <a:buNone/>
            </a:pPr>
            <a:r>
              <a:rPr lang="en-US" i="1" dirty="0"/>
              <a:t>data.put("version”, 4.4);​</a:t>
            </a:r>
          </a:p>
          <a:p>
            <a:pPr marL="0" indent="0" fontAlgn="base">
              <a:buNone/>
            </a:pPr>
            <a:r>
              <a:rPr lang="en-US" i="1" dirty="0"/>
              <a:t>String otherSW [] = {“Java”, “SQL”};​</a:t>
            </a:r>
          </a:p>
          <a:p>
            <a:pPr marL="0" indent="0" fontAlgn="base">
              <a:buNone/>
            </a:pPr>
            <a:r>
              <a:rPr lang="en-US" i="1" dirty="0"/>
              <a:t>data.put(“SW”, otherSW);​</a:t>
            </a:r>
          </a:p>
          <a:p>
            <a:pPr marL="0" indent="0" fontAlgn="base">
              <a:buNone/>
            </a:pPr>
            <a:r>
              <a:rPr lang="en-US" i="1" dirty="0"/>
              <a:t>​//build your request with the </a:t>
            </a:r>
            <a:r>
              <a:rPr lang="en-US" i="1" dirty="0" err="1"/>
              <a:t>jsonobject</a:t>
            </a:r>
            <a:endParaRPr lang="en-US" i="1" dirty="0"/>
          </a:p>
          <a:p>
            <a:pPr marL="0" indent="0" fontAlgn="base">
              <a:buNone/>
            </a:pPr>
            <a:r>
              <a:rPr lang="en-US" i="1" dirty="0"/>
              <a:t>given()​</a:t>
            </a:r>
          </a:p>
          <a:p>
            <a:pPr marL="0" indent="0" fontAlgn="base">
              <a:buNone/>
            </a:pPr>
            <a:r>
              <a:rPr lang="en-US" i="1" dirty="0"/>
              <a:t>.contentType(“application/</a:t>
            </a:r>
            <a:r>
              <a:rPr lang="en-US" i="1" dirty="0" err="1"/>
              <a:t>json</a:t>
            </a:r>
            <a:r>
              <a:rPr lang="en-US" i="1" dirty="0"/>
              <a:t>”)​</a:t>
            </a:r>
          </a:p>
          <a:p>
            <a:pPr marL="0" indent="0" fontAlgn="base">
              <a:buNone/>
            </a:pPr>
            <a:r>
              <a:rPr lang="en-US" i="1" dirty="0"/>
              <a:t>.body(</a:t>
            </a:r>
            <a:r>
              <a:rPr lang="en-US" i="1" dirty="0" err="1"/>
              <a:t>data.toString</a:t>
            </a:r>
            <a:r>
              <a:rPr lang="en-US" i="1" dirty="0"/>
              <a:t>())​</a:t>
            </a:r>
          </a:p>
          <a:p>
            <a:pPr marL="0" indent="0" fontAlgn="base">
              <a:buNone/>
            </a:pPr>
            <a:endParaRPr lang="en-US" i="1" dirty="0"/>
          </a:p>
          <a:p>
            <a:pPr marL="0" indent="0">
              <a:buNone/>
            </a:pP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21651375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7B9C1F-A84F-8E47-FD8F-080FAD43E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 sz="3700">
                <a:solidFill>
                  <a:srgbClr val="FFFFFF"/>
                </a:solidFill>
              </a:rPr>
              <a:t>Authentication and Authorization</a:t>
            </a:r>
            <a:endParaRPr lang="en-IN" sz="370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EDC82-FF79-53F4-26EA-1B0E07688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 fontAlgn="base">
              <a:buNone/>
            </a:pPr>
            <a:r>
              <a:rPr lang="en-IN" dirty="0"/>
              <a:t>Authentication can be in the form of </a:t>
            </a:r>
            <a:r>
              <a:rPr lang="en-US" dirty="0"/>
              <a:t>​</a:t>
            </a:r>
          </a:p>
          <a:p>
            <a:pPr fontAlgn="base"/>
            <a:r>
              <a:rPr lang="en-IN" dirty="0"/>
              <a:t>Username and a Password</a:t>
            </a:r>
            <a:r>
              <a:rPr lang="en-US" dirty="0"/>
              <a:t>​</a:t>
            </a:r>
          </a:p>
          <a:p>
            <a:pPr fontAlgn="base"/>
            <a:r>
              <a:rPr lang="en-IN" dirty="0"/>
              <a:t>Authentication tokens</a:t>
            </a:r>
            <a:r>
              <a:rPr lang="en-US" dirty="0"/>
              <a:t>​</a:t>
            </a:r>
          </a:p>
          <a:p>
            <a:pPr fontAlgn="base"/>
            <a:r>
              <a:rPr lang="en-IN" dirty="0"/>
              <a:t>Secret keys</a:t>
            </a:r>
            <a:r>
              <a:rPr lang="en-US" dirty="0"/>
              <a:t>​</a:t>
            </a:r>
          </a:p>
          <a:p>
            <a:pPr fontAlgn="base"/>
            <a:r>
              <a:rPr lang="en-IN" dirty="0"/>
              <a:t>Bio-metrics and many other ways</a:t>
            </a:r>
            <a:r>
              <a:rPr lang="en-US" dirty="0"/>
              <a:t>​</a:t>
            </a:r>
          </a:p>
          <a:p>
            <a:pPr marL="0" indent="0" fontAlgn="base">
              <a:buNone/>
            </a:pPr>
            <a:endParaRPr lang="en-IN" dirty="0"/>
          </a:p>
          <a:p>
            <a:pPr marL="0" indent="0" fontAlgn="base">
              <a:buNone/>
            </a:pPr>
            <a:r>
              <a:rPr lang="en-IN" dirty="0"/>
              <a:t>This credential setting is generally passed in the </a:t>
            </a:r>
            <a:r>
              <a:rPr lang="en-IN" dirty="0" err="1"/>
              <a:t>headerfield</a:t>
            </a:r>
            <a:r>
              <a:rPr lang="en-IN" dirty="0"/>
              <a:t> of an HTTP request.</a:t>
            </a:r>
            <a:r>
              <a:rPr lang="en-US" dirty="0"/>
              <a:t>​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11465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1FDEE-5057-2B50-BC36-6E4C9ED55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of Authentication - Basic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0A439-0608-CDE0-DA8A-DE33C2AF97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Sends username and password encoded in Base64</a:t>
            </a:r>
          </a:p>
          <a:p>
            <a:r>
              <a:rPr lang="en-GB" dirty="0"/>
              <a:t>Not secure over plain HTTP—use HTTPS</a:t>
            </a:r>
          </a:p>
          <a:p>
            <a:r>
              <a:rPr lang="en-GB" dirty="0"/>
              <a:t>Example:</a:t>
            </a:r>
          </a:p>
          <a:p>
            <a:pPr marL="0" indent="0">
              <a:buNone/>
            </a:pPr>
            <a:r>
              <a:rPr lang="en-GB" i="1" dirty="0"/>
              <a:t>given()</a:t>
            </a:r>
          </a:p>
          <a:p>
            <a:pPr marL="0" indent="0">
              <a:buNone/>
            </a:pPr>
            <a:r>
              <a:rPr lang="en-GB" i="1" dirty="0"/>
              <a:t>  .auth().basic("admin", "password123")</a:t>
            </a:r>
          </a:p>
          <a:p>
            <a:pPr marL="0" indent="0">
              <a:buNone/>
            </a:pPr>
            <a:r>
              <a:rPr lang="en-GB" i="1" dirty="0"/>
              <a:t>.when()</a:t>
            </a:r>
          </a:p>
          <a:p>
            <a:pPr marL="0" indent="0">
              <a:buNone/>
            </a:pPr>
            <a:r>
              <a:rPr lang="en-GB" i="1" dirty="0"/>
              <a:t>  .get("https://api.example.com/secure-data")</a:t>
            </a:r>
          </a:p>
          <a:p>
            <a:pPr marL="0" indent="0">
              <a:buNone/>
            </a:pPr>
            <a:r>
              <a:rPr lang="en-GB" i="1" dirty="0"/>
              <a:t>.then()</a:t>
            </a:r>
          </a:p>
          <a:p>
            <a:pPr marL="0" indent="0">
              <a:buNone/>
            </a:pPr>
            <a:r>
              <a:rPr lang="en-GB" i="1" dirty="0"/>
              <a:t>  .statusCode(200);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65653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0C014-7ABF-1A28-6AA6-919FFF72F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of Authentication - Digest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556D0-BD7A-85DB-01BE-E7E184CD2E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More secure than Basic Auth</a:t>
            </a:r>
          </a:p>
          <a:p>
            <a:r>
              <a:rPr lang="en-GB" dirty="0"/>
              <a:t>Uses hashing algorithms like MD5 or SHA-256</a:t>
            </a:r>
          </a:p>
          <a:p>
            <a:r>
              <a:rPr lang="en-GB" dirty="0"/>
              <a:t>Example:</a:t>
            </a:r>
          </a:p>
          <a:p>
            <a:pPr marL="0" indent="0">
              <a:buNone/>
            </a:pPr>
            <a:r>
              <a:rPr lang="en-GB" i="1" dirty="0"/>
              <a:t>given()</a:t>
            </a:r>
          </a:p>
          <a:p>
            <a:pPr marL="0" indent="0">
              <a:buNone/>
            </a:pPr>
            <a:r>
              <a:rPr lang="en-GB" i="1" dirty="0"/>
              <a:t>  .auth().digest("admin", "password123")</a:t>
            </a:r>
          </a:p>
          <a:p>
            <a:pPr marL="0" indent="0">
              <a:buNone/>
            </a:pPr>
            <a:r>
              <a:rPr lang="en-GB" i="1" dirty="0"/>
              <a:t>.when()</a:t>
            </a:r>
          </a:p>
          <a:p>
            <a:pPr marL="0" indent="0">
              <a:buNone/>
            </a:pPr>
            <a:r>
              <a:rPr lang="en-GB" i="1" dirty="0"/>
              <a:t>  .get("https://api.example.com/digest-protected")</a:t>
            </a:r>
          </a:p>
          <a:p>
            <a:pPr marL="0" indent="0">
              <a:buNone/>
            </a:pPr>
            <a:r>
              <a:rPr lang="en-GB" i="1" dirty="0"/>
              <a:t>.then()</a:t>
            </a:r>
          </a:p>
          <a:p>
            <a:pPr marL="0" indent="0">
              <a:buNone/>
            </a:pPr>
            <a:r>
              <a:rPr lang="en-GB" i="1" dirty="0"/>
              <a:t>  .statusCode(200);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75310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DC864-A95F-FCE8-614D-F4E3139F2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of Authentication - Form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8EC65-DF49-1879-204E-6B927BEB1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58204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Simulates login via HTML form</a:t>
            </a:r>
          </a:p>
          <a:p>
            <a:r>
              <a:rPr lang="en-GB" dirty="0"/>
              <a:t>Useful for testing web apps with login pages</a:t>
            </a:r>
            <a:endParaRPr lang="en-IN" dirty="0"/>
          </a:p>
          <a:p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GB" i="1" dirty="0"/>
              <a:t>given()</a:t>
            </a:r>
          </a:p>
          <a:p>
            <a:pPr marL="0" indent="0">
              <a:buNone/>
            </a:pPr>
            <a:r>
              <a:rPr lang="en-GB" i="1" dirty="0"/>
              <a:t>  .auth().form("admin", "password123", FormAuthConfig.formAuthConfig()</a:t>
            </a:r>
          </a:p>
          <a:p>
            <a:pPr marL="0" indent="0">
              <a:buNone/>
            </a:pPr>
            <a:r>
              <a:rPr lang="en-GB" i="1" dirty="0"/>
              <a:t>    .withAction("/login")</a:t>
            </a:r>
          </a:p>
          <a:p>
            <a:pPr marL="0" indent="0">
              <a:buNone/>
            </a:pPr>
            <a:r>
              <a:rPr lang="en-GB" i="1" dirty="0"/>
              <a:t>    .withUserField("username")</a:t>
            </a:r>
          </a:p>
          <a:p>
            <a:pPr marL="0" indent="0">
              <a:buNone/>
            </a:pPr>
            <a:r>
              <a:rPr lang="en-GB" i="1" dirty="0"/>
              <a:t>    .withPasswordField("password"))</a:t>
            </a:r>
          </a:p>
          <a:p>
            <a:pPr marL="0" indent="0">
              <a:buNone/>
            </a:pPr>
            <a:r>
              <a:rPr lang="en-GB" i="1" dirty="0"/>
              <a:t>.when()</a:t>
            </a:r>
          </a:p>
          <a:p>
            <a:pPr marL="0" indent="0">
              <a:buNone/>
            </a:pPr>
            <a:r>
              <a:rPr lang="en-GB" i="1" dirty="0"/>
              <a:t>  .get("https://webapp.example.com/dashboard")</a:t>
            </a:r>
          </a:p>
          <a:p>
            <a:pPr marL="0" indent="0">
              <a:buNone/>
            </a:pPr>
            <a:r>
              <a:rPr lang="en-GB" i="1" dirty="0"/>
              <a:t>.then()</a:t>
            </a:r>
          </a:p>
          <a:p>
            <a:pPr marL="0" indent="0">
              <a:buNone/>
            </a:pPr>
            <a:r>
              <a:rPr lang="en-GB" i="1" dirty="0"/>
              <a:t>  .statusCode(200);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35517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7E8F7-17E3-347E-92E5-4AF52BE98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of Authentication - </a:t>
            </a:r>
            <a:r>
              <a:rPr lang="en-IN" dirty="0"/>
              <a:t>OAuth 1.0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162A1-2C3C-594E-DE43-065B82A39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Used in older APIs (e.g., Twitter)</a:t>
            </a:r>
          </a:p>
          <a:p>
            <a:r>
              <a:rPr lang="en-GB" dirty="0"/>
              <a:t>Requires consumer key, secret, token, and token secret</a:t>
            </a:r>
          </a:p>
          <a:p>
            <a:r>
              <a:rPr lang="en-GB" dirty="0"/>
              <a:t>Example:</a:t>
            </a:r>
          </a:p>
          <a:p>
            <a:pPr marL="0" indent="0">
              <a:buNone/>
            </a:pPr>
            <a:r>
              <a:rPr lang="en-GB" i="1" dirty="0"/>
              <a:t>given()</a:t>
            </a:r>
          </a:p>
          <a:p>
            <a:pPr marL="0" indent="0">
              <a:buNone/>
            </a:pPr>
            <a:r>
              <a:rPr lang="en-GB" i="1" dirty="0"/>
              <a:t>  .auth().oauth("consumerKey", "consumerSecret", "accessToken", "tokenSecret")</a:t>
            </a:r>
          </a:p>
          <a:p>
            <a:pPr marL="0" indent="0">
              <a:buNone/>
            </a:pPr>
            <a:r>
              <a:rPr lang="en-GB" i="1" dirty="0"/>
              <a:t>.when()</a:t>
            </a:r>
          </a:p>
          <a:p>
            <a:pPr marL="0" indent="0">
              <a:buNone/>
            </a:pPr>
            <a:r>
              <a:rPr lang="en-GB" i="1" dirty="0"/>
              <a:t>  .get("https://api.example.com/user-profile")</a:t>
            </a:r>
          </a:p>
          <a:p>
            <a:pPr marL="0" indent="0">
              <a:buNone/>
            </a:pPr>
            <a:r>
              <a:rPr lang="en-GB" i="1" dirty="0"/>
              <a:t>.then()</a:t>
            </a:r>
          </a:p>
          <a:p>
            <a:pPr marL="0" indent="0">
              <a:buNone/>
            </a:pPr>
            <a:r>
              <a:rPr lang="en-GB" i="1" dirty="0"/>
              <a:t>  .statusCode(200);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62557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6F36C-4906-28D8-A427-E0DFC62BC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of Authentication - </a:t>
            </a:r>
            <a:r>
              <a:rPr lang="en-IN" dirty="0"/>
              <a:t>OAuth 2.0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6E09F-B49C-2AAF-9390-777BFBB5A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Most widely used today.</a:t>
            </a:r>
          </a:p>
          <a:p>
            <a:r>
              <a:rPr lang="en-GB" dirty="0"/>
              <a:t>Uses bearer tokens for access.</a:t>
            </a:r>
          </a:p>
          <a:p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GB" i="1" dirty="0"/>
              <a:t>given()</a:t>
            </a:r>
          </a:p>
          <a:p>
            <a:pPr marL="0" indent="0">
              <a:buNone/>
            </a:pPr>
            <a:r>
              <a:rPr lang="en-GB" i="1" dirty="0"/>
              <a:t>  .auth().oauth2("your-access-token")</a:t>
            </a:r>
          </a:p>
          <a:p>
            <a:pPr marL="0" indent="0">
              <a:buNone/>
            </a:pPr>
            <a:r>
              <a:rPr lang="en-GB" i="1" dirty="0"/>
              <a:t>.when()</a:t>
            </a:r>
          </a:p>
          <a:p>
            <a:pPr marL="0" indent="0">
              <a:buNone/>
            </a:pPr>
            <a:r>
              <a:rPr lang="en-GB" i="1" dirty="0"/>
              <a:t>  .get("https://api.example.com/user-data")</a:t>
            </a:r>
          </a:p>
          <a:p>
            <a:pPr marL="0" indent="0">
              <a:buNone/>
            </a:pPr>
            <a:r>
              <a:rPr lang="en-GB" i="1" dirty="0"/>
              <a:t>.then()</a:t>
            </a:r>
          </a:p>
          <a:p>
            <a:pPr marL="0" indent="0">
              <a:buNone/>
            </a:pPr>
            <a:r>
              <a:rPr lang="en-GB" i="1" dirty="0"/>
              <a:t>  .statusCode(200);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10069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2E160-F764-3017-09E6-8D86C1AEE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of Authentication – API Key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2F287-15DA-4796-66A1-05E808F91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Uses a unique key passed in headers or query parameters</a:t>
            </a:r>
          </a:p>
          <a:p>
            <a:r>
              <a:rPr lang="en-GB" dirty="0"/>
              <a:t>Common in public APIs (e.g., OpenWeather, Google Maps)</a:t>
            </a:r>
          </a:p>
          <a:p>
            <a:r>
              <a:rPr lang="en-GB" dirty="0"/>
              <a:t>Example:</a:t>
            </a:r>
          </a:p>
          <a:p>
            <a:pPr marL="0" indent="0">
              <a:buNone/>
            </a:pPr>
            <a:r>
              <a:rPr lang="en-GB" i="1" dirty="0"/>
              <a:t>given()</a:t>
            </a:r>
          </a:p>
          <a:p>
            <a:pPr marL="0" indent="0">
              <a:buNone/>
            </a:pPr>
            <a:r>
              <a:rPr lang="en-GB" i="1" dirty="0"/>
              <a:t>  .header("x-</a:t>
            </a:r>
            <a:r>
              <a:rPr lang="en-GB" i="1" dirty="0" err="1"/>
              <a:t>api</a:t>
            </a:r>
            <a:r>
              <a:rPr lang="en-GB" i="1" dirty="0"/>
              <a:t>-key", "your-</a:t>
            </a:r>
            <a:r>
              <a:rPr lang="en-GB" i="1" dirty="0" err="1"/>
              <a:t>api</a:t>
            </a:r>
            <a:r>
              <a:rPr lang="en-GB" i="1" dirty="0"/>
              <a:t>-key")</a:t>
            </a:r>
          </a:p>
          <a:p>
            <a:pPr marL="0" indent="0">
              <a:buNone/>
            </a:pPr>
            <a:r>
              <a:rPr lang="en-GB" i="1" dirty="0"/>
              <a:t>.when()</a:t>
            </a:r>
          </a:p>
          <a:p>
            <a:pPr marL="0" indent="0">
              <a:buNone/>
            </a:pPr>
            <a:r>
              <a:rPr lang="en-GB" i="1" dirty="0"/>
              <a:t>  .get("https://api.example.com/weather")</a:t>
            </a:r>
          </a:p>
          <a:p>
            <a:pPr marL="0" indent="0">
              <a:buNone/>
            </a:pPr>
            <a:r>
              <a:rPr lang="en-GB" i="1" dirty="0"/>
              <a:t>.then()</a:t>
            </a:r>
          </a:p>
          <a:p>
            <a:pPr marL="0" indent="0">
              <a:buNone/>
            </a:pPr>
            <a:r>
              <a:rPr lang="en-GB" i="1" dirty="0"/>
              <a:t>  .statusCode(200);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5398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A6B319F-86FE-4754-878E-06F0804D8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32385" cy="6858000"/>
          </a:xfrm>
          <a:prstGeom prst="rect">
            <a:avLst/>
          </a:prstGeom>
          <a:solidFill>
            <a:schemeClr val="accent5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F7D1B5-3477-499F-ACC5-2C8B07F4E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2385" y="0"/>
            <a:ext cx="3218914" cy="6858000"/>
          </a:xfrm>
          <a:prstGeom prst="rect">
            <a:avLst/>
          </a:prstGeom>
          <a:solidFill>
            <a:schemeClr val="accent5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D9575C-EB5D-34B3-D5BE-8448DF037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206" y="1608667"/>
            <a:ext cx="2823275" cy="450112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Core Request Options in REST Assured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07ABE-F5AC-62FA-9FC7-0CCDFF211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120" y="174171"/>
            <a:ext cx="7980880" cy="6302829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buNone/>
            </a:pPr>
            <a:r>
              <a:rPr lang="en-US" sz="2400" dirty="0"/>
              <a:t>REST Assured uses a fluent interface to build requests using the given() method. Here are the most commonly used options:</a:t>
            </a:r>
          </a:p>
          <a:p>
            <a:pPr marL="0" indent="0">
              <a:buNone/>
            </a:pPr>
            <a:endParaRPr lang="en-US" sz="2400" dirty="0"/>
          </a:p>
          <a:p>
            <a:pPr marL="514350"/>
            <a:r>
              <a:rPr lang="en-US" sz="2400" b="1" dirty="0"/>
              <a:t>Base URI and Base Path		</a:t>
            </a:r>
          </a:p>
          <a:p>
            <a:pPr marL="514350"/>
            <a:r>
              <a:rPr lang="en-US" sz="2400" b="1" dirty="0"/>
              <a:t>Headers</a:t>
            </a:r>
          </a:p>
          <a:p>
            <a:pPr marL="514350"/>
            <a:r>
              <a:rPr lang="en-US" sz="2400" b="1" dirty="0"/>
              <a:t>Query Parameters</a:t>
            </a:r>
          </a:p>
          <a:p>
            <a:pPr marL="514350"/>
            <a:r>
              <a:rPr lang="en-US" sz="2400" b="1" dirty="0"/>
              <a:t>Path Parameters</a:t>
            </a:r>
          </a:p>
          <a:p>
            <a:pPr marL="514350"/>
            <a:r>
              <a:rPr lang="en-US" sz="2400" b="1" dirty="0"/>
              <a:t>Request Body</a:t>
            </a:r>
          </a:p>
          <a:p>
            <a:pPr marL="514350"/>
            <a:r>
              <a:rPr lang="en-US" sz="2400" b="1" dirty="0"/>
              <a:t>Authentication</a:t>
            </a:r>
          </a:p>
          <a:p>
            <a:pPr marL="514350"/>
            <a:r>
              <a:rPr lang="en-US" sz="2400" b="1" dirty="0"/>
              <a:t>Cookies</a:t>
            </a:r>
          </a:p>
          <a:p>
            <a:pPr marL="514350">
              <a:spcAft>
                <a:spcPts val="600"/>
              </a:spcAft>
            </a:pPr>
            <a:r>
              <a:rPr lang="en-US" sz="2400" b="1" dirty="0"/>
              <a:t>Content Type and 	Accept Type</a:t>
            </a:r>
          </a:p>
          <a:p>
            <a:pPr marL="514350">
              <a:spcAft>
                <a:spcPts val="600"/>
              </a:spcAft>
            </a:pPr>
            <a:r>
              <a:rPr lang="en-US" sz="2400" b="1" dirty="0"/>
              <a:t>Logging</a:t>
            </a:r>
          </a:p>
          <a:p>
            <a:pPr marL="514350">
              <a:spcAft>
                <a:spcPts val="600"/>
              </a:spcAft>
            </a:pPr>
            <a:r>
              <a:rPr lang="en-US" sz="2400" b="1" dirty="0"/>
              <a:t>Custom Filters</a:t>
            </a:r>
          </a:p>
          <a:p>
            <a:pPr marL="514350"/>
            <a:endParaRPr lang="en-US" sz="2400" b="1" dirty="0"/>
          </a:p>
          <a:p>
            <a:pPr marL="514350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020922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CDFAC-8C21-D46A-4594-0F2261916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14" y="108857"/>
            <a:ext cx="12050486" cy="6651172"/>
          </a:xfrm>
        </p:spPr>
        <p:txBody>
          <a:bodyPr/>
          <a:lstStyle/>
          <a:p>
            <a:r>
              <a:rPr lang="en-IN" b="1" dirty="0"/>
              <a:t>Base URI and Base Path - </a:t>
            </a:r>
            <a:r>
              <a:rPr lang="en-GB" b="1" dirty="0"/>
              <a:t>Set the root URL and path for your API</a:t>
            </a:r>
          </a:p>
          <a:p>
            <a:pPr marL="0" indent="0">
              <a:buNone/>
            </a:pPr>
            <a:r>
              <a:rPr lang="en-GB" i="1" dirty="0" err="1">
                <a:highlight>
                  <a:srgbClr val="FFFF00"/>
                </a:highlight>
              </a:rPr>
              <a:t>RestAssured.baseURI</a:t>
            </a:r>
            <a:r>
              <a:rPr lang="en-GB" i="1" dirty="0">
                <a:highlight>
                  <a:srgbClr val="FFFF00"/>
                </a:highlight>
              </a:rPr>
              <a:t> = "https://api.example.com";</a:t>
            </a:r>
          </a:p>
          <a:p>
            <a:pPr marL="0" indent="0">
              <a:buNone/>
            </a:pPr>
            <a:r>
              <a:rPr lang="en-GB" i="1" dirty="0" err="1">
                <a:highlight>
                  <a:srgbClr val="FFFF00"/>
                </a:highlight>
              </a:rPr>
              <a:t>RestAssured.basePath</a:t>
            </a:r>
            <a:r>
              <a:rPr lang="en-GB" i="1" dirty="0">
                <a:highlight>
                  <a:srgbClr val="FFFF00"/>
                </a:highlight>
              </a:rPr>
              <a:t> = "/v1";</a:t>
            </a:r>
          </a:p>
          <a:p>
            <a:r>
              <a:rPr lang="en-IN" b="1" dirty="0"/>
              <a:t>Headers - </a:t>
            </a:r>
            <a:r>
              <a:rPr lang="en-GB" b="1" dirty="0"/>
              <a:t>Add custom headers to your request</a:t>
            </a:r>
          </a:p>
          <a:p>
            <a:pPr marL="0" indent="0">
              <a:buNone/>
            </a:pPr>
            <a:r>
              <a:rPr lang="en-GB" i="1" dirty="0">
                <a:highlight>
                  <a:srgbClr val="FFFF00"/>
                </a:highlight>
              </a:rPr>
              <a:t>given()</a:t>
            </a:r>
          </a:p>
          <a:p>
            <a:pPr marL="0" indent="0">
              <a:buNone/>
            </a:pPr>
            <a:r>
              <a:rPr lang="en-GB" i="1" dirty="0">
                <a:highlight>
                  <a:srgbClr val="FFFF00"/>
                </a:highlight>
              </a:rPr>
              <a:t>  .header("Content-Type", "application/</a:t>
            </a:r>
            <a:r>
              <a:rPr lang="en-GB" i="1" dirty="0" err="1">
                <a:highlight>
                  <a:srgbClr val="FFFF00"/>
                </a:highlight>
              </a:rPr>
              <a:t>json</a:t>
            </a:r>
            <a:r>
              <a:rPr lang="en-GB" i="1" dirty="0">
                <a:highlight>
                  <a:srgbClr val="FFFF00"/>
                </a:highlight>
              </a:rPr>
              <a:t>")</a:t>
            </a:r>
          </a:p>
          <a:p>
            <a:pPr marL="0" indent="0">
              <a:buNone/>
            </a:pPr>
            <a:r>
              <a:rPr lang="en-GB" i="1" dirty="0">
                <a:highlight>
                  <a:srgbClr val="FFFF00"/>
                </a:highlight>
              </a:rPr>
              <a:t>  .header("Authorization", "Bearer </a:t>
            </a:r>
            <a:r>
              <a:rPr lang="en-GB" i="1" dirty="0" err="1">
                <a:highlight>
                  <a:srgbClr val="FFFF00"/>
                </a:highlight>
              </a:rPr>
              <a:t>your_token</a:t>
            </a:r>
            <a:r>
              <a:rPr lang="en-GB" i="1" dirty="0">
                <a:highlight>
                  <a:srgbClr val="FFFF00"/>
                </a:highlight>
              </a:rPr>
              <a:t>")</a:t>
            </a:r>
          </a:p>
          <a:p>
            <a:pPr marL="0" indent="0">
              <a:buNone/>
            </a:pPr>
            <a:r>
              <a:rPr lang="en-GB" i="1" dirty="0">
                <a:highlight>
                  <a:srgbClr val="FFFF00"/>
                </a:highlight>
              </a:rPr>
              <a:t>//Add using </a:t>
            </a:r>
            <a:r>
              <a:rPr lang="en-GB" i="1" dirty="0" err="1">
                <a:highlight>
                  <a:srgbClr val="FFFF00"/>
                </a:highlight>
              </a:rPr>
              <a:t>hashmap</a:t>
            </a:r>
            <a:endParaRPr lang="en-GB" i="1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GB" i="1" dirty="0">
                <a:highlight>
                  <a:srgbClr val="FFFF00"/>
                </a:highlight>
              </a:rPr>
              <a:t>Map&lt;String, String&gt; headers = new HashMap&lt;&gt;();</a:t>
            </a:r>
          </a:p>
          <a:p>
            <a:pPr marL="0" indent="0">
              <a:buNone/>
            </a:pPr>
            <a:r>
              <a:rPr lang="en-GB" i="1" dirty="0" err="1">
                <a:highlight>
                  <a:srgbClr val="FFFF00"/>
                </a:highlight>
              </a:rPr>
              <a:t>headers.put</a:t>
            </a:r>
            <a:r>
              <a:rPr lang="en-GB" i="1" dirty="0">
                <a:highlight>
                  <a:srgbClr val="FFFF00"/>
                </a:highlight>
              </a:rPr>
              <a:t>("Accept", "application/</a:t>
            </a:r>
            <a:r>
              <a:rPr lang="en-GB" i="1" dirty="0" err="1">
                <a:highlight>
                  <a:srgbClr val="FFFF00"/>
                </a:highlight>
              </a:rPr>
              <a:t>json</a:t>
            </a:r>
            <a:r>
              <a:rPr lang="en-GB" i="1" dirty="0">
                <a:highlight>
                  <a:srgbClr val="FFFF00"/>
                </a:highlight>
              </a:rPr>
              <a:t>");</a:t>
            </a:r>
          </a:p>
          <a:p>
            <a:pPr marL="0" indent="0">
              <a:buNone/>
            </a:pPr>
            <a:r>
              <a:rPr lang="en-GB" i="1" dirty="0" err="1">
                <a:highlight>
                  <a:srgbClr val="FFFF00"/>
                </a:highlight>
              </a:rPr>
              <a:t>headers.put</a:t>
            </a:r>
            <a:r>
              <a:rPr lang="en-GB" i="1" dirty="0">
                <a:highlight>
                  <a:srgbClr val="FFFF00"/>
                </a:highlight>
              </a:rPr>
              <a:t>("x-</a:t>
            </a:r>
            <a:r>
              <a:rPr lang="en-GB" i="1" dirty="0" err="1">
                <a:highlight>
                  <a:srgbClr val="FFFF00"/>
                </a:highlight>
              </a:rPr>
              <a:t>api</a:t>
            </a:r>
            <a:r>
              <a:rPr lang="en-GB" i="1" dirty="0">
                <a:highlight>
                  <a:srgbClr val="FFFF00"/>
                </a:highlight>
              </a:rPr>
              <a:t>-key", "abc123");</a:t>
            </a:r>
          </a:p>
          <a:p>
            <a:pPr marL="0" indent="0">
              <a:buNone/>
            </a:pPr>
            <a:endParaRPr lang="en-GB" i="1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GB" i="1" dirty="0">
                <a:highlight>
                  <a:srgbClr val="FFFF00"/>
                </a:highlight>
              </a:rPr>
              <a:t>given().headers(headers)</a:t>
            </a:r>
          </a:p>
          <a:p>
            <a:pPr marL="0" indent="0">
              <a:buNone/>
            </a:pPr>
            <a:endParaRPr lang="en-GB" i="1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GB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GB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049837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DB12D-B5A6-C69C-24D5-C1EB79507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Query Parameters - </a:t>
            </a:r>
            <a:r>
              <a:rPr lang="en-GB" b="1" dirty="0"/>
              <a:t>Used in GET requests to filter or paginate data</a:t>
            </a:r>
          </a:p>
          <a:p>
            <a:pPr marL="0" indent="0">
              <a:buNone/>
            </a:pPr>
            <a:r>
              <a:rPr lang="pt-BR" i="1" dirty="0">
                <a:highlight>
                  <a:srgbClr val="FFFF00"/>
                </a:highlight>
              </a:rPr>
              <a:t>given()</a:t>
            </a:r>
          </a:p>
          <a:p>
            <a:pPr marL="0" indent="0">
              <a:buNone/>
            </a:pPr>
            <a:r>
              <a:rPr lang="pt-BR" i="1" dirty="0">
                <a:highlight>
                  <a:srgbClr val="FFFF00"/>
                </a:highlight>
              </a:rPr>
              <a:t>  .queryParam("page", 2)</a:t>
            </a:r>
          </a:p>
          <a:p>
            <a:pPr marL="0" indent="0">
              <a:buNone/>
            </a:pPr>
            <a:r>
              <a:rPr lang="pt-BR" i="1" dirty="0">
                <a:highlight>
                  <a:srgbClr val="FFFF00"/>
                </a:highlight>
              </a:rPr>
              <a:t>  .queryParam("limit", 10)</a:t>
            </a:r>
          </a:p>
          <a:p>
            <a:pPr marL="0" indent="0">
              <a:buNone/>
            </a:pPr>
            <a:r>
              <a:rPr lang="pt-BR" i="1" dirty="0">
                <a:highlight>
                  <a:srgbClr val="FFFF00"/>
                </a:highlight>
              </a:rPr>
              <a:t>//multiple at once</a:t>
            </a:r>
          </a:p>
          <a:p>
            <a:pPr marL="0" indent="0">
              <a:buNone/>
            </a:pPr>
            <a:r>
              <a:rPr lang="pt-BR" i="1" dirty="0">
                <a:highlight>
                  <a:srgbClr val="FFFF00"/>
                </a:highlight>
              </a:rPr>
              <a:t>Map&lt;String, String&gt; queryParams = Map.of("sort", "asc", "type", "user");</a:t>
            </a:r>
          </a:p>
          <a:p>
            <a:pPr marL="0" indent="0">
              <a:buNone/>
            </a:pPr>
            <a:r>
              <a:rPr lang="pt-BR" i="1" dirty="0">
                <a:highlight>
                  <a:srgbClr val="FFFF00"/>
                </a:highlight>
              </a:rPr>
              <a:t>given().queryParams(queryParams)</a:t>
            </a:r>
          </a:p>
          <a:p>
            <a:pPr marL="0" indent="0">
              <a:buNone/>
            </a:pPr>
            <a:endParaRPr lang="pt-BR" i="1" dirty="0">
              <a:highlight>
                <a:srgbClr val="FFFF00"/>
              </a:highlight>
            </a:endParaRPr>
          </a:p>
          <a:p>
            <a:r>
              <a:rPr lang="en-IN" b="1" dirty="0"/>
              <a:t>Path Parameters - </a:t>
            </a:r>
            <a:r>
              <a:rPr lang="en-GB" b="1" dirty="0"/>
              <a:t>Used to dynamically insert values into the endpoint path</a:t>
            </a:r>
            <a:endParaRPr lang="pt-BR" b="1" i="1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GB" i="1" dirty="0">
                <a:highlight>
                  <a:srgbClr val="FFFF00"/>
                </a:highlight>
              </a:rPr>
              <a:t>given()</a:t>
            </a:r>
          </a:p>
          <a:p>
            <a:pPr marL="0" indent="0">
              <a:buNone/>
            </a:pPr>
            <a:r>
              <a:rPr lang="en-GB" i="1" dirty="0">
                <a:highlight>
                  <a:srgbClr val="FFFF00"/>
                </a:highlight>
              </a:rPr>
              <a:t>  .</a:t>
            </a:r>
            <a:r>
              <a:rPr lang="en-GB" i="1" dirty="0" err="1">
                <a:highlight>
                  <a:srgbClr val="FFFF00"/>
                </a:highlight>
              </a:rPr>
              <a:t>pathParam</a:t>
            </a:r>
            <a:r>
              <a:rPr lang="en-GB" i="1" dirty="0">
                <a:highlight>
                  <a:srgbClr val="FFFF00"/>
                </a:highlight>
              </a:rPr>
              <a:t>("</a:t>
            </a:r>
            <a:r>
              <a:rPr lang="en-GB" i="1" dirty="0" err="1">
                <a:highlight>
                  <a:srgbClr val="FFFF00"/>
                </a:highlight>
              </a:rPr>
              <a:t>userId</a:t>
            </a:r>
            <a:r>
              <a:rPr lang="en-GB" i="1" dirty="0">
                <a:highlight>
                  <a:srgbClr val="FFFF00"/>
                </a:highlight>
              </a:rPr>
              <a:t>", 101)</a:t>
            </a:r>
          </a:p>
          <a:p>
            <a:pPr marL="0" indent="0">
              <a:buNone/>
            </a:pPr>
            <a:r>
              <a:rPr lang="en-GB" i="1" dirty="0">
                <a:highlight>
                  <a:srgbClr val="FFFF00"/>
                </a:highlight>
              </a:rPr>
              <a:t>.when()</a:t>
            </a:r>
          </a:p>
          <a:p>
            <a:pPr marL="0" indent="0">
              <a:buNone/>
            </a:pPr>
            <a:r>
              <a:rPr lang="en-GB" i="1" dirty="0">
                <a:highlight>
                  <a:srgbClr val="FFFF00"/>
                </a:highlight>
              </a:rPr>
              <a:t>  .get("/users/{</a:t>
            </a:r>
            <a:r>
              <a:rPr lang="en-GB" i="1" dirty="0" err="1">
                <a:highlight>
                  <a:srgbClr val="FFFF00"/>
                </a:highlight>
              </a:rPr>
              <a:t>userId</a:t>
            </a:r>
            <a:r>
              <a:rPr lang="en-GB" i="1" dirty="0">
                <a:highlight>
                  <a:srgbClr val="FFFF00"/>
                </a:highlight>
              </a:rPr>
              <a:t>}")</a:t>
            </a:r>
          </a:p>
          <a:p>
            <a:pPr marL="0" indent="0">
              <a:buNone/>
            </a:pPr>
            <a:endParaRPr lang="pt-BR" i="1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86051655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2F552-7172-E07D-3A88-D4725EBABA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0"/>
            <a:ext cx="12289971" cy="6781800"/>
          </a:xfrm>
        </p:spPr>
        <p:txBody>
          <a:bodyPr/>
          <a:lstStyle/>
          <a:p>
            <a:r>
              <a:rPr lang="en-IN" b="1" dirty="0"/>
              <a:t>Request Body - </a:t>
            </a:r>
            <a:r>
              <a:rPr lang="en-GB" b="1" dirty="0"/>
              <a:t>Send data in POST, PUT, or PATCH requests</a:t>
            </a:r>
          </a:p>
          <a:p>
            <a:pPr marL="0" indent="0">
              <a:buNone/>
            </a:pPr>
            <a:r>
              <a:rPr lang="en-GB" i="1" dirty="0">
                <a:highlight>
                  <a:srgbClr val="FFFF00"/>
                </a:highlight>
              </a:rPr>
              <a:t>String </a:t>
            </a:r>
            <a:r>
              <a:rPr lang="en-GB" i="1" dirty="0" err="1">
                <a:highlight>
                  <a:srgbClr val="FFFF00"/>
                </a:highlight>
              </a:rPr>
              <a:t>jsonBody</a:t>
            </a:r>
            <a:r>
              <a:rPr lang="en-GB" i="1" dirty="0">
                <a:highlight>
                  <a:srgbClr val="FFFF00"/>
                </a:highlight>
              </a:rPr>
              <a:t> = """</a:t>
            </a:r>
          </a:p>
          <a:p>
            <a:pPr marL="0" indent="0">
              <a:buNone/>
            </a:pPr>
            <a:r>
              <a:rPr lang="en-GB" i="1" dirty="0">
                <a:highlight>
                  <a:srgbClr val="FFFF00"/>
                </a:highlight>
              </a:rPr>
              <a:t>{</a:t>
            </a:r>
          </a:p>
          <a:p>
            <a:pPr marL="0" indent="0">
              <a:buNone/>
            </a:pPr>
            <a:r>
              <a:rPr lang="en-GB" i="1" dirty="0">
                <a:highlight>
                  <a:srgbClr val="FFFF00"/>
                </a:highlight>
              </a:rPr>
              <a:t>  "name": "Alice",</a:t>
            </a:r>
          </a:p>
          <a:p>
            <a:pPr marL="0" indent="0">
              <a:buNone/>
            </a:pPr>
            <a:r>
              <a:rPr lang="en-GB" i="1" dirty="0">
                <a:highlight>
                  <a:srgbClr val="FFFF00"/>
                </a:highlight>
              </a:rPr>
              <a:t>  "email": "alice@example.com"</a:t>
            </a:r>
          </a:p>
          <a:p>
            <a:pPr marL="0" indent="0">
              <a:buNone/>
            </a:pPr>
            <a:r>
              <a:rPr lang="en-GB" i="1" dirty="0">
                <a:highlight>
                  <a:srgbClr val="FFFF00"/>
                </a:highlight>
              </a:rPr>
              <a:t>}</a:t>
            </a:r>
          </a:p>
          <a:p>
            <a:pPr marL="0" indent="0">
              <a:buNone/>
            </a:pPr>
            <a:r>
              <a:rPr lang="en-GB" i="1" dirty="0">
                <a:highlight>
                  <a:srgbClr val="FFFF00"/>
                </a:highlight>
              </a:rPr>
              <a:t>""";</a:t>
            </a:r>
          </a:p>
          <a:p>
            <a:pPr marL="0" indent="0">
              <a:buNone/>
            </a:pPr>
            <a:endParaRPr lang="en-GB" i="1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GB" i="1" dirty="0">
                <a:highlight>
                  <a:srgbClr val="FFFF00"/>
                </a:highlight>
              </a:rPr>
              <a:t>given()</a:t>
            </a:r>
          </a:p>
          <a:p>
            <a:pPr marL="0" indent="0">
              <a:buNone/>
            </a:pPr>
            <a:r>
              <a:rPr lang="en-GB" i="1" dirty="0">
                <a:highlight>
                  <a:srgbClr val="FFFF00"/>
                </a:highlight>
              </a:rPr>
              <a:t>  .body(</a:t>
            </a:r>
            <a:r>
              <a:rPr lang="en-GB" i="1" dirty="0" err="1">
                <a:highlight>
                  <a:srgbClr val="FFFF00"/>
                </a:highlight>
              </a:rPr>
              <a:t>jsonBody</a:t>
            </a:r>
            <a:r>
              <a:rPr lang="en-GB" i="1" dirty="0">
                <a:highlight>
                  <a:srgbClr val="FFFF00"/>
                </a:highlight>
              </a:rPr>
              <a:t>)</a:t>
            </a:r>
          </a:p>
          <a:p>
            <a:pPr marL="0" indent="0">
              <a:buNone/>
            </a:pPr>
            <a:r>
              <a:rPr lang="en-GB" i="1" dirty="0">
                <a:highlight>
                  <a:srgbClr val="FFFF00"/>
                </a:highlight>
              </a:rPr>
              <a:t>  .contentType("application/</a:t>
            </a:r>
            <a:r>
              <a:rPr lang="en-GB" i="1" dirty="0" err="1">
                <a:highlight>
                  <a:srgbClr val="FFFF00"/>
                </a:highlight>
              </a:rPr>
              <a:t>json</a:t>
            </a:r>
            <a:r>
              <a:rPr lang="en-GB" i="1" dirty="0">
                <a:highlight>
                  <a:srgbClr val="FFFF00"/>
                </a:highlight>
              </a:rPr>
              <a:t>")</a:t>
            </a:r>
          </a:p>
          <a:p>
            <a:pPr marL="0" indent="0">
              <a:buNone/>
            </a:pPr>
            <a:r>
              <a:rPr lang="en-IN" dirty="0"/>
              <a:t>//</a:t>
            </a:r>
            <a:r>
              <a:rPr lang="en-GB" dirty="0"/>
              <a:t>You can also use POJOs or external files</a:t>
            </a:r>
          </a:p>
          <a:p>
            <a:pPr marL="0" indent="0">
              <a:buNone/>
            </a:pPr>
            <a:r>
              <a:rPr lang="en-GB" i="1" dirty="0">
                <a:highlight>
                  <a:srgbClr val="FFFF00"/>
                </a:highlight>
              </a:rPr>
              <a:t>given().body(new User("Alice", "alice@example.com"))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043355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CF434-1083-776F-08B4-F87849051E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781800"/>
          </a:xfrm>
        </p:spPr>
        <p:txBody>
          <a:bodyPr/>
          <a:lstStyle/>
          <a:p>
            <a:r>
              <a:rPr lang="en-IN" b="1" dirty="0"/>
              <a:t>Authentication - supports multiple authentication type</a:t>
            </a:r>
          </a:p>
          <a:p>
            <a:pPr marL="0" indent="0">
              <a:buNone/>
            </a:pPr>
            <a:r>
              <a:rPr lang="en-GB" i="1" dirty="0">
                <a:highlight>
                  <a:srgbClr val="FFFF00"/>
                </a:highlight>
              </a:rPr>
              <a:t>.auth().basic("user", "pass")</a:t>
            </a:r>
          </a:p>
          <a:p>
            <a:pPr marL="0" indent="0">
              <a:buNone/>
            </a:pPr>
            <a:r>
              <a:rPr lang="en-GB" i="1" dirty="0">
                <a:highlight>
                  <a:srgbClr val="FFFF00"/>
                </a:highlight>
              </a:rPr>
              <a:t>.auth().digest("user", "pass")</a:t>
            </a:r>
          </a:p>
          <a:p>
            <a:pPr marL="0" indent="0">
              <a:buNone/>
            </a:pPr>
            <a:r>
              <a:rPr lang="en-GB" i="1" dirty="0">
                <a:highlight>
                  <a:srgbClr val="FFFF00"/>
                </a:highlight>
              </a:rPr>
              <a:t>.auth().oauth2("</a:t>
            </a:r>
            <a:r>
              <a:rPr lang="en-GB" i="1" dirty="0" err="1">
                <a:highlight>
                  <a:srgbClr val="FFFF00"/>
                </a:highlight>
              </a:rPr>
              <a:t>access_token</a:t>
            </a:r>
            <a:r>
              <a:rPr lang="en-GB" i="1" dirty="0">
                <a:highlight>
                  <a:srgbClr val="FFFF00"/>
                </a:highlight>
              </a:rPr>
              <a:t>")</a:t>
            </a:r>
          </a:p>
          <a:p>
            <a:pPr marL="0" indent="0">
              <a:buNone/>
            </a:pPr>
            <a:endParaRPr lang="en-GB" i="1" dirty="0">
              <a:highlight>
                <a:srgbClr val="FFFF00"/>
              </a:highlight>
            </a:endParaRPr>
          </a:p>
          <a:p>
            <a:r>
              <a:rPr lang="en-IN" b="1" dirty="0"/>
              <a:t>Cookies - </a:t>
            </a:r>
            <a:r>
              <a:rPr lang="en-GB" b="1" dirty="0"/>
              <a:t>Send cookies with your request</a:t>
            </a:r>
          </a:p>
          <a:p>
            <a:pPr marL="0" indent="0">
              <a:buNone/>
            </a:pPr>
            <a:r>
              <a:rPr lang="en-GB" i="1" dirty="0">
                <a:highlight>
                  <a:srgbClr val="FFFF00"/>
                </a:highlight>
              </a:rPr>
              <a:t>given()</a:t>
            </a:r>
          </a:p>
          <a:p>
            <a:pPr marL="0" indent="0">
              <a:buNone/>
            </a:pPr>
            <a:r>
              <a:rPr lang="en-GB" i="1" dirty="0">
                <a:highlight>
                  <a:srgbClr val="FFFF00"/>
                </a:highlight>
              </a:rPr>
              <a:t>  .cookie("</a:t>
            </a:r>
            <a:r>
              <a:rPr lang="en-GB" i="1" dirty="0" err="1">
                <a:highlight>
                  <a:srgbClr val="FFFF00"/>
                </a:highlight>
              </a:rPr>
              <a:t>session_id</a:t>
            </a:r>
            <a:r>
              <a:rPr lang="en-GB" i="1" dirty="0">
                <a:highlight>
                  <a:srgbClr val="FFFF00"/>
                </a:highlight>
              </a:rPr>
              <a:t>", "xyz123")</a:t>
            </a:r>
          </a:p>
          <a:p>
            <a:pPr marL="0" indent="0">
              <a:buNone/>
            </a:pPr>
            <a:r>
              <a:rPr lang="en-GB" i="1" dirty="0"/>
              <a:t>//multiple cookies</a:t>
            </a:r>
          </a:p>
          <a:p>
            <a:pPr marL="0" indent="0">
              <a:buNone/>
            </a:pPr>
            <a:r>
              <a:rPr lang="en-GB" i="1" dirty="0">
                <a:highlight>
                  <a:srgbClr val="FFFF00"/>
                </a:highlight>
              </a:rPr>
              <a:t>Map&lt;String, String&gt; cookies = </a:t>
            </a:r>
            <a:r>
              <a:rPr lang="en-GB" i="1" dirty="0" err="1">
                <a:highlight>
                  <a:srgbClr val="FFFF00"/>
                </a:highlight>
              </a:rPr>
              <a:t>Map.of</a:t>
            </a:r>
            <a:r>
              <a:rPr lang="en-GB" i="1" dirty="0">
                <a:highlight>
                  <a:srgbClr val="FFFF00"/>
                </a:highlight>
              </a:rPr>
              <a:t>("user", "admin", "theme", "dark");</a:t>
            </a:r>
          </a:p>
          <a:p>
            <a:pPr marL="0" indent="0">
              <a:buNone/>
            </a:pPr>
            <a:r>
              <a:rPr lang="en-GB" i="1" dirty="0">
                <a:highlight>
                  <a:srgbClr val="FFFF00"/>
                </a:highlight>
              </a:rPr>
              <a:t>given().cookies(cookies)</a:t>
            </a:r>
          </a:p>
          <a:p>
            <a:pPr marL="0" indent="0">
              <a:buNone/>
            </a:pPr>
            <a:endParaRPr lang="en-GB" b="1" i="1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8407236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20279-0B2C-C5E9-7D04-DDBAF36E7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0"/>
            <a:ext cx="12115800" cy="6858000"/>
          </a:xfrm>
        </p:spPr>
        <p:txBody>
          <a:bodyPr/>
          <a:lstStyle/>
          <a:p>
            <a:r>
              <a:rPr lang="en-GB" b="1" dirty="0"/>
              <a:t>Content Type and Accept Type - Specify the format of request and expected response</a:t>
            </a:r>
          </a:p>
          <a:p>
            <a:pPr marL="0" indent="0">
              <a:buNone/>
            </a:pPr>
            <a:r>
              <a:rPr lang="fr-FR" i="1" dirty="0" err="1">
                <a:highlight>
                  <a:srgbClr val="FFFF00"/>
                </a:highlight>
              </a:rPr>
              <a:t>given</a:t>
            </a:r>
            <a:r>
              <a:rPr lang="fr-FR" i="1" dirty="0">
                <a:highlight>
                  <a:srgbClr val="FFFF00"/>
                </a:highlight>
              </a:rPr>
              <a:t>()</a:t>
            </a:r>
          </a:p>
          <a:p>
            <a:pPr marL="0" indent="0">
              <a:buNone/>
            </a:pPr>
            <a:r>
              <a:rPr lang="fr-FR" i="1" dirty="0">
                <a:highlight>
                  <a:srgbClr val="FFFF00"/>
                </a:highlight>
              </a:rPr>
              <a:t>.contentType(</a:t>
            </a:r>
            <a:r>
              <a:rPr lang="fr-FR" i="1" dirty="0" err="1">
                <a:highlight>
                  <a:srgbClr val="FFFF00"/>
                </a:highlight>
              </a:rPr>
              <a:t>ContentType.JSON</a:t>
            </a:r>
            <a:r>
              <a:rPr lang="fr-FR" i="1" dirty="0">
                <a:highlight>
                  <a:srgbClr val="FFFF00"/>
                </a:highlight>
              </a:rPr>
              <a:t>)</a:t>
            </a:r>
          </a:p>
          <a:p>
            <a:pPr marL="0" indent="0">
              <a:buNone/>
            </a:pPr>
            <a:r>
              <a:rPr lang="fr-FR" i="1" dirty="0">
                <a:highlight>
                  <a:srgbClr val="FFFF00"/>
                </a:highlight>
              </a:rPr>
              <a:t>.</a:t>
            </a:r>
            <a:r>
              <a:rPr lang="fr-FR" i="1" dirty="0" err="1">
                <a:highlight>
                  <a:srgbClr val="FFFF00"/>
                </a:highlight>
              </a:rPr>
              <a:t>accept</a:t>
            </a:r>
            <a:r>
              <a:rPr lang="fr-FR" i="1" dirty="0">
                <a:highlight>
                  <a:srgbClr val="FFFF00"/>
                </a:highlight>
              </a:rPr>
              <a:t>(</a:t>
            </a:r>
            <a:r>
              <a:rPr lang="fr-FR" i="1" dirty="0" err="1">
                <a:highlight>
                  <a:srgbClr val="FFFF00"/>
                </a:highlight>
              </a:rPr>
              <a:t>ContentType.JSON</a:t>
            </a:r>
            <a:r>
              <a:rPr lang="fr-FR" i="1" dirty="0">
                <a:highlight>
                  <a:srgbClr val="FFFF00"/>
                </a:highlight>
              </a:rPr>
              <a:t>)</a:t>
            </a:r>
          </a:p>
          <a:p>
            <a:pPr marL="0" indent="0">
              <a:buNone/>
            </a:pPr>
            <a:endParaRPr lang="fr-FR" i="1" dirty="0">
              <a:highlight>
                <a:srgbClr val="FFFF00"/>
              </a:highlight>
            </a:endParaRPr>
          </a:p>
          <a:p>
            <a:r>
              <a:rPr lang="en-IN" b="1" dirty="0"/>
              <a:t>Logging - </a:t>
            </a:r>
            <a:r>
              <a:rPr lang="en-GB" b="1" dirty="0"/>
              <a:t>Log request and response for debugging</a:t>
            </a:r>
            <a:endParaRPr lang="fr-FR" b="1" i="1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GB" i="1" dirty="0">
                <a:highlight>
                  <a:srgbClr val="FFFF00"/>
                </a:highlight>
              </a:rPr>
              <a:t>given()</a:t>
            </a:r>
          </a:p>
          <a:p>
            <a:pPr marL="0" indent="0">
              <a:buNone/>
            </a:pPr>
            <a:r>
              <a:rPr lang="en-GB" i="1" dirty="0">
                <a:highlight>
                  <a:srgbClr val="FFFF00"/>
                </a:highlight>
              </a:rPr>
              <a:t>.log().all() // Logs everything</a:t>
            </a:r>
          </a:p>
          <a:p>
            <a:pPr marL="0" indent="0">
              <a:buNone/>
            </a:pPr>
            <a:r>
              <a:rPr lang="en-GB" i="1" dirty="0">
                <a:highlight>
                  <a:srgbClr val="FFFF00"/>
                </a:highlight>
              </a:rPr>
              <a:t>.log().headers()</a:t>
            </a:r>
          </a:p>
          <a:p>
            <a:pPr marL="0" indent="0">
              <a:buNone/>
            </a:pPr>
            <a:r>
              <a:rPr lang="en-GB" i="1" dirty="0">
                <a:highlight>
                  <a:srgbClr val="FFFF00"/>
                </a:highlight>
              </a:rPr>
              <a:t>.log().body()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107333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1F9FE41-87AE-FCCE-B149-B39B2A57D2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512673"/>
              </p:ext>
            </p:extLst>
          </p:nvPr>
        </p:nvGraphicFramePr>
        <p:xfrm>
          <a:off x="712532" y="2112579"/>
          <a:ext cx="10790878" cy="4192815"/>
        </p:xfrm>
        <a:graphic>
          <a:graphicData uri="http://schemas.openxmlformats.org/drawingml/2006/table">
            <a:tbl>
              <a:tblPr/>
              <a:tblGrid>
                <a:gridCol w="2117189">
                  <a:extLst>
                    <a:ext uri="{9D8B030D-6E8A-4147-A177-3AD203B41FA5}">
                      <a16:colId xmlns:a16="http://schemas.microsoft.com/office/drawing/2014/main" val="3872769289"/>
                    </a:ext>
                  </a:extLst>
                </a:gridCol>
                <a:gridCol w="3464572">
                  <a:extLst>
                    <a:ext uri="{9D8B030D-6E8A-4147-A177-3AD203B41FA5}">
                      <a16:colId xmlns:a16="http://schemas.microsoft.com/office/drawing/2014/main" val="4275984215"/>
                    </a:ext>
                  </a:extLst>
                </a:gridCol>
                <a:gridCol w="5209117">
                  <a:extLst>
                    <a:ext uri="{9D8B030D-6E8A-4147-A177-3AD203B41FA5}">
                      <a16:colId xmlns:a16="http://schemas.microsoft.com/office/drawing/2014/main" val="524940879"/>
                    </a:ext>
                  </a:extLst>
                </a:gridCol>
              </a:tblGrid>
              <a:tr h="3811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Option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495" marR="11495" marT="114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Purpose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495" marR="11495" marT="114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Example Syntax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495" marR="11495" marT="114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0543472"/>
                  </a:ext>
                </a:extLst>
              </a:tr>
              <a:tr h="38116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baseUri()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495" marR="11495" marT="114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Set base URL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495" marR="11495" marT="114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.baseUri("https://api.example.com")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495" marR="11495" marT="114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0544927"/>
                  </a:ext>
                </a:extLst>
              </a:tr>
              <a:tr h="38116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header()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495" marR="11495" marT="114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Add HTTP headers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495" marR="11495" marT="114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.header("Authorization", "Bearer xyz")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495" marR="11495" marT="114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0189538"/>
                  </a:ext>
                </a:extLst>
              </a:tr>
              <a:tr h="38116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queryParam()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495" marR="11495" marT="114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Add query parameters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495" marR="11495" marT="114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.queryParam("page", 2)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495" marR="11495" marT="114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6193620"/>
                  </a:ext>
                </a:extLst>
              </a:tr>
              <a:tr h="38116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pathParam()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495" marR="11495" marT="114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Add path parameters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495" marR="11495" marT="114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.pathParam("id", 101)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495" marR="11495" marT="114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4490930"/>
                  </a:ext>
                </a:extLst>
              </a:tr>
              <a:tr h="38116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body()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495" marR="11495" marT="114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Add request payload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495" marR="11495" marT="114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.body(jsonString)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495" marR="11495" marT="114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990499"/>
                  </a:ext>
                </a:extLst>
              </a:tr>
              <a:tr h="38116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auth()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495" marR="11495" marT="114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Add authentication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495" marR="11495" marT="114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.auth().basic("user", "pass")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495" marR="11495" marT="114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3197225"/>
                  </a:ext>
                </a:extLst>
              </a:tr>
              <a:tr h="38116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cookie()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495" marR="11495" marT="114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Add cookies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495" marR="11495" marT="114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.cookie("session", "abc123")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495" marR="11495" marT="114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9037206"/>
                  </a:ext>
                </a:extLst>
              </a:tr>
              <a:tr h="38116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contentType()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495" marR="11495" marT="114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Set request content type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495" marR="11495" marT="114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.contentType(ContentType.JSON)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495" marR="11495" marT="114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850720"/>
                  </a:ext>
                </a:extLst>
              </a:tr>
              <a:tr h="38116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accept()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495" marR="11495" marT="114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Set expected response format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495" marR="11495" marT="114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.accept(ContentType.JSON)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495" marR="11495" marT="114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6236877"/>
                  </a:ext>
                </a:extLst>
              </a:tr>
              <a:tr h="38116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log()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495" marR="11495" marT="114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Enable logging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495" marR="11495" marT="114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.log().all()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495" marR="11495" marT="114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2720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183000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0B26453-3BB6-EFFB-FC19-78F50D78448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D3FDC-02F6-786E-7C7D-B7AADBA3A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GB" dirty="0"/>
              <a:t>Key Operations on the Response</a:t>
            </a:r>
            <a:endParaRPr lang="en-IN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C3B702-374C-2CD6-F29F-DD28CF1B87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3195343"/>
              </p:ext>
            </p:extLst>
          </p:nvPr>
        </p:nvGraphicFramePr>
        <p:xfrm>
          <a:off x="206829" y="979714"/>
          <a:ext cx="11985171" cy="58782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068584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CC0DD-9E82-0C90-33EF-CB143AF4F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IN" b="1" dirty="0"/>
              <a:t>Status Code Validation - </a:t>
            </a:r>
            <a:r>
              <a:rPr lang="en-GB" b="1" dirty="0"/>
              <a:t>Check if the response returned the expected HTTP status</a:t>
            </a:r>
          </a:p>
          <a:p>
            <a:pPr marL="0" indent="0">
              <a:buNone/>
            </a:pPr>
            <a:r>
              <a:rPr lang="en-GB" i="1" dirty="0">
                <a:highlight>
                  <a:srgbClr val="FFFF00"/>
                </a:highlight>
              </a:rPr>
              <a:t>given()</a:t>
            </a:r>
          </a:p>
          <a:p>
            <a:pPr marL="0" indent="0">
              <a:buNone/>
            </a:pPr>
            <a:r>
              <a:rPr lang="en-GB" i="1" dirty="0">
                <a:highlight>
                  <a:srgbClr val="FFFF00"/>
                </a:highlight>
              </a:rPr>
              <a:t>  .when()</a:t>
            </a:r>
          </a:p>
          <a:p>
            <a:pPr marL="0" indent="0">
              <a:buNone/>
            </a:pPr>
            <a:r>
              <a:rPr lang="en-GB" i="1" dirty="0">
                <a:highlight>
                  <a:srgbClr val="FFFF00"/>
                </a:highlight>
              </a:rPr>
              <a:t>  .get("/</a:t>
            </a:r>
            <a:r>
              <a:rPr lang="en-GB" i="1" dirty="0" err="1">
                <a:highlight>
                  <a:srgbClr val="FFFF00"/>
                </a:highlight>
              </a:rPr>
              <a:t>api</a:t>
            </a:r>
            <a:r>
              <a:rPr lang="en-GB" i="1" dirty="0">
                <a:highlight>
                  <a:srgbClr val="FFFF00"/>
                </a:highlight>
              </a:rPr>
              <a:t>/users"). </a:t>
            </a:r>
            <a:r>
              <a:rPr lang="en-GB" i="1" dirty="0" err="1">
                <a:highlight>
                  <a:srgbClr val="FFFF00"/>
                </a:highlight>
              </a:rPr>
              <a:t>response.then</a:t>
            </a:r>
            <a:r>
              <a:rPr lang="en-GB" i="1" dirty="0">
                <a:highlight>
                  <a:srgbClr val="FFFF00"/>
                </a:highlight>
              </a:rPr>
              <a:t>().statusCode(200);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b="1" dirty="0"/>
              <a:t>Headers - Get a specific header</a:t>
            </a:r>
          </a:p>
          <a:p>
            <a:pPr marL="0" indent="0">
              <a:buNone/>
            </a:pPr>
            <a:r>
              <a:rPr lang="en-GB" i="1" dirty="0">
                <a:highlight>
                  <a:srgbClr val="FFFF00"/>
                </a:highlight>
              </a:rPr>
              <a:t>String contentType = </a:t>
            </a:r>
            <a:r>
              <a:rPr lang="en-GB" i="1" dirty="0" err="1">
                <a:highlight>
                  <a:srgbClr val="FFFF00"/>
                </a:highlight>
              </a:rPr>
              <a:t>response.getHeader</a:t>
            </a:r>
            <a:r>
              <a:rPr lang="en-GB" i="1" dirty="0">
                <a:highlight>
                  <a:srgbClr val="FFFF00"/>
                </a:highlight>
              </a:rPr>
              <a:t>("Content-Type");</a:t>
            </a:r>
          </a:p>
          <a:p>
            <a:pPr marL="0" indent="0">
              <a:buNone/>
            </a:pPr>
            <a:r>
              <a:rPr lang="en-IN" i="1" dirty="0">
                <a:highlight>
                  <a:srgbClr val="FFFF00"/>
                </a:highlight>
              </a:rPr>
              <a:t>Headers </a:t>
            </a:r>
            <a:r>
              <a:rPr lang="en-IN" i="1" dirty="0" err="1">
                <a:highlight>
                  <a:srgbClr val="FFFF00"/>
                </a:highlight>
              </a:rPr>
              <a:t>headers</a:t>
            </a:r>
            <a:r>
              <a:rPr lang="en-IN" i="1" dirty="0">
                <a:highlight>
                  <a:srgbClr val="FFFF00"/>
                </a:highlight>
              </a:rPr>
              <a:t> = </a:t>
            </a:r>
            <a:r>
              <a:rPr lang="en-IN" i="1" dirty="0" err="1">
                <a:highlight>
                  <a:srgbClr val="FFFF00"/>
                </a:highlight>
              </a:rPr>
              <a:t>response.getHeaders</a:t>
            </a:r>
            <a:r>
              <a:rPr lang="en-IN" i="1" dirty="0">
                <a:highlight>
                  <a:srgbClr val="FFFF00"/>
                </a:highlight>
              </a:rPr>
              <a:t>();//returns all headers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b="1" dirty="0"/>
              <a:t>Cookies - Get a specific cookie</a:t>
            </a:r>
          </a:p>
          <a:p>
            <a:pPr marL="0" indent="0">
              <a:buNone/>
            </a:pPr>
            <a:r>
              <a:rPr lang="en-IN" i="1" dirty="0">
                <a:highlight>
                  <a:srgbClr val="FFFF00"/>
                </a:highlight>
              </a:rPr>
              <a:t>String </a:t>
            </a:r>
            <a:r>
              <a:rPr lang="en-IN" i="1" dirty="0" err="1">
                <a:highlight>
                  <a:srgbClr val="FFFF00"/>
                </a:highlight>
              </a:rPr>
              <a:t>sessionId</a:t>
            </a:r>
            <a:r>
              <a:rPr lang="en-IN" i="1" dirty="0">
                <a:highlight>
                  <a:srgbClr val="FFFF00"/>
                </a:highlight>
              </a:rPr>
              <a:t> = </a:t>
            </a:r>
            <a:r>
              <a:rPr lang="en-IN" i="1" dirty="0" err="1">
                <a:highlight>
                  <a:srgbClr val="FFFF00"/>
                </a:highlight>
              </a:rPr>
              <a:t>response.getCookie</a:t>
            </a:r>
            <a:r>
              <a:rPr lang="en-IN" i="1" dirty="0">
                <a:highlight>
                  <a:srgbClr val="FFFF00"/>
                </a:highlight>
              </a:rPr>
              <a:t>("JSESSIONID");</a:t>
            </a:r>
          </a:p>
          <a:p>
            <a:pPr marL="0" indent="0">
              <a:buNone/>
            </a:pPr>
            <a:r>
              <a:rPr lang="en-GB" i="1" dirty="0">
                <a:highlight>
                  <a:srgbClr val="FFFF00"/>
                </a:highlight>
              </a:rPr>
              <a:t>Map&lt;String, String&gt; cookies = </a:t>
            </a:r>
            <a:r>
              <a:rPr lang="en-GB" i="1" dirty="0" err="1">
                <a:highlight>
                  <a:srgbClr val="FFFF00"/>
                </a:highlight>
              </a:rPr>
              <a:t>response.getCookies</a:t>
            </a:r>
            <a:r>
              <a:rPr lang="en-GB" i="1" dirty="0">
                <a:highlight>
                  <a:srgbClr val="FFFF00"/>
                </a:highlight>
              </a:rPr>
              <a:t>();//returns all cookies</a:t>
            </a:r>
          </a:p>
          <a:p>
            <a:pPr marL="0" indent="0">
              <a:buNone/>
            </a:pPr>
            <a:endParaRPr lang="en-IN" i="1" dirty="0"/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53289643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A6845-F6EF-4CF1-9766-0E31C6B3BA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0"/>
            <a:ext cx="12115800" cy="6999514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Response Time - </a:t>
            </a:r>
            <a:r>
              <a:rPr lang="en-GB" b="1" dirty="0"/>
              <a:t>Measure how long the request took</a:t>
            </a:r>
          </a:p>
          <a:p>
            <a:pPr marL="0" indent="0">
              <a:buNone/>
            </a:pPr>
            <a:r>
              <a:rPr lang="en-GB" i="1" dirty="0">
                <a:highlight>
                  <a:srgbClr val="FFFF00"/>
                </a:highlight>
              </a:rPr>
              <a:t>long </a:t>
            </a:r>
            <a:r>
              <a:rPr lang="en-GB" i="1" dirty="0" err="1">
                <a:highlight>
                  <a:srgbClr val="FFFF00"/>
                </a:highlight>
              </a:rPr>
              <a:t>timeInMs</a:t>
            </a:r>
            <a:r>
              <a:rPr lang="en-GB" i="1" dirty="0">
                <a:highlight>
                  <a:srgbClr val="FFFF00"/>
                </a:highlight>
              </a:rPr>
              <a:t> = </a:t>
            </a:r>
            <a:r>
              <a:rPr lang="en-GB" i="1" dirty="0" err="1">
                <a:highlight>
                  <a:srgbClr val="FFFF00"/>
                </a:highlight>
              </a:rPr>
              <a:t>response.getTime</a:t>
            </a:r>
            <a:r>
              <a:rPr lang="en-GB" i="1" dirty="0">
                <a:highlight>
                  <a:srgbClr val="FFFF00"/>
                </a:highlight>
              </a:rPr>
              <a:t>(); // in milliseconds</a:t>
            </a:r>
          </a:p>
          <a:p>
            <a:pPr marL="0" indent="0">
              <a:buNone/>
            </a:pPr>
            <a:endParaRPr lang="en-GB" i="1" dirty="0">
              <a:highlight>
                <a:srgbClr val="FFFF00"/>
              </a:highlight>
            </a:endParaRPr>
          </a:p>
          <a:p>
            <a:r>
              <a:rPr lang="en-IN" b="1" dirty="0"/>
              <a:t>Body Content  -return the response body</a:t>
            </a:r>
          </a:p>
          <a:p>
            <a:pPr marL="0" indent="0">
              <a:buNone/>
            </a:pPr>
            <a:r>
              <a:rPr lang="en-GB" i="1" dirty="0">
                <a:highlight>
                  <a:srgbClr val="FFFF00"/>
                </a:highlight>
              </a:rPr>
              <a:t>String body = </a:t>
            </a:r>
            <a:r>
              <a:rPr lang="en-GB" i="1" dirty="0" err="1">
                <a:highlight>
                  <a:srgbClr val="FFFF00"/>
                </a:highlight>
              </a:rPr>
              <a:t>response.getBody</a:t>
            </a:r>
            <a:r>
              <a:rPr lang="en-GB" i="1" dirty="0">
                <a:highlight>
                  <a:srgbClr val="FFFF00"/>
                </a:highlight>
              </a:rPr>
              <a:t>().</a:t>
            </a:r>
            <a:r>
              <a:rPr lang="en-GB" i="1" dirty="0" err="1">
                <a:highlight>
                  <a:srgbClr val="FFFF00"/>
                </a:highlight>
              </a:rPr>
              <a:t>asString</a:t>
            </a:r>
            <a:r>
              <a:rPr lang="en-GB" i="1" dirty="0">
                <a:highlight>
                  <a:srgbClr val="FFFF00"/>
                </a:highlight>
              </a:rPr>
              <a:t>();</a:t>
            </a:r>
          </a:p>
          <a:p>
            <a:pPr marL="0" indent="0">
              <a:buNone/>
            </a:pPr>
            <a:endParaRPr lang="en-GB" i="1" dirty="0">
              <a:highlight>
                <a:srgbClr val="FFFF00"/>
              </a:highlight>
            </a:endParaRPr>
          </a:p>
          <a:p>
            <a:r>
              <a:rPr lang="en-IN" b="1" dirty="0"/>
              <a:t>JSON Parsing - </a:t>
            </a:r>
            <a:r>
              <a:rPr lang="en-GB" b="1" dirty="0"/>
              <a:t>Use </a:t>
            </a:r>
            <a:r>
              <a:rPr lang="en-GB" b="1" dirty="0" err="1"/>
              <a:t>JsonPath</a:t>
            </a:r>
            <a:r>
              <a:rPr lang="en-GB" b="1" dirty="0"/>
              <a:t> to extract values</a:t>
            </a:r>
          </a:p>
          <a:p>
            <a:pPr marL="0" indent="0">
              <a:buNone/>
            </a:pPr>
            <a:r>
              <a:rPr lang="en-GB" i="1" dirty="0">
                <a:highlight>
                  <a:srgbClr val="FFFF00"/>
                </a:highlight>
              </a:rPr>
              <a:t>String name = </a:t>
            </a:r>
            <a:r>
              <a:rPr lang="en-GB" i="1" dirty="0" err="1">
                <a:highlight>
                  <a:srgbClr val="FFFF00"/>
                </a:highlight>
              </a:rPr>
              <a:t>response.jsonPath</a:t>
            </a:r>
            <a:r>
              <a:rPr lang="en-GB" i="1" dirty="0">
                <a:highlight>
                  <a:srgbClr val="FFFF00"/>
                </a:highlight>
              </a:rPr>
              <a:t>().</a:t>
            </a:r>
            <a:r>
              <a:rPr lang="en-GB" i="1" dirty="0" err="1">
                <a:highlight>
                  <a:srgbClr val="FFFF00"/>
                </a:highlight>
              </a:rPr>
              <a:t>getString</a:t>
            </a:r>
            <a:r>
              <a:rPr lang="en-GB" i="1" dirty="0">
                <a:highlight>
                  <a:srgbClr val="FFFF00"/>
                </a:highlight>
              </a:rPr>
              <a:t>("data.name");</a:t>
            </a:r>
          </a:p>
          <a:p>
            <a:pPr marL="0" indent="0">
              <a:buNone/>
            </a:pPr>
            <a:r>
              <a:rPr lang="en-GB" i="1" dirty="0">
                <a:highlight>
                  <a:srgbClr val="FFFF00"/>
                </a:highlight>
              </a:rPr>
              <a:t>int age = </a:t>
            </a:r>
            <a:r>
              <a:rPr lang="en-GB" i="1" dirty="0" err="1">
                <a:highlight>
                  <a:srgbClr val="FFFF00"/>
                </a:highlight>
              </a:rPr>
              <a:t>response.jsonPath</a:t>
            </a:r>
            <a:r>
              <a:rPr lang="en-GB" i="1" dirty="0">
                <a:highlight>
                  <a:srgbClr val="FFFF00"/>
                </a:highlight>
              </a:rPr>
              <a:t>().</a:t>
            </a:r>
            <a:r>
              <a:rPr lang="en-GB" i="1" dirty="0" err="1">
                <a:highlight>
                  <a:srgbClr val="FFFF00"/>
                </a:highlight>
              </a:rPr>
              <a:t>getInt</a:t>
            </a:r>
            <a:r>
              <a:rPr lang="en-GB" i="1" dirty="0">
                <a:highlight>
                  <a:srgbClr val="FFFF00"/>
                </a:highlight>
              </a:rPr>
              <a:t>("</a:t>
            </a:r>
            <a:r>
              <a:rPr lang="en-GB" i="1" dirty="0" err="1">
                <a:highlight>
                  <a:srgbClr val="FFFF00"/>
                </a:highlight>
              </a:rPr>
              <a:t>data.age</a:t>
            </a:r>
            <a:r>
              <a:rPr lang="en-GB" i="1" dirty="0">
                <a:highlight>
                  <a:srgbClr val="FFFF00"/>
                </a:highlight>
              </a:rPr>
              <a:t>");</a:t>
            </a:r>
          </a:p>
          <a:p>
            <a:pPr marL="0" indent="0">
              <a:buNone/>
            </a:pPr>
            <a:r>
              <a:rPr lang="en-GB" i="1" dirty="0">
                <a:highlight>
                  <a:srgbClr val="FFFF00"/>
                </a:highlight>
              </a:rPr>
              <a:t>List&lt;String&gt; emails = </a:t>
            </a:r>
            <a:r>
              <a:rPr lang="en-GB" i="1" dirty="0" err="1">
                <a:highlight>
                  <a:srgbClr val="FFFF00"/>
                </a:highlight>
              </a:rPr>
              <a:t>response.jsonPath</a:t>
            </a:r>
            <a:r>
              <a:rPr lang="en-GB" i="1" dirty="0">
                <a:highlight>
                  <a:srgbClr val="FFFF00"/>
                </a:highlight>
              </a:rPr>
              <a:t>().</a:t>
            </a:r>
            <a:r>
              <a:rPr lang="en-GB" i="1" dirty="0" err="1">
                <a:highlight>
                  <a:srgbClr val="FFFF00"/>
                </a:highlight>
              </a:rPr>
              <a:t>getList</a:t>
            </a:r>
            <a:r>
              <a:rPr lang="en-GB" i="1" dirty="0">
                <a:highlight>
                  <a:srgbClr val="FFFF00"/>
                </a:highlight>
              </a:rPr>
              <a:t>("</a:t>
            </a:r>
            <a:r>
              <a:rPr lang="en-GB" i="1" dirty="0" err="1">
                <a:highlight>
                  <a:srgbClr val="FFFF00"/>
                </a:highlight>
              </a:rPr>
              <a:t>data.email</a:t>
            </a:r>
            <a:r>
              <a:rPr lang="en-GB" i="1" dirty="0">
                <a:highlight>
                  <a:srgbClr val="FFFF00"/>
                </a:highlight>
              </a:rPr>
              <a:t>");</a:t>
            </a:r>
          </a:p>
          <a:p>
            <a:pPr marL="0" indent="0">
              <a:buNone/>
            </a:pPr>
            <a:endParaRPr lang="en-GB" i="1" dirty="0">
              <a:highlight>
                <a:srgbClr val="FFFF00"/>
              </a:highlight>
            </a:endParaRPr>
          </a:p>
          <a:p>
            <a:r>
              <a:rPr lang="en-IN" b="1" dirty="0"/>
              <a:t>XML Parsing – parse XML response</a:t>
            </a:r>
          </a:p>
          <a:p>
            <a:pPr marL="0" indent="0">
              <a:buNone/>
            </a:pPr>
            <a:r>
              <a:rPr lang="en-GB" i="1" dirty="0" err="1">
                <a:highlight>
                  <a:srgbClr val="FFFF00"/>
                </a:highlight>
              </a:rPr>
              <a:t>XmlPath</a:t>
            </a:r>
            <a:r>
              <a:rPr lang="en-GB" i="1" dirty="0">
                <a:highlight>
                  <a:srgbClr val="FFFF00"/>
                </a:highlight>
              </a:rPr>
              <a:t> </a:t>
            </a:r>
            <a:r>
              <a:rPr lang="en-GB" i="1" dirty="0" err="1">
                <a:highlight>
                  <a:srgbClr val="FFFF00"/>
                </a:highlight>
              </a:rPr>
              <a:t>xmlPath</a:t>
            </a:r>
            <a:r>
              <a:rPr lang="en-GB" i="1" dirty="0">
                <a:highlight>
                  <a:srgbClr val="FFFF00"/>
                </a:highlight>
              </a:rPr>
              <a:t> = </a:t>
            </a:r>
            <a:r>
              <a:rPr lang="en-GB" i="1" dirty="0" err="1">
                <a:highlight>
                  <a:srgbClr val="FFFF00"/>
                </a:highlight>
              </a:rPr>
              <a:t>response.xmlPath</a:t>
            </a:r>
            <a:r>
              <a:rPr lang="en-GB" i="1" dirty="0">
                <a:highlight>
                  <a:srgbClr val="FFFF00"/>
                </a:highlight>
              </a:rPr>
              <a:t>();</a:t>
            </a:r>
          </a:p>
          <a:p>
            <a:pPr marL="0" indent="0">
              <a:buNone/>
            </a:pPr>
            <a:r>
              <a:rPr lang="en-GB" i="1" dirty="0">
                <a:highlight>
                  <a:srgbClr val="FFFF00"/>
                </a:highlight>
              </a:rPr>
              <a:t>String city = </a:t>
            </a:r>
            <a:r>
              <a:rPr lang="en-GB" i="1" dirty="0" err="1">
                <a:highlight>
                  <a:srgbClr val="FFFF00"/>
                </a:highlight>
              </a:rPr>
              <a:t>xmlPath.get</a:t>
            </a:r>
            <a:r>
              <a:rPr lang="en-GB" i="1" dirty="0">
                <a:highlight>
                  <a:srgbClr val="FFFF00"/>
                </a:highlight>
              </a:rPr>
              <a:t>("</a:t>
            </a:r>
            <a:r>
              <a:rPr lang="en-GB" i="1" dirty="0" err="1">
                <a:highlight>
                  <a:srgbClr val="FFFF00"/>
                </a:highlight>
              </a:rPr>
              <a:t>response.address.city</a:t>
            </a:r>
            <a:r>
              <a:rPr lang="en-GB" i="1" dirty="0">
                <a:highlight>
                  <a:srgbClr val="FFFF00"/>
                </a:highlight>
              </a:rPr>
              <a:t>");</a:t>
            </a:r>
          </a:p>
          <a:p>
            <a:pPr marL="0" indent="0">
              <a:buNone/>
            </a:pPr>
            <a:endParaRPr lang="en-GB" i="1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35727836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9FB61-AF41-D799-8F5A-43B8BAAEE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19742"/>
            <a:ext cx="12115800" cy="6738257"/>
          </a:xfrm>
        </p:spPr>
        <p:txBody>
          <a:bodyPr/>
          <a:lstStyle/>
          <a:p>
            <a:r>
              <a:rPr lang="en-IN" b="1" dirty="0"/>
              <a:t>Assertions with </a:t>
            </a:r>
            <a:r>
              <a:rPr lang="en-IN" b="1" dirty="0" err="1"/>
              <a:t>Hamcrest</a:t>
            </a:r>
            <a:r>
              <a:rPr lang="en-IN" b="1" dirty="0"/>
              <a:t> Matchers</a:t>
            </a:r>
          </a:p>
          <a:p>
            <a:pPr marL="0" indent="0">
              <a:buNone/>
            </a:pPr>
            <a:r>
              <a:rPr lang="en-GB" dirty="0" err="1">
                <a:highlight>
                  <a:srgbClr val="FFFF00"/>
                </a:highlight>
              </a:rPr>
              <a:t>response.then</a:t>
            </a:r>
            <a:r>
              <a:rPr lang="en-GB" dirty="0">
                <a:highlight>
                  <a:srgbClr val="FFFF00"/>
                </a:highlight>
              </a:rPr>
              <a:t>()</a:t>
            </a:r>
          </a:p>
          <a:p>
            <a:pPr marL="0" indent="0">
              <a:buNone/>
            </a:pPr>
            <a:r>
              <a:rPr lang="en-GB" dirty="0">
                <a:highlight>
                  <a:srgbClr val="FFFF00"/>
                </a:highlight>
              </a:rPr>
              <a:t>  .body("data.name", equalTo("Alice"))</a:t>
            </a:r>
          </a:p>
          <a:p>
            <a:pPr marL="0" indent="0">
              <a:buNone/>
            </a:pPr>
            <a:r>
              <a:rPr lang="en-GB" dirty="0">
                <a:highlight>
                  <a:srgbClr val="FFFF00"/>
                </a:highlight>
              </a:rPr>
              <a:t>  .body("</a:t>
            </a:r>
            <a:r>
              <a:rPr lang="en-GB" dirty="0" err="1">
                <a:highlight>
                  <a:srgbClr val="FFFF00"/>
                </a:highlight>
              </a:rPr>
              <a:t>data.age</a:t>
            </a:r>
            <a:r>
              <a:rPr lang="en-GB" dirty="0">
                <a:highlight>
                  <a:srgbClr val="FFFF00"/>
                </a:highlight>
              </a:rPr>
              <a:t>", </a:t>
            </a:r>
            <a:r>
              <a:rPr lang="en-GB" dirty="0" err="1">
                <a:highlight>
                  <a:srgbClr val="FFFF00"/>
                </a:highlight>
              </a:rPr>
              <a:t>greaterThan</a:t>
            </a:r>
            <a:r>
              <a:rPr lang="en-GB" dirty="0">
                <a:highlight>
                  <a:srgbClr val="FFFF00"/>
                </a:highlight>
              </a:rPr>
              <a:t>(20))</a:t>
            </a:r>
          </a:p>
          <a:p>
            <a:pPr marL="0" indent="0">
              <a:buNone/>
            </a:pPr>
            <a:r>
              <a:rPr lang="en-GB" dirty="0">
                <a:highlight>
                  <a:srgbClr val="FFFF00"/>
                </a:highlight>
              </a:rPr>
              <a:t>  .body("</a:t>
            </a:r>
            <a:r>
              <a:rPr lang="en-GB" dirty="0" err="1">
                <a:highlight>
                  <a:srgbClr val="FFFF00"/>
                </a:highlight>
              </a:rPr>
              <a:t>data.tags</a:t>
            </a:r>
            <a:r>
              <a:rPr lang="en-GB" dirty="0">
                <a:highlight>
                  <a:srgbClr val="FFFF00"/>
                </a:highlight>
              </a:rPr>
              <a:t>", </a:t>
            </a:r>
            <a:r>
              <a:rPr lang="en-GB" dirty="0" err="1">
                <a:highlight>
                  <a:srgbClr val="FFFF00"/>
                </a:highlight>
              </a:rPr>
              <a:t>hasItem</a:t>
            </a:r>
            <a:r>
              <a:rPr lang="en-GB" dirty="0">
                <a:highlight>
                  <a:srgbClr val="FFFF00"/>
                </a:highlight>
              </a:rPr>
              <a:t>("admin"));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b="1" dirty="0"/>
              <a:t>Logging - </a:t>
            </a:r>
            <a:r>
              <a:rPr lang="en-GB" b="1" dirty="0"/>
              <a:t>Log parts of the response for debugging</a:t>
            </a:r>
          </a:p>
          <a:p>
            <a:pPr marL="0" indent="0">
              <a:buNone/>
            </a:pPr>
            <a:r>
              <a:rPr lang="en-GB" i="1" dirty="0" err="1">
                <a:highlight>
                  <a:srgbClr val="FFFF00"/>
                </a:highlight>
              </a:rPr>
              <a:t>response.then</a:t>
            </a:r>
            <a:r>
              <a:rPr lang="en-GB" i="1" dirty="0">
                <a:highlight>
                  <a:srgbClr val="FFFF00"/>
                </a:highlight>
              </a:rPr>
              <a:t>().log().all();       // Logs everything</a:t>
            </a:r>
          </a:p>
          <a:p>
            <a:pPr marL="0" indent="0">
              <a:buNone/>
            </a:pPr>
            <a:r>
              <a:rPr lang="en-GB" i="1" dirty="0" err="1">
                <a:highlight>
                  <a:srgbClr val="FFFF00"/>
                </a:highlight>
              </a:rPr>
              <a:t>response.then</a:t>
            </a:r>
            <a:r>
              <a:rPr lang="en-GB" i="1" dirty="0">
                <a:highlight>
                  <a:srgbClr val="FFFF00"/>
                </a:highlight>
              </a:rPr>
              <a:t>().log().body();      // Logs body only</a:t>
            </a:r>
          </a:p>
          <a:p>
            <a:pPr marL="0" indent="0">
              <a:buNone/>
            </a:pPr>
            <a:r>
              <a:rPr lang="en-GB" i="1" dirty="0" err="1">
                <a:highlight>
                  <a:srgbClr val="FFFF00"/>
                </a:highlight>
              </a:rPr>
              <a:t>response.then</a:t>
            </a:r>
            <a:r>
              <a:rPr lang="en-GB" i="1" dirty="0">
                <a:highlight>
                  <a:srgbClr val="FFFF00"/>
                </a:highlight>
              </a:rPr>
              <a:t>().log().headers();   // Logs headers only</a:t>
            </a:r>
          </a:p>
          <a:p>
            <a:r>
              <a:rPr lang="en-IN" b="1" dirty="0"/>
              <a:t>Extracting Values for Reuse</a:t>
            </a:r>
          </a:p>
          <a:p>
            <a:pPr marL="0" indent="0">
              <a:buNone/>
            </a:pPr>
            <a:r>
              <a:rPr lang="en-GB" i="1" dirty="0">
                <a:highlight>
                  <a:srgbClr val="FFFF00"/>
                </a:highlight>
              </a:rPr>
              <a:t>Response res = given().get("/</a:t>
            </a:r>
            <a:r>
              <a:rPr lang="en-GB" i="1" dirty="0" err="1">
                <a:highlight>
                  <a:srgbClr val="FFFF00"/>
                </a:highlight>
              </a:rPr>
              <a:t>api</a:t>
            </a:r>
            <a:r>
              <a:rPr lang="en-GB" i="1" dirty="0">
                <a:highlight>
                  <a:srgbClr val="FFFF00"/>
                </a:highlight>
              </a:rPr>
              <a:t>").then().extract().response();</a:t>
            </a:r>
          </a:p>
          <a:p>
            <a:pPr marL="0" indent="0">
              <a:buNone/>
            </a:pPr>
            <a:r>
              <a:rPr lang="en-GB" i="1" dirty="0">
                <a:highlight>
                  <a:srgbClr val="FFFF00"/>
                </a:highlight>
              </a:rPr>
              <a:t>String token = </a:t>
            </a:r>
            <a:r>
              <a:rPr lang="en-GB" i="1" dirty="0" err="1">
                <a:highlight>
                  <a:srgbClr val="FFFF00"/>
                </a:highlight>
              </a:rPr>
              <a:t>response.then</a:t>
            </a:r>
            <a:r>
              <a:rPr lang="en-GB" i="1" dirty="0">
                <a:highlight>
                  <a:srgbClr val="FFFF00"/>
                </a:highlight>
              </a:rPr>
              <a:t>().extract().path("</a:t>
            </a:r>
            <a:r>
              <a:rPr lang="en-GB" i="1" dirty="0" err="1">
                <a:highlight>
                  <a:srgbClr val="FFFF00"/>
                </a:highlight>
              </a:rPr>
              <a:t>auth.token</a:t>
            </a:r>
            <a:r>
              <a:rPr lang="en-GB" i="1" dirty="0">
                <a:highlight>
                  <a:srgbClr val="FFFF00"/>
                </a:highlight>
              </a:rPr>
              <a:t>");</a:t>
            </a:r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28639513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BF8FF32-E5ED-B0CE-0AC4-E976571FFC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8080268"/>
              </p:ext>
            </p:extLst>
          </p:nvPr>
        </p:nvGraphicFramePr>
        <p:xfrm>
          <a:off x="862142" y="643467"/>
          <a:ext cx="10467717" cy="5571071"/>
        </p:xfrm>
        <a:graphic>
          <a:graphicData uri="http://schemas.openxmlformats.org/drawingml/2006/table">
            <a:tbl>
              <a:tblPr/>
              <a:tblGrid>
                <a:gridCol w="3016185">
                  <a:extLst>
                    <a:ext uri="{9D8B030D-6E8A-4147-A177-3AD203B41FA5}">
                      <a16:colId xmlns:a16="http://schemas.microsoft.com/office/drawing/2014/main" val="148362915"/>
                    </a:ext>
                  </a:extLst>
                </a:gridCol>
                <a:gridCol w="7451532">
                  <a:extLst>
                    <a:ext uri="{9D8B030D-6E8A-4147-A177-3AD203B41FA5}">
                      <a16:colId xmlns:a16="http://schemas.microsoft.com/office/drawing/2014/main" val="321234011"/>
                    </a:ext>
                  </a:extLst>
                </a:gridCol>
              </a:tblGrid>
              <a:tr h="5064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Feature</a:t>
                      </a:r>
                      <a:endParaRPr lang="en-IN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273" marR="15273" marT="152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Method / Example</a:t>
                      </a:r>
                      <a:endParaRPr lang="en-IN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273" marR="15273" marT="152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381825"/>
                  </a:ext>
                </a:extLst>
              </a:tr>
              <a:tr h="5064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Status Code</a:t>
                      </a:r>
                      <a:endParaRPr lang="en-IN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273" marR="15273" marT="152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response.getStatusCode()</a:t>
                      </a:r>
                      <a:endParaRPr lang="en-IN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273" marR="15273" marT="152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3631650"/>
                  </a:ext>
                </a:extLst>
              </a:tr>
              <a:tr h="5064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Headers</a:t>
                      </a:r>
                      <a:endParaRPr lang="en-IN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273" marR="15273" marT="152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response.getHeader("key")</a:t>
                      </a:r>
                      <a:endParaRPr lang="en-IN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273" marR="15273" marT="152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3612678"/>
                  </a:ext>
                </a:extLst>
              </a:tr>
              <a:tr h="5064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Cookies</a:t>
                      </a:r>
                      <a:endParaRPr lang="en-IN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273" marR="15273" marT="152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response.getCookie("key")</a:t>
                      </a:r>
                      <a:endParaRPr lang="en-IN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273" marR="15273" marT="152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7166408"/>
                  </a:ext>
                </a:extLst>
              </a:tr>
              <a:tr h="5064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Response Time</a:t>
                      </a:r>
                      <a:endParaRPr lang="en-IN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273" marR="15273" marT="152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response.getTime()</a:t>
                      </a:r>
                      <a:endParaRPr lang="en-IN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273" marR="15273" marT="152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0981619"/>
                  </a:ext>
                </a:extLst>
              </a:tr>
              <a:tr h="5064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Body as String</a:t>
                      </a:r>
                      <a:endParaRPr lang="en-IN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273" marR="15273" marT="152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response.getBody().asString()</a:t>
                      </a:r>
                      <a:endParaRPr lang="en-IN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273" marR="15273" marT="152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5851618"/>
                  </a:ext>
                </a:extLst>
              </a:tr>
              <a:tr h="5064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JSON Extraction</a:t>
                      </a:r>
                      <a:endParaRPr lang="en-IN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273" marR="15273" marT="152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response.jsonPath().get("key")</a:t>
                      </a:r>
                      <a:endParaRPr lang="en-IN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273" marR="15273" marT="152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9008544"/>
                  </a:ext>
                </a:extLst>
              </a:tr>
              <a:tr h="5064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XML Extraction</a:t>
                      </a:r>
                      <a:endParaRPr lang="en-IN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273" marR="15273" marT="152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response.xmlPath().get("key")</a:t>
                      </a:r>
                      <a:endParaRPr lang="en-IN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273" marR="15273" marT="152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0931168"/>
                  </a:ext>
                </a:extLst>
              </a:tr>
              <a:tr h="5064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Logging</a:t>
                      </a:r>
                      <a:endParaRPr lang="en-IN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273" marR="15273" marT="152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response.then().log().all()</a:t>
                      </a:r>
                      <a:endParaRPr lang="en-IN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273" marR="15273" marT="152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4720257"/>
                  </a:ext>
                </a:extLst>
              </a:tr>
              <a:tr h="5064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Assertions</a:t>
                      </a:r>
                      <a:endParaRPr lang="en-IN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273" marR="15273" marT="152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response.then().body("key", equalTo("val"))</a:t>
                      </a:r>
                      <a:endParaRPr lang="en-GB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273" marR="15273" marT="152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2425884"/>
                  </a:ext>
                </a:extLst>
              </a:tr>
              <a:tr h="5064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Value Extraction</a:t>
                      </a:r>
                      <a:endParaRPr lang="en-IN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273" marR="15273" marT="152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response.then</a:t>
                      </a:r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().extract().path("key")</a:t>
                      </a:r>
                      <a:endParaRPr lang="en-GB" sz="4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273" marR="15273" marT="152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8875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8258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arcel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7295</TotalTime>
  <Words>3591</Words>
  <Application>Microsoft Office PowerPoint</Application>
  <PresentationFormat>Widescreen</PresentationFormat>
  <Paragraphs>682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57</vt:i4>
      </vt:variant>
    </vt:vector>
  </HeadingPairs>
  <TitlesOfParts>
    <vt:vector size="66" baseType="lpstr">
      <vt:lpstr>Aptos</vt:lpstr>
      <vt:lpstr>Aptos Display</vt:lpstr>
      <vt:lpstr>Aptos Narrow</vt:lpstr>
      <vt:lpstr>Arial</vt:lpstr>
      <vt:lpstr>Arial Unicode MS</vt:lpstr>
      <vt:lpstr>Calibri</vt:lpstr>
      <vt:lpstr>Times New Roman</vt:lpstr>
      <vt:lpstr>Office Theme</vt:lpstr>
      <vt:lpstr>Parcel</vt:lpstr>
      <vt:lpstr>PowerPoint Presentation</vt:lpstr>
      <vt:lpstr>What is an API</vt:lpstr>
      <vt:lpstr>Why we need APIs</vt:lpstr>
      <vt:lpstr>Why we need APIs</vt:lpstr>
      <vt:lpstr>How APIs work</vt:lpstr>
      <vt:lpstr>Commonly used APIs</vt:lpstr>
      <vt:lpstr>Different Types of APIs – Access levels</vt:lpstr>
      <vt:lpstr>Types of APIs – Based on Protocols</vt:lpstr>
      <vt:lpstr>REST APIs</vt:lpstr>
      <vt:lpstr>Features of REST APIs</vt:lpstr>
      <vt:lpstr>PowerPoint Presentation</vt:lpstr>
      <vt:lpstr>How REST APIs Work</vt:lpstr>
      <vt:lpstr>URN, URL and URI </vt:lpstr>
      <vt:lpstr>Types of HTTPS Methods in REST APIs</vt:lpstr>
      <vt:lpstr>SOAP APIs</vt:lpstr>
      <vt:lpstr>Features of SOAP APIs</vt:lpstr>
      <vt:lpstr>PowerPoint Presentation</vt:lpstr>
      <vt:lpstr>How SOAP APIs work</vt:lpstr>
      <vt:lpstr>Example</vt:lpstr>
      <vt:lpstr>API Testing</vt:lpstr>
      <vt:lpstr>How API Testing Works</vt:lpstr>
      <vt:lpstr>Types of API Testing</vt:lpstr>
      <vt:lpstr>PowerPoint Presentation</vt:lpstr>
      <vt:lpstr>Popular API Testing Tools</vt:lpstr>
      <vt:lpstr>What to Validate in API Testing</vt:lpstr>
      <vt:lpstr>HTTP Response Codes</vt:lpstr>
      <vt:lpstr>2xx – Success Codes</vt:lpstr>
      <vt:lpstr>Slide 5: 3xx – Redirection Codes</vt:lpstr>
      <vt:lpstr>4xx – Client Error Codes</vt:lpstr>
      <vt:lpstr>5xx – Server Error Codes</vt:lpstr>
      <vt:lpstr>Components of an API Request</vt:lpstr>
      <vt:lpstr>Rest Assured</vt:lpstr>
      <vt:lpstr>Why Use REST Assured</vt:lpstr>
      <vt:lpstr>REST Assured Architecture</vt:lpstr>
      <vt:lpstr>Key Features of Rest Assured</vt:lpstr>
      <vt:lpstr>PowerPoint Presentation</vt:lpstr>
      <vt:lpstr>PowerPoint Presentation</vt:lpstr>
      <vt:lpstr>Building your request body – JSON</vt:lpstr>
      <vt:lpstr>Authentication and Authorization</vt:lpstr>
      <vt:lpstr>Types of Authentication - Basic</vt:lpstr>
      <vt:lpstr>Types of Authentication - Digest</vt:lpstr>
      <vt:lpstr>Types of Authentication - Form</vt:lpstr>
      <vt:lpstr>Types of Authentication - OAuth 1.0</vt:lpstr>
      <vt:lpstr>Types of Authentication - OAuth 2.0</vt:lpstr>
      <vt:lpstr>Types of Authentication – API Key</vt:lpstr>
      <vt:lpstr>Core Request Options in REST Assured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Operations on the Response</vt:lpstr>
      <vt:lpstr>PowerPoint Presentation</vt:lpstr>
      <vt:lpstr>PowerPoint Presentation</vt:lpstr>
      <vt:lpstr>PowerPoint Presentation</vt:lpstr>
      <vt:lpstr>PowerPoint Presentation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Kalyanakumar, Arun (Cognizant)</dc:creator>
  <cp:lastModifiedBy>Kalyanakumar, Arun (Cognizant)</cp:lastModifiedBy>
  <cp:revision>162</cp:revision>
  <dcterms:created xsi:type="dcterms:W3CDTF">2025-08-13T03:37:39Z</dcterms:created>
  <dcterms:modified xsi:type="dcterms:W3CDTF">2025-08-18T05:14:13Z</dcterms:modified>
</cp:coreProperties>
</file>